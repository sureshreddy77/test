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448" r:id="rId3"/>
    <p:sldId id="443" r:id="rId4"/>
    <p:sldId id="444" r:id="rId5"/>
    <p:sldId id="449" r:id="rId6"/>
    <p:sldId id="442" r:id="rId7"/>
    <p:sldId id="447" r:id="rId8"/>
    <p:sldId id="446" r:id="rId9"/>
    <p:sldId id="445" r:id="rId10"/>
    <p:sldId id="441" r:id="rId11"/>
    <p:sldId id="304" r:id="rId12"/>
    <p:sldId id="305" r:id="rId13"/>
    <p:sldId id="306" r:id="rId14"/>
    <p:sldId id="307" r:id="rId15"/>
    <p:sldId id="309" r:id="rId16"/>
    <p:sldId id="310" r:id="rId17"/>
    <p:sldId id="311" r:id="rId18"/>
    <p:sldId id="312" r:id="rId19"/>
    <p:sldId id="313" r:id="rId20"/>
    <p:sldId id="314" r:id="rId21"/>
    <p:sldId id="315" r:id="rId22"/>
    <p:sldId id="316" r:id="rId23"/>
    <p:sldId id="317" r:id="rId24"/>
    <p:sldId id="320" r:id="rId25"/>
    <p:sldId id="321" r:id="rId26"/>
    <p:sldId id="322" r:id="rId27"/>
    <p:sldId id="323" r:id="rId28"/>
    <p:sldId id="324" r:id="rId29"/>
    <p:sldId id="341" r:id="rId30"/>
    <p:sldId id="303" r:id="rId31"/>
    <p:sldId id="342" r:id="rId32"/>
    <p:sldId id="344" r:id="rId33"/>
    <p:sldId id="348" r:id="rId34"/>
    <p:sldId id="353" r:id="rId35"/>
    <p:sldId id="350" r:id="rId36"/>
    <p:sldId id="351" r:id="rId37"/>
    <p:sldId id="355" r:id="rId38"/>
    <p:sldId id="371" r:id="rId39"/>
    <p:sldId id="357" r:id="rId40"/>
    <p:sldId id="361" r:id="rId41"/>
    <p:sldId id="392" r:id="rId42"/>
    <p:sldId id="393" r:id="rId43"/>
    <p:sldId id="391" r:id="rId44"/>
    <p:sldId id="402" r:id="rId45"/>
    <p:sldId id="398" r:id="rId46"/>
    <p:sldId id="406" r:id="rId47"/>
    <p:sldId id="410" r:id="rId48"/>
    <p:sldId id="404" r:id="rId49"/>
    <p:sldId id="367" r:id="rId50"/>
    <p:sldId id="390" r:id="rId51"/>
    <p:sldId id="409" r:id="rId52"/>
    <p:sldId id="318" r:id="rId53"/>
    <p:sldId id="377" r:id="rId54"/>
    <p:sldId id="369" r:id="rId55"/>
    <p:sldId id="363" r:id="rId56"/>
    <p:sldId id="375" r:id="rId57"/>
    <p:sldId id="382" r:id="rId58"/>
    <p:sldId id="383" r:id="rId59"/>
    <p:sldId id="373" r:id="rId60"/>
    <p:sldId id="365" r:id="rId61"/>
    <p:sldId id="422" r:id="rId62"/>
    <p:sldId id="346" r:id="rId63"/>
    <p:sldId id="347" r:id="rId64"/>
    <p:sldId id="380" r:id="rId65"/>
    <p:sldId id="385" r:id="rId66"/>
    <p:sldId id="386" r:id="rId67"/>
    <p:sldId id="394" r:id="rId68"/>
    <p:sldId id="388" r:id="rId69"/>
    <p:sldId id="387" r:id="rId70"/>
    <p:sldId id="401" r:id="rId71"/>
    <p:sldId id="408" r:id="rId72"/>
    <p:sldId id="412" r:id="rId73"/>
    <p:sldId id="413" r:id="rId74"/>
    <p:sldId id="396" r:id="rId75"/>
    <p:sldId id="416" r:id="rId76"/>
    <p:sldId id="417" r:id="rId77"/>
    <p:sldId id="419" r:id="rId78"/>
    <p:sldId id="423" r:id="rId79"/>
    <p:sldId id="432" r:id="rId80"/>
    <p:sldId id="359" r:id="rId81"/>
    <p:sldId id="420" r:id="rId82"/>
    <p:sldId id="425" r:id="rId83"/>
    <p:sldId id="426" r:id="rId84"/>
    <p:sldId id="427" r:id="rId85"/>
    <p:sldId id="429"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9" autoAdjust="0"/>
    <p:restoredTop sz="94660"/>
  </p:normalViewPr>
  <p:slideViewPr>
    <p:cSldViewPr snapToGrid="0">
      <p:cViewPr varScale="1">
        <p:scale>
          <a:sx n="71" d="100"/>
          <a:sy n="71" d="100"/>
        </p:scale>
        <p:origin x="72"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theme" Target="theme/theme1.xml"/><Relationship Id="rId104" Type="http://schemas.microsoft.com/office/2015/10/relationships/revisionInfo" Target="revisionInfo.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CB1D4E4C-EA0D-44AE-9C21-DC39816096BE}" type="datetimeFigureOut">
              <a:rPr lang="en-US" smtClean="0"/>
              <a:t>3/17/2019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833932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1D4E4C-EA0D-44AE-9C21-DC39816096BE}" type="datetimeFigureOut">
              <a:rPr lang="en-US" smtClean="0"/>
              <a:t>3/17/2019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108442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B1D4E4C-EA0D-44AE-9C21-DC39816096BE}" type="datetimeFigureOut">
              <a:rPr lang="en-US" smtClean="0"/>
              <a:t>3/17/2019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232507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B1D4E4C-EA0D-44AE-9C21-DC39816096BE}" type="datetimeFigureOut">
              <a:rPr lang="en-US" smtClean="0"/>
              <a:t>3/17/2019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670325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B1D4E4C-EA0D-44AE-9C21-DC39816096BE}" type="datetimeFigureOut">
              <a:rPr lang="en-US" smtClean="0"/>
              <a:t>3/17/2019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601152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B1D4E4C-EA0D-44AE-9C21-DC39816096BE}" type="datetimeFigureOut">
              <a:rPr lang="en-US" smtClean="0"/>
              <a:t>3/17/2019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3800640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B1D4E4C-EA0D-44AE-9C21-DC39816096BE}" type="datetimeFigureOut">
              <a:rPr lang="en-US" smtClean="0"/>
              <a:t>3/17/2019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2054936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B1D4E4C-EA0D-44AE-9C21-DC39816096BE}" type="datetimeFigureOut">
              <a:rPr lang="en-US" smtClean="0"/>
              <a:t>3/17/2019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380721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B1D4E4C-EA0D-44AE-9C21-DC39816096BE}" type="datetimeFigureOut">
              <a:rPr lang="en-US" smtClean="0"/>
              <a:t>3/17/2019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3799653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1D4E4C-EA0D-44AE-9C21-DC39816096BE}" type="datetimeFigureOut">
              <a:rPr lang="en-US" smtClean="0"/>
              <a:t>3/17/2019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39295764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1D4E4C-EA0D-44AE-9C21-DC39816096BE}" type="datetimeFigureOut">
              <a:rPr lang="en-US" smtClean="0"/>
              <a:t>3/17/2019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D4915C9-0BC1-47AD-B0D7-29EA40E51A08}" type="slidenum">
              <a:rPr lang="en-US" smtClean="0"/>
              <a:t>‹#›</a:t>
            </a:fld>
            <a:endParaRPr lang="en-US"/>
          </a:p>
        </p:txBody>
      </p:sp>
    </p:spTree>
    <p:extLst>
      <p:ext uri="{BB962C8B-B14F-4D97-AF65-F5344CB8AC3E}">
        <p14:creationId xmlns:p14="http://schemas.microsoft.com/office/powerpoint/2010/main" val="3147401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1D4E4C-EA0D-44AE-9C21-DC39816096BE}" type="datetimeFigureOut">
              <a:rPr lang="en-US" smtClean="0"/>
              <a:t>3/17/2019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4915C9-0BC1-47AD-B0D7-29EA40E51A08}" type="slidenum">
              <a:rPr lang="en-US" smtClean="0"/>
              <a:t>‹#›</a:t>
            </a:fld>
            <a:endParaRPr lang="en-US"/>
          </a:p>
        </p:txBody>
      </p:sp>
    </p:spTree>
    <p:extLst>
      <p:ext uri="{BB962C8B-B14F-4D97-AF65-F5344CB8AC3E}">
        <p14:creationId xmlns:p14="http://schemas.microsoft.com/office/powerpoint/2010/main" val="16520687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xyz/"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youtube.com/watch?v=o80vpsHg1dU"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tecmint.com/set-hostname-permanently-in-linux/"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www.tecmint.com/35-practical-examples-of-linux-find-comman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linux.die.net/man/1/locat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www.tecmint.com/12-practical-examples-of-linux-grep-command/"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www.tecmint.com/20-netstat-commands-for-linux-network-management/"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www.linfo.org/vi/search.html"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www.tecmint.com/8-linux-nslookup-commands-to-troubleshoot-dns-domain-name-server/"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www.google.com/" TargetMode="External"/><Relationship Id="rId2" Type="http://schemas.openxmlformats.org/officeDocument/2006/relationships/hyperlink" Target="http://www.thegeekstuff.com/2012/05/traceroute-example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www.tecmint.com/check-linux-disk-usage-of-files-and-directorie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www.tecmint.com/how-to-check-disk-space-in-linux/"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cyberciti.biz/faq/copy-folder-linux-command-line/" TargetMode="External"/><Relationship Id="rId2" Type="http://schemas.openxmlformats.org/officeDocument/2006/relationships/hyperlink" Target="http://www.tecmint.com/scp-commands-example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www.tecmint.com/13-basic-cat-command-examples-in-linux/"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www.tecmint.com/linux-more-command-and-less-command-examples/" TargetMode="External"/><Relationship Id="rId2" Type="http://schemas.openxmlformats.org/officeDocument/2006/relationships/hyperlink" Target="https://linux.die.net/man/1/locate%204/18/2017"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linux.die.net/man/1/locate"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linux.die.net/man/1/locat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linux.die.net/man/1/locat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www.tecmint.com/useful-linux-commands-for-system-administrators/"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somireddy.wordpress.com/2013/07/02/how-to-rename-a-mount-point-in-linux/"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www.extendoffice.com/documents/outlook/2308-outlook-alert-subfolder.html" TargetMode="External"/><Relationship Id="rId2" Type="http://schemas.openxmlformats.org/officeDocument/2006/relationships/hyperlink" Target="https://support.office.com/en-us/article/Change-the-default-font-or-text-color-for-email-messages-1aabb236-01d4-4faf-b998-a4087da3ceab"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access.redhat.com/documentation/en-US/JBoss_Enterprise_Application_Platform/6.2/html/Administration_and_Configuration_Guide/Host_Controller.html"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hyperlink" Target="http://www.entrust.net/knowledge-base/technote.cfm?tn=7598"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www.thawte.nl/en/support/manuals/redhat/red+hat+enterprise+linux/install+certificate/" TargetMode="External"/><Relationship Id="rId2" Type="http://schemas.openxmlformats.org/officeDocument/2006/relationships/hyperlink" Target="http://www.entrust.net/knowledge-base/technote.cfm?tn=8749"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godaddy.com/help/apache-install-a-certificate-centos-5238"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access.redhat.com/solutions/67298" TargetMode="External"/><Relationship Id="rId2" Type="http://schemas.openxmlformats.org/officeDocument/2006/relationships/hyperlink" Target="https://httpd.apache.org/docs/2.4/rewrite/remapping.html" TargetMode="External"/><Relationship Id="rId1" Type="http://schemas.openxmlformats.org/officeDocument/2006/relationships/slideLayout" Target="../slideLayouts/slideLayout2.xml"/><Relationship Id="rId4" Type="http://schemas.openxmlformats.org/officeDocument/2006/relationships/hyperlink" Target="https://askubuntu.com/questions/484986/how-do-i-make-apache-serve-a-single-static-page-no-matter-what-the-entered-url-i"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214438"/>
            <a:ext cx="9144000" cy="2387600"/>
          </a:xfrm>
        </p:spPr>
        <p:txBody>
          <a:bodyPr/>
          <a:lstStyle/>
          <a:p>
            <a:r>
              <a:rPr lang="en-US" i="1" dirty="0">
                <a:solidFill>
                  <a:srgbClr val="FFC000"/>
                </a:solidFill>
                <a:latin typeface="Times New Roman" panose="02020603050405020304" pitchFamily="18" charset="0"/>
                <a:cs typeface="Times New Roman" panose="02020603050405020304" pitchFamily="18" charset="0"/>
              </a:rPr>
              <a:t>My Notes</a:t>
            </a:r>
            <a:r>
              <a:rPr lang="en-US" sz="1400" i="1" dirty="0">
                <a:solidFill>
                  <a:srgbClr val="FFC000"/>
                </a:solidFill>
                <a:latin typeface="Times New Roman" panose="02020603050405020304" pitchFamily="18" charset="0"/>
                <a:cs typeface="Times New Roman" panose="02020603050405020304" pitchFamily="18" charset="0"/>
              </a:rPr>
              <a:t>   </a:t>
            </a:r>
            <a:r>
              <a:rPr lang="en-US" sz="1400" b="1" i="1" dirty="0">
                <a:solidFill>
                  <a:srgbClr val="FF0000"/>
                </a:solidFill>
                <a:latin typeface="Times New Roman" panose="02020603050405020304" pitchFamily="18" charset="0"/>
                <a:cs typeface="Times New Roman" panose="02020603050405020304" pitchFamily="18" charset="0"/>
              </a:rPr>
              <a:t>Suresh</a:t>
            </a:r>
            <a:br>
              <a:rPr lang="en-US" sz="1400" b="1" i="1" dirty="0">
                <a:solidFill>
                  <a:srgbClr val="FF0000"/>
                </a:solidFill>
                <a:latin typeface="Times New Roman" panose="02020603050405020304" pitchFamily="18" charset="0"/>
                <a:cs typeface="Times New Roman" panose="02020603050405020304" pitchFamily="18" charset="0"/>
              </a:rPr>
            </a:br>
            <a:r>
              <a:rPr lang="en-US" sz="3600" b="1" i="1" dirty="0">
                <a:solidFill>
                  <a:srgbClr val="00B050"/>
                </a:solidFill>
                <a:latin typeface="Times New Roman" panose="02020603050405020304" pitchFamily="18" charset="0"/>
                <a:cs typeface="Times New Roman" panose="02020603050405020304" pitchFamily="18" charset="0"/>
              </a:rPr>
              <a:t>Linux System and Application Administration</a:t>
            </a:r>
          </a:p>
        </p:txBody>
      </p:sp>
      <p:sp>
        <p:nvSpPr>
          <p:cNvPr id="3" name="Subtitle 2"/>
          <p:cNvSpPr>
            <a:spLocks noGrp="1"/>
          </p:cNvSpPr>
          <p:nvPr>
            <p:ph type="subTitle" idx="1"/>
          </p:nvPr>
        </p:nvSpPr>
        <p:spPr/>
        <p:txBody>
          <a:bodyPr/>
          <a:lstStyle/>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8094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2E8F20F-3069-40AA-BE0C-2041737DFA1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Problems</a:t>
            </a:r>
          </a:p>
        </p:txBody>
      </p:sp>
      <p:sp>
        <p:nvSpPr>
          <p:cNvPr id="3" name="Content Placeholder 2">
            <a:extLst>
              <a:ext uri="{FF2B5EF4-FFF2-40B4-BE49-F238E27FC236}">
                <a16:creationId xmlns="" xmlns:a16="http://schemas.microsoft.com/office/drawing/2014/main" id="{F1B8BEC2-A593-4466-9270-0F9DE711E0C3}"/>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Yum is not working</a:t>
            </a:r>
          </a:p>
          <a:p>
            <a:r>
              <a:rPr lang="en-US" dirty="0">
                <a:latin typeface="Times New Roman" panose="02020603050405020304" pitchFamily="18" charset="0"/>
                <a:cs typeface="Times New Roman" panose="02020603050405020304" pitchFamily="18" charset="0"/>
              </a:rPr>
              <a:t>Ping google is not working</a:t>
            </a:r>
          </a:p>
          <a:p>
            <a:r>
              <a:rPr lang="en-US" dirty="0">
                <a:latin typeface="Times New Roman" panose="02020603050405020304" pitchFamily="18" charset="0"/>
                <a:cs typeface="Times New Roman" panose="02020603050405020304" pitchFamily="18" charset="0"/>
              </a:rPr>
              <a:t>Fire fox is not working</a:t>
            </a:r>
          </a:p>
          <a:p>
            <a:r>
              <a:rPr lang="en-US" dirty="0">
                <a:latin typeface="Times New Roman" panose="02020603050405020304" pitchFamily="18" charset="0"/>
                <a:cs typeface="Times New Roman" panose="02020603050405020304" pitchFamily="18" charset="0"/>
              </a:rPr>
              <a:t>Yum install </a:t>
            </a:r>
            <a:r>
              <a:rPr lang="en-US" dirty="0">
                <a:latin typeface="Times New Roman" panose="02020603050405020304" pitchFamily="18" charset="0"/>
                <a:cs typeface="Times New Roman" panose="02020603050405020304" pitchFamily="18" charset="0"/>
                <a:hlinkClick r:id="rId2"/>
              </a:rPr>
              <a:t>http://xyz</a:t>
            </a:r>
            <a:r>
              <a:rPr lang="en-US" dirty="0">
                <a:latin typeface="Times New Roman" panose="02020603050405020304" pitchFamily="18" charset="0"/>
                <a:cs typeface="Times New Roman" panose="02020603050405020304" pitchFamily="18" charset="0"/>
              </a:rPr>
              <a:t> is not working</a:t>
            </a:r>
          </a:p>
        </p:txBody>
      </p:sp>
    </p:spTree>
    <p:extLst>
      <p:ext uri="{BB962C8B-B14F-4D97-AF65-F5344CB8AC3E}">
        <p14:creationId xmlns:p14="http://schemas.microsoft.com/office/powerpoint/2010/main" val="390576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150BF3-5866-46D9-8E0A-6717C538BC5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If you can’t ping or can’t see </a:t>
            </a:r>
            <a:r>
              <a:rPr lang="en-US" dirty="0" err="1">
                <a:latin typeface="Times New Roman" panose="02020603050405020304" pitchFamily="18" charset="0"/>
                <a:cs typeface="Times New Roman" panose="02020603050405020304" pitchFamily="18" charset="0"/>
              </a:rPr>
              <a:t>ifcfg</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DF12CBE2-3D77-49AC-9DF6-7837108B28B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hlinkClick r:id="rId2"/>
              </a:rPr>
              <a:t>https://www.youtube.com/watch?v=o80vpsHg1dU</a:t>
            </a:r>
            <a:endParaRPr lang="en-US"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Vi /</a:t>
            </a:r>
            <a:r>
              <a:rPr lang="en-US" sz="1200" dirty="0" err="1">
                <a:latin typeface="Times New Roman" panose="02020603050405020304" pitchFamily="18" charset="0"/>
                <a:cs typeface="Times New Roman" panose="02020603050405020304" pitchFamily="18" charset="0"/>
              </a:rPr>
              <a:t>etc</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resolve.conf</a:t>
            </a:r>
            <a:r>
              <a:rPr lang="en-US" sz="1200" dirty="0">
                <a:latin typeface="Times New Roman" panose="02020603050405020304" pitchFamily="18" charset="0"/>
                <a:cs typeface="Times New Roman" panose="02020603050405020304" pitchFamily="18" charset="0"/>
              </a:rPr>
              <a:t>  or Vi /</a:t>
            </a:r>
            <a:r>
              <a:rPr lang="en-US" sz="1200" dirty="0" err="1">
                <a:latin typeface="Times New Roman" panose="02020603050405020304" pitchFamily="18" charset="0"/>
                <a:cs typeface="Times New Roman" panose="02020603050405020304" pitchFamily="18" charset="0"/>
              </a:rPr>
              <a:t>etc</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sysconfig</a:t>
            </a:r>
            <a:r>
              <a:rPr lang="en-US" sz="1200" dirty="0">
                <a:latin typeface="Times New Roman" panose="02020603050405020304" pitchFamily="18" charset="0"/>
                <a:cs typeface="Times New Roman" panose="02020603050405020304" pitchFamily="18" charset="0"/>
              </a:rPr>
              <a:t>/network-scripts/</a:t>
            </a:r>
            <a:r>
              <a:rPr lang="en-US" sz="1200" dirty="0" err="1">
                <a:latin typeface="Times New Roman" panose="02020603050405020304" pitchFamily="18" charset="0"/>
                <a:cs typeface="Times New Roman" panose="02020603050405020304" pitchFamily="18" charset="0"/>
              </a:rPr>
              <a:t>ifcfg-eno</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nameserver 8.8.8.8</a:t>
            </a:r>
          </a:p>
          <a:p>
            <a:r>
              <a:rPr lang="en-US" sz="1200" dirty="0">
                <a:latin typeface="Times New Roman" panose="02020603050405020304" pitchFamily="18" charset="0"/>
                <a:cs typeface="Times New Roman" panose="02020603050405020304" pitchFamily="18" charset="0"/>
              </a:rPr>
              <a:t>nameserver 8.8.4.4</a:t>
            </a:r>
          </a:p>
          <a:p>
            <a:r>
              <a:rPr lang="en-US" sz="1200" dirty="0" err="1">
                <a:latin typeface="Times New Roman" panose="02020603050405020304" pitchFamily="18" charset="0"/>
                <a:cs typeface="Times New Roman" panose="02020603050405020304" pitchFamily="18" charset="0"/>
              </a:rPr>
              <a:t>onboot</a:t>
            </a:r>
            <a:r>
              <a:rPr lang="en-US" sz="1200" dirty="0">
                <a:latin typeface="Times New Roman" panose="02020603050405020304" pitchFamily="18" charset="0"/>
                <a:cs typeface="Times New Roman" panose="02020603050405020304" pitchFamily="18" charset="0"/>
              </a:rPr>
              <a:t>=yes</a:t>
            </a:r>
          </a:p>
          <a:p>
            <a:r>
              <a:rPr lang="en-US" sz="1200" dirty="0">
                <a:latin typeface="Times New Roman" panose="02020603050405020304" pitchFamily="18" charset="0"/>
                <a:cs typeface="Times New Roman" panose="02020603050405020304" pitchFamily="18" charset="0"/>
              </a:rPr>
              <a:t>Yum install net-tools</a:t>
            </a:r>
          </a:p>
          <a:p>
            <a:r>
              <a:rPr lang="en-US" sz="1200" dirty="0">
                <a:latin typeface="Times New Roman" panose="02020603050405020304" pitchFamily="18" charset="0"/>
                <a:cs typeface="Times New Roman" panose="02020603050405020304" pitchFamily="18" charset="0"/>
              </a:rPr>
              <a:t>Vi </a:t>
            </a:r>
            <a:r>
              <a:rPr lang="en-US" sz="1200" dirty="0" err="1">
                <a:latin typeface="Times New Roman" panose="02020603050405020304" pitchFamily="18" charset="0"/>
                <a:cs typeface="Times New Roman" panose="02020603050405020304" pitchFamily="18" charset="0"/>
              </a:rPr>
              <a:t>getent</a:t>
            </a:r>
            <a:r>
              <a:rPr lang="en-US" sz="1200" dirty="0">
                <a:latin typeface="Times New Roman" panose="02020603050405020304" pitchFamily="18" charset="0"/>
                <a:cs typeface="Times New Roman" panose="02020603050405020304" pitchFamily="18" charset="0"/>
              </a:rPr>
              <a:t> hosts = cat /</a:t>
            </a:r>
            <a:r>
              <a:rPr lang="en-US" sz="1200" dirty="0" err="1">
                <a:latin typeface="Times New Roman" panose="02020603050405020304" pitchFamily="18" charset="0"/>
                <a:cs typeface="Times New Roman" panose="02020603050405020304" pitchFamily="18" charset="0"/>
              </a:rPr>
              <a:t>etc</a:t>
            </a:r>
            <a:r>
              <a:rPr lang="en-US" sz="1200" dirty="0">
                <a:latin typeface="Times New Roman" panose="02020603050405020304" pitchFamily="18" charset="0"/>
                <a:cs typeface="Times New Roman" panose="02020603050405020304" pitchFamily="18" charset="0"/>
              </a:rPr>
              <a:t>/hosts</a:t>
            </a:r>
          </a:p>
          <a:p>
            <a:r>
              <a:rPr lang="en-US" sz="1200" dirty="0" err="1">
                <a:latin typeface="Times New Roman" panose="02020603050405020304" pitchFamily="18" charset="0"/>
                <a:cs typeface="Times New Roman" panose="02020603050405020304" pitchFamily="18" charset="0"/>
              </a:rPr>
              <a:t>ip</a:t>
            </a:r>
            <a:r>
              <a:rPr lang="en-US" sz="1200" dirty="0">
                <a:latin typeface="Times New Roman" panose="02020603050405020304" pitchFamily="18" charset="0"/>
                <a:cs typeface="Times New Roman" panose="02020603050405020304" pitchFamily="18" charset="0"/>
              </a:rPr>
              <a:t> address show =</a:t>
            </a:r>
            <a:r>
              <a:rPr lang="en-US" sz="1200" dirty="0" err="1">
                <a:latin typeface="Times New Roman" panose="02020603050405020304" pitchFamily="18" charset="0"/>
                <a:cs typeface="Times New Roman" panose="02020603050405020304" pitchFamily="18" charset="0"/>
              </a:rPr>
              <a:t>ifconfig</a:t>
            </a:r>
            <a:endParaRPr lang="en-US" sz="1200" dirty="0">
              <a:latin typeface="Times New Roman" panose="02020603050405020304" pitchFamily="18" charset="0"/>
              <a:cs typeface="Times New Roman" panose="02020603050405020304" pitchFamily="18" charset="0"/>
            </a:endParaRPr>
          </a:p>
          <a:p>
            <a:r>
              <a:rPr lang="en-US" sz="1200" dirty="0" err="1">
                <a:latin typeface="Times New Roman" panose="02020603050405020304" pitchFamily="18" charset="0"/>
                <a:cs typeface="Times New Roman" panose="02020603050405020304" pitchFamily="18" charset="0"/>
              </a:rPr>
              <a:t>Ip</a:t>
            </a:r>
            <a:r>
              <a:rPr lang="en-US" sz="1200" dirty="0">
                <a:latin typeface="Times New Roman" panose="02020603050405020304" pitchFamily="18" charset="0"/>
                <a:cs typeface="Times New Roman" panose="02020603050405020304" pitchFamily="18" charset="0"/>
              </a:rPr>
              <a:t> –s link show ens33</a:t>
            </a:r>
          </a:p>
        </p:txBody>
      </p:sp>
    </p:spTree>
    <p:extLst>
      <p:ext uri="{BB962C8B-B14F-4D97-AF65-F5344CB8AC3E}">
        <p14:creationId xmlns:p14="http://schemas.microsoft.com/office/powerpoint/2010/main" val="37879375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FC024D-5397-4142-8DC4-51686EC8F70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Yum and can’t find base </a:t>
            </a:r>
            <a:r>
              <a:rPr lang="en-US" dirty="0" err="1">
                <a:latin typeface="Times New Roman" panose="02020603050405020304" pitchFamily="18" charset="0"/>
                <a:cs typeface="Times New Roman" panose="02020603050405020304" pitchFamily="18" charset="0"/>
              </a:rPr>
              <a:t>url</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8EE786DF-5CB3-4FDB-A92B-C81E97BF8736}"/>
              </a:ext>
            </a:extLst>
          </p:cNvPr>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Vi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yum.conf</a:t>
            </a:r>
            <a:r>
              <a:rPr lang="en-US" sz="1400" dirty="0">
                <a:latin typeface="Times New Roman" panose="02020603050405020304" pitchFamily="18" charset="0"/>
                <a:cs typeface="Times New Roman" panose="02020603050405020304" pitchFamily="18" charset="0"/>
              </a:rPr>
              <a:t>     then </a:t>
            </a:r>
            <a:r>
              <a:rPr lang="en-US" sz="1400" dirty="0">
                <a:solidFill>
                  <a:srgbClr val="333333"/>
                </a:solidFill>
                <a:latin typeface="Lucida Grande"/>
              </a:rPr>
              <a:t>http_proxy=proxy.com:8080</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Yum </a:t>
            </a:r>
            <a:r>
              <a:rPr lang="en-US" sz="1400" dirty="0" err="1">
                <a:latin typeface="Times New Roman" panose="02020603050405020304" pitchFamily="18" charset="0"/>
                <a:cs typeface="Times New Roman" panose="02020603050405020304" pitchFamily="18" charset="0"/>
              </a:rPr>
              <a:t>repolist</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Yum install all</a:t>
            </a:r>
          </a:p>
          <a:p>
            <a:r>
              <a:rPr lang="en-US" sz="1400" dirty="0">
                <a:latin typeface="Times New Roman" panose="02020603050405020304" pitchFamily="18" charset="0"/>
                <a:cs typeface="Times New Roman" panose="02020603050405020304" pitchFamily="18" charset="0"/>
              </a:rPr>
              <a:t>Yum update all</a:t>
            </a:r>
          </a:p>
          <a:p>
            <a:r>
              <a:rPr lang="en-US" sz="1400" dirty="0">
                <a:latin typeface="Times New Roman" panose="02020603050405020304" pitchFamily="18" charset="0"/>
                <a:cs typeface="Times New Roman" panose="02020603050405020304" pitchFamily="18" charset="0"/>
              </a:rPr>
              <a:t>Yum clean all</a:t>
            </a:r>
          </a:p>
          <a:p>
            <a:r>
              <a:rPr lang="en-US" sz="1400" dirty="0">
                <a:latin typeface="Times New Roman" panose="02020603050405020304" pitchFamily="18" charset="0"/>
                <a:cs typeface="Times New Roman" panose="02020603050405020304" pitchFamily="18" charset="0"/>
              </a:rPr>
              <a:t>Yum clean metadata</a:t>
            </a:r>
          </a:p>
          <a:p>
            <a:r>
              <a:rPr lang="en-US" sz="1400" dirty="0" err="1">
                <a:latin typeface="Times New Roman" panose="02020603050405020304" pitchFamily="18" charset="0"/>
                <a:cs typeface="Times New Roman" panose="02020603050405020304" pitchFamily="18" charset="0"/>
              </a:rPr>
              <a:t>rm</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rf</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/cache/yum/*</a:t>
            </a:r>
          </a:p>
          <a:p>
            <a:r>
              <a:rPr lang="en-US" sz="1400" dirty="0" err="1">
                <a:latin typeface="Times New Roman" panose="02020603050405020304" pitchFamily="18" charset="0"/>
                <a:cs typeface="Times New Roman" panose="02020603050405020304" pitchFamily="18" charset="0"/>
              </a:rPr>
              <a:t>ll</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yum.repos.d</a:t>
            </a:r>
            <a:r>
              <a:rPr lang="en-US" sz="1400" dirty="0">
                <a:latin typeface="Times New Roman" panose="02020603050405020304" pitchFamily="18" charset="0"/>
                <a:cs typeface="Times New Roman" panose="02020603050405020304" pitchFamily="18" charset="0"/>
              </a:rPr>
              <a:t>/</a:t>
            </a:r>
          </a:p>
          <a:p>
            <a:r>
              <a:rPr lang="en-US" sz="1400" dirty="0">
                <a:latin typeface="Times New Roman" panose="02020603050405020304" pitchFamily="18" charset="0"/>
                <a:cs typeface="Times New Roman" panose="02020603050405020304" pitchFamily="18" charset="0"/>
              </a:rPr>
              <a:t>yum </a:t>
            </a:r>
            <a:r>
              <a:rPr lang="en-US" sz="1400" dirty="0" err="1">
                <a:latin typeface="Times New Roman" panose="02020603050405020304" pitchFamily="18" charset="0"/>
                <a:cs typeface="Times New Roman" panose="02020603050405020304" pitchFamily="18" charset="0"/>
              </a:rPr>
              <a:t>whatprovides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ifcfg</a:t>
            </a:r>
            <a:r>
              <a:rPr lang="en-US" sz="1400" dirty="0">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Yum install net-tools bind-</a:t>
            </a:r>
            <a:r>
              <a:rPr lang="en-US" sz="1400" dirty="0" err="1">
                <a:latin typeface="Times New Roman" panose="02020603050405020304" pitchFamily="18" charset="0"/>
                <a:cs typeface="Times New Roman" panose="02020603050405020304" pitchFamily="18" charset="0"/>
              </a:rPr>
              <a:t>utils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iputils</a:t>
            </a:r>
            <a:endParaRPr lang="en-US" sz="1400" dirty="0">
              <a:latin typeface="Times New Roman" panose="02020603050405020304" pitchFamily="18" charset="0"/>
              <a:cs typeface="Times New Roman" panose="02020603050405020304" pitchFamily="18" charset="0"/>
            </a:endParaRPr>
          </a:p>
          <a:p>
            <a:r>
              <a:rPr lang="es-ES" sz="1400" dirty="0" err="1">
                <a:latin typeface="Times New Roman" panose="02020603050405020304" pitchFamily="18" charset="0"/>
                <a:cs typeface="Times New Roman" panose="02020603050405020304" pitchFamily="18" charset="0"/>
              </a:rPr>
              <a:t>yum</a:t>
            </a:r>
            <a:r>
              <a:rPr lang="es-ES" sz="1400" dirty="0">
                <a:latin typeface="Times New Roman" panose="02020603050405020304" pitchFamily="18" charset="0"/>
                <a:cs typeface="Times New Roman" panose="02020603050405020304" pitchFamily="18" charset="0"/>
              </a:rPr>
              <a:t> --</a:t>
            </a:r>
            <a:r>
              <a:rPr lang="es-ES" sz="1400" dirty="0" err="1">
                <a:latin typeface="Times New Roman" panose="02020603050405020304" pitchFamily="18" charset="0"/>
                <a:cs typeface="Times New Roman" panose="02020603050405020304" pitchFamily="18" charset="0"/>
              </a:rPr>
              <a:t>disablerepo</a:t>
            </a:r>
            <a:r>
              <a:rPr lang="es-ES" sz="1400" dirty="0">
                <a:latin typeface="Times New Roman" panose="02020603050405020304" pitchFamily="18" charset="0"/>
                <a:cs typeface="Times New Roman" panose="02020603050405020304" pitchFamily="18" charset="0"/>
              </a:rPr>
              <a:t>=</a:t>
            </a:r>
            <a:r>
              <a:rPr lang="es-ES" sz="1400" dirty="0" err="1">
                <a:latin typeface="Times New Roman" panose="02020603050405020304" pitchFamily="18" charset="0"/>
                <a:cs typeface="Times New Roman" panose="02020603050405020304" pitchFamily="18" charset="0"/>
              </a:rPr>
              <a:t>epel</a:t>
            </a:r>
            <a:r>
              <a:rPr lang="es-ES" sz="1400" dirty="0">
                <a:latin typeface="Times New Roman" panose="02020603050405020304" pitchFamily="18" charset="0"/>
                <a:cs typeface="Times New Roman" panose="02020603050405020304" pitchFamily="18" charset="0"/>
              </a:rPr>
              <a:t> -y </a:t>
            </a:r>
            <a:r>
              <a:rPr lang="es-ES" sz="1400" dirty="0" err="1">
                <a:latin typeface="Times New Roman" panose="02020603050405020304" pitchFamily="18" charset="0"/>
                <a:cs typeface="Times New Roman" panose="02020603050405020304" pitchFamily="18" charset="0"/>
              </a:rPr>
              <a:t>update</a:t>
            </a:r>
            <a:endParaRPr lang="es-E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yum remove </a:t>
            </a:r>
            <a:r>
              <a:rPr lang="en-US" sz="1400" dirty="0" err="1">
                <a:latin typeface="Times New Roman" panose="02020603050405020304" pitchFamily="18" charset="0"/>
                <a:cs typeface="Times New Roman" panose="02020603050405020304" pitchFamily="18" charset="0"/>
              </a:rPr>
              <a:t>epel</a:t>
            </a:r>
            <a:r>
              <a:rPr lang="en-US" sz="1400" dirty="0">
                <a:latin typeface="Times New Roman" panose="02020603050405020304" pitchFamily="18" charset="0"/>
                <a:cs typeface="Times New Roman" panose="02020603050405020304" pitchFamily="18" charset="0"/>
              </a:rPr>
              <a:t>-release --</a:t>
            </a:r>
            <a:r>
              <a:rPr lang="en-US" sz="1400" dirty="0" err="1">
                <a:latin typeface="Times New Roman" panose="02020603050405020304" pitchFamily="18" charset="0"/>
                <a:cs typeface="Times New Roman" panose="02020603050405020304" pitchFamily="18" charset="0"/>
              </a:rPr>
              <a:t>disablerepo</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epel</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yum install bind bind-</a:t>
            </a:r>
            <a:r>
              <a:rPr lang="en-US" sz="1400" dirty="0" err="1">
                <a:latin typeface="Times New Roman" panose="02020603050405020304" pitchFamily="18" charset="0"/>
                <a:cs typeface="Times New Roman" panose="02020603050405020304" pitchFamily="18" charset="0"/>
              </a:rPr>
              <a:t>utils</a:t>
            </a:r>
            <a:r>
              <a:rPr lang="en-US" sz="1400" dirty="0">
                <a:latin typeface="Times New Roman" panose="02020603050405020304" pitchFamily="18" charset="0"/>
                <a:cs typeface="Times New Roman" panose="02020603050405020304" pitchFamily="18" charset="0"/>
              </a:rPr>
              <a:t> –y</a:t>
            </a:r>
          </a:p>
          <a:p>
            <a:pPr marL="0" indent="0">
              <a:buNone/>
            </a:pP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168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B70816C-6D3D-447A-A717-BE62322AD41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DNS Configuration</a:t>
            </a:r>
          </a:p>
        </p:txBody>
      </p:sp>
      <p:sp>
        <p:nvSpPr>
          <p:cNvPr id="3" name="Content Placeholder 2">
            <a:extLst>
              <a:ext uri="{FF2B5EF4-FFF2-40B4-BE49-F238E27FC236}">
                <a16:creationId xmlns="" xmlns:a16="http://schemas.microsoft.com/office/drawing/2014/main" id="{57E074DA-CC4F-4301-9476-0511C71F8911}"/>
              </a:ext>
            </a:extLst>
          </p:cNvPr>
          <p:cNvSpPr>
            <a:spLocks noGrp="1"/>
          </p:cNvSpPr>
          <p:nvPr>
            <p:ph idx="1"/>
          </p:nvPr>
        </p:nvSpPr>
        <p:spPr/>
        <p:txBody>
          <a:bodyPr>
            <a:normAutofit/>
          </a:bodyPr>
          <a:lstStyle/>
          <a:p>
            <a:r>
              <a:rPr lang="en-US" sz="1200" dirty="0">
                <a:latin typeface="Times New Roman" panose="02020603050405020304" pitchFamily="18" charset="0"/>
                <a:cs typeface="Times New Roman" panose="02020603050405020304" pitchFamily="18" charset="0"/>
              </a:rPr>
              <a:t>yum install bind bind-</a:t>
            </a:r>
            <a:r>
              <a:rPr lang="en-US" sz="1200" dirty="0" err="1">
                <a:latin typeface="Times New Roman" panose="02020603050405020304" pitchFamily="18" charset="0"/>
                <a:cs typeface="Times New Roman" panose="02020603050405020304" pitchFamily="18" charset="0"/>
              </a:rPr>
              <a:t>utils</a:t>
            </a:r>
            <a:r>
              <a:rPr lang="en-US" sz="1200" dirty="0">
                <a:latin typeface="Times New Roman" panose="02020603050405020304" pitchFamily="18" charset="0"/>
                <a:cs typeface="Times New Roman" panose="02020603050405020304" pitchFamily="18" charset="0"/>
              </a:rPr>
              <a:t> –y</a:t>
            </a:r>
          </a:p>
          <a:p>
            <a:r>
              <a:rPr lang="nb-NO" sz="1200" dirty="0">
                <a:latin typeface="Times New Roman" panose="02020603050405020304" pitchFamily="18" charset="0"/>
                <a:cs typeface="Times New Roman" panose="02020603050405020304" pitchFamily="18" charset="0"/>
              </a:rPr>
              <a:t>vi /etc/named.conf</a:t>
            </a:r>
          </a:p>
          <a:p>
            <a:r>
              <a:rPr lang="en-US" sz="1200" dirty="0" err="1">
                <a:latin typeface="Times New Roman" panose="02020603050405020304" pitchFamily="18" charset="0"/>
                <a:cs typeface="Times New Roman" panose="02020603050405020304" pitchFamily="18" charset="0"/>
              </a:rPr>
              <a:t>systemctl</a:t>
            </a:r>
            <a:r>
              <a:rPr lang="en-US" sz="1200" dirty="0">
                <a:latin typeface="Times New Roman" panose="02020603050405020304" pitchFamily="18" charset="0"/>
                <a:cs typeface="Times New Roman" panose="02020603050405020304" pitchFamily="18" charset="0"/>
              </a:rPr>
              <a:t> enable named</a:t>
            </a:r>
          </a:p>
          <a:p>
            <a:r>
              <a:rPr lang="en-US" sz="1200" dirty="0" err="1">
                <a:latin typeface="Times New Roman" panose="02020603050405020304" pitchFamily="18" charset="0"/>
                <a:cs typeface="Times New Roman" panose="02020603050405020304" pitchFamily="18" charset="0"/>
              </a:rPr>
              <a:t>systemctl</a:t>
            </a:r>
            <a:r>
              <a:rPr lang="en-US" sz="1200" dirty="0">
                <a:latin typeface="Times New Roman" panose="02020603050405020304" pitchFamily="18" charset="0"/>
                <a:cs typeface="Times New Roman" panose="02020603050405020304" pitchFamily="18" charset="0"/>
              </a:rPr>
              <a:t> start named</a:t>
            </a:r>
          </a:p>
          <a:p>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4049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B30FEE-C80F-4784-9EED-0BDA8B72104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Hostname and Gateway</a:t>
            </a:r>
          </a:p>
        </p:txBody>
      </p:sp>
      <p:sp>
        <p:nvSpPr>
          <p:cNvPr id="3" name="Content Placeholder 2">
            <a:extLst>
              <a:ext uri="{FF2B5EF4-FFF2-40B4-BE49-F238E27FC236}">
                <a16:creationId xmlns="" xmlns:a16="http://schemas.microsoft.com/office/drawing/2014/main" id="{7A12AFAC-F8D1-4C4E-AFB2-2D18A01BAFF6}"/>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hlinkClick r:id="rId2"/>
              </a:rPr>
              <a:t>https://www.tecmint.com/set-hostname-permanently-in-linux/</a:t>
            </a:r>
            <a:endParaRPr lang="en-US"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Hostnamectl</a:t>
            </a:r>
            <a:r>
              <a:rPr lang="en-US" sz="1400" dirty="0">
                <a:latin typeface="Times New Roman" panose="02020603050405020304" pitchFamily="18" charset="0"/>
                <a:cs typeface="Times New Roman" panose="02020603050405020304" pitchFamily="18" charset="0"/>
              </a:rPr>
              <a:t> set-hostname </a:t>
            </a:r>
            <a:r>
              <a:rPr lang="en-US" sz="1400" dirty="0" err="1">
                <a:latin typeface="Times New Roman" panose="02020603050405020304" pitchFamily="18" charset="0"/>
                <a:cs typeface="Times New Roman" panose="02020603050405020304" pitchFamily="18" charset="0"/>
              </a:rPr>
              <a:t>myhost</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Vi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/hostname to change hostname </a:t>
            </a:r>
          </a:p>
          <a:p>
            <a:r>
              <a:rPr lang="en-US" sz="1400" dirty="0">
                <a:latin typeface="Times New Roman" panose="02020603050405020304" pitchFamily="18" charset="0"/>
                <a:cs typeface="Times New Roman" panose="02020603050405020304" pitchFamily="18" charset="0"/>
              </a:rPr>
              <a:t>Vi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sysconfig</a:t>
            </a:r>
            <a:r>
              <a:rPr lang="en-US" sz="1400" dirty="0">
                <a:latin typeface="Times New Roman" panose="02020603050405020304" pitchFamily="18" charset="0"/>
                <a:cs typeface="Times New Roman" panose="02020603050405020304" pitchFamily="18" charset="0"/>
              </a:rPr>
              <a:t>/ network</a:t>
            </a:r>
          </a:p>
          <a:p>
            <a:r>
              <a:rPr lang="en-US" sz="1400" dirty="0">
                <a:latin typeface="Times New Roman" panose="02020603050405020304" pitchFamily="18" charset="0"/>
                <a:cs typeface="Times New Roman" panose="02020603050405020304" pitchFamily="18" charset="0"/>
              </a:rPr>
              <a:t>Vi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/hosts</a:t>
            </a:r>
          </a:p>
          <a:p>
            <a:r>
              <a:rPr lang="en-US" sz="1400" dirty="0">
                <a:latin typeface="Times New Roman" panose="02020603050405020304" pitchFamily="18" charset="0"/>
                <a:cs typeface="Times New Roman" panose="02020603050405020304" pitchFamily="18" charset="0"/>
              </a:rPr>
              <a:t>service network restart   </a:t>
            </a:r>
          </a:p>
          <a:p>
            <a:r>
              <a:rPr lang="en-US" sz="1400" dirty="0">
                <a:latin typeface="Times New Roman" panose="02020603050405020304" pitchFamily="18" charset="0"/>
                <a:cs typeface="Times New Roman" panose="02020603050405020304" pitchFamily="18" charset="0"/>
              </a:rPr>
              <a:t>service </a:t>
            </a:r>
            <a:r>
              <a:rPr lang="en-US" sz="1400" dirty="0" err="1">
                <a:latin typeface="Times New Roman" panose="02020603050405020304" pitchFamily="18" charset="0"/>
                <a:cs typeface="Times New Roman" panose="02020603050405020304" pitchFamily="18" charset="0"/>
              </a:rPr>
              <a:t>NetworkManager</a:t>
            </a:r>
            <a:r>
              <a:rPr lang="en-US" sz="1400" dirty="0">
                <a:latin typeface="Times New Roman" panose="02020603050405020304" pitchFamily="18" charset="0"/>
                <a:cs typeface="Times New Roman" panose="02020603050405020304" pitchFamily="18" charset="0"/>
              </a:rPr>
              <a:t> status</a:t>
            </a:r>
          </a:p>
          <a:p>
            <a:r>
              <a:rPr lang="en-US" sz="1400" dirty="0">
                <a:latin typeface="Times New Roman" panose="02020603050405020304" pitchFamily="18" charset="0"/>
                <a:cs typeface="Times New Roman" panose="02020603050405020304" pitchFamily="18" charset="0"/>
              </a:rPr>
              <a:t>service </a:t>
            </a:r>
            <a:r>
              <a:rPr lang="en-US" sz="1400" dirty="0" err="1">
                <a:latin typeface="Times New Roman" panose="02020603050405020304" pitchFamily="18" charset="0"/>
                <a:cs typeface="Times New Roman" panose="02020603050405020304" pitchFamily="18" charset="0"/>
              </a:rPr>
              <a:t>NetworkManager</a:t>
            </a:r>
            <a:r>
              <a:rPr lang="en-US" sz="1400" dirty="0">
                <a:latin typeface="Times New Roman" panose="02020603050405020304" pitchFamily="18" charset="0"/>
                <a:cs typeface="Times New Roman" panose="02020603050405020304" pitchFamily="18" charset="0"/>
              </a:rPr>
              <a:t> start</a:t>
            </a:r>
          </a:p>
          <a:p>
            <a:r>
              <a:rPr lang="en-US" sz="1400" dirty="0" err="1">
                <a:latin typeface="Times New Roman" panose="02020603050405020304" pitchFamily="18" charset="0"/>
                <a:cs typeface="Times New Roman" panose="02020603050405020304" pitchFamily="18" charset="0"/>
              </a:rPr>
              <a:t>chkconfig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NetworkManager</a:t>
            </a:r>
            <a:r>
              <a:rPr lang="en-US" sz="1400" dirty="0">
                <a:latin typeface="Times New Roman" panose="02020603050405020304" pitchFamily="18" charset="0"/>
                <a:cs typeface="Times New Roman" panose="02020603050405020304" pitchFamily="18" charset="0"/>
              </a:rPr>
              <a:t> on</a:t>
            </a:r>
          </a:p>
          <a:p>
            <a:r>
              <a:rPr lang="en-US" sz="1400" dirty="0">
                <a:latin typeface="Times New Roman" panose="02020603050405020304" pitchFamily="18" charset="0"/>
                <a:cs typeface="Times New Roman" panose="02020603050405020304" pitchFamily="18" charset="0"/>
              </a:rPr>
              <a:t>route add default </a:t>
            </a:r>
            <a:r>
              <a:rPr lang="en-US" sz="1400" dirty="0" err="1">
                <a:latin typeface="Times New Roman" panose="02020603050405020304" pitchFamily="18" charset="0"/>
                <a:cs typeface="Times New Roman" panose="02020603050405020304" pitchFamily="18" charset="0"/>
              </a:rPr>
              <a:t>gw</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ipaddress</a:t>
            </a:r>
            <a:r>
              <a:rPr lang="en-US" sz="1400" dirty="0">
                <a:latin typeface="Times New Roman" panose="02020603050405020304" pitchFamily="18" charset="0"/>
                <a:cs typeface="Times New Roman" panose="02020603050405020304" pitchFamily="18" charset="0"/>
              </a:rPr>
              <a:t> interface (or) route add default </a:t>
            </a:r>
            <a:r>
              <a:rPr lang="en-US" sz="1400" dirty="0" err="1">
                <a:latin typeface="Times New Roman" panose="02020603050405020304" pitchFamily="18" charset="0"/>
                <a:cs typeface="Times New Roman" panose="02020603050405020304" pitchFamily="18" charset="0"/>
              </a:rPr>
              <a:t>gw</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dsl</a:t>
            </a:r>
            <a:r>
              <a:rPr lang="en-US" sz="1400" dirty="0">
                <a:latin typeface="Times New Roman" panose="02020603050405020304" pitchFamily="18" charset="0"/>
                <a:cs typeface="Times New Roman" panose="02020603050405020304" pitchFamily="18" charset="0"/>
              </a:rPr>
              <a:t>-router interface</a:t>
            </a:r>
          </a:p>
          <a:p>
            <a:r>
              <a:rPr lang="en-US" sz="1400" dirty="0" err="1">
                <a:latin typeface="Times New Roman" panose="02020603050405020304" pitchFamily="18" charset="0"/>
                <a:cs typeface="Times New Roman" panose="02020603050405020304" pitchFamily="18" charset="0"/>
              </a:rPr>
              <a:t>ip</a:t>
            </a:r>
            <a:r>
              <a:rPr lang="en-US" sz="1400" dirty="0">
                <a:latin typeface="Times New Roman" panose="02020603050405020304" pitchFamily="18" charset="0"/>
                <a:cs typeface="Times New Roman" panose="02020603050405020304" pitchFamily="18" charset="0"/>
              </a:rPr>
              <a:t> route add 192.168.1.0/24 dev ens33</a:t>
            </a:r>
          </a:p>
        </p:txBody>
      </p:sp>
    </p:spTree>
    <p:extLst>
      <p:ext uri="{BB962C8B-B14F-4D97-AF65-F5344CB8AC3E}">
        <p14:creationId xmlns:p14="http://schemas.microsoft.com/office/powerpoint/2010/main" val="2190513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0C570B4-F039-4059-B601-B6C1B4594002}"/>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Firefox</a:t>
            </a:r>
          </a:p>
        </p:txBody>
      </p:sp>
      <p:sp>
        <p:nvSpPr>
          <p:cNvPr id="5" name="Content Placeholder 4">
            <a:extLst>
              <a:ext uri="{FF2B5EF4-FFF2-40B4-BE49-F238E27FC236}">
                <a16:creationId xmlns="" xmlns:a16="http://schemas.microsoft.com/office/drawing/2014/main" id="{CC5FE772-D7C4-4C1B-B069-7D7527BA6550}"/>
              </a:ext>
            </a:extLst>
          </p:cNvPr>
          <p:cNvSpPr>
            <a:spLocks noGrp="1"/>
          </p:cNvSpPr>
          <p:nvPr>
            <p:ph idx="1"/>
          </p:nvPr>
        </p:nvSpPr>
        <p:spPr/>
        <p:txBody>
          <a:bodyPr>
            <a:normAutofit/>
          </a:bodyPr>
          <a:lstStyle/>
          <a:p>
            <a:r>
              <a:rPr lang="en-US" sz="1200" dirty="0">
                <a:latin typeface="Times New Roman" panose="02020603050405020304" pitchFamily="18" charset="0"/>
                <a:cs typeface="Times New Roman" panose="02020603050405020304" pitchFamily="18" charset="0"/>
              </a:rPr>
              <a:t>export DISPLAY=localhost:0.0</a:t>
            </a:r>
          </a:p>
          <a:p>
            <a:r>
              <a:rPr lang="en-US" sz="1200" dirty="0">
                <a:latin typeface="Times New Roman" panose="02020603050405020304" pitchFamily="18" charset="0"/>
                <a:cs typeface="Times New Roman" panose="02020603050405020304" pitchFamily="18" charset="0"/>
              </a:rPr>
              <a:t>yum </a:t>
            </a:r>
            <a:r>
              <a:rPr lang="en-US" sz="1200" dirty="0" err="1">
                <a:latin typeface="Times New Roman" panose="02020603050405020304" pitchFamily="18" charset="0"/>
                <a:cs typeface="Times New Roman" panose="02020603050405020304" pitchFamily="18" charset="0"/>
              </a:rPr>
              <a:t>groupinstall</a:t>
            </a:r>
            <a:r>
              <a:rPr lang="en-US" sz="1200" dirty="0">
                <a:latin typeface="Times New Roman" panose="02020603050405020304" pitchFamily="18" charset="0"/>
                <a:cs typeface="Times New Roman" panose="02020603050405020304" pitchFamily="18" charset="0"/>
              </a:rPr>
              <a:t> 'X </a:t>
            </a:r>
            <a:r>
              <a:rPr lang="en-US" sz="1200" dirty="0" err="1" smtClean="0">
                <a:latin typeface="Times New Roman" panose="02020603050405020304" pitchFamily="18" charset="0"/>
                <a:cs typeface="Times New Roman" panose="02020603050405020304" pitchFamily="18" charset="0"/>
              </a:rPr>
              <a:t>indow</a:t>
            </a:r>
            <a:r>
              <a:rPr lang="en-US" sz="1200" dirty="0" smtClean="0">
                <a:latin typeface="Times New Roman" panose="02020603050405020304" pitchFamily="18" charset="0"/>
                <a:cs typeface="Times New Roman" panose="02020603050405020304" pitchFamily="18" charset="0"/>
              </a:rPr>
              <a:t> system</a:t>
            </a:r>
            <a:r>
              <a:rPr lang="en-US" sz="1200" dirty="0">
                <a:latin typeface="Times New Roman" panose="02020603050405020304" pitchFamily="18" charset="0"/>
                <a:cs typeface="Times New Roman" panose="02020603050405020304" pitchFamily="18" charset="0"/>
              </a:rPr>
              <a:t>’</a:t>
            </a:r>
          </a:p>
          <a:p>
            <a:r>
              <a:rPr lang="en-US" sz="1200" dirty="0">
                <a:latin typeface="Times New Roman" panose="02020603050405020304" pitchFamily="18" charset="0"/>
                <a:cs typeface="Times New Roman" panose="02020603050405020304" pitchFamily="18" charset="0"/>
              </a:rPr>
              <a:t>yum -y install </a:t>
            </a:r>
            <a:r>
              <a:rPr lang="en-US" sz="1200" dirty="0" err="1">
                <a:latin typeface="Times New Roman" panose="02020603050405020304" pitchFamily="18" charset="0"/>
                <a:cs typeface="Times New Roman" panose="02020603050405020304" pitchFamily="18" charset="0"/>
              </a:rPr>
              <a:t>firefox</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yum -y install </a:t>
            </a:r>
            <a:r>
              <a:rPr lang="en-US" sz="1200" dirty="0" err="1">
                <a:latin typeface="Times New Roman" panose="02020603050405020304" pitchFamily="18" charset="0"/>
                <a:cs typeface="Times New Roman" panose="02020603050405020304" pitchFamily="18" charset="0"/>
              </a:rPr>
              <a:t>xauth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xterm</a:t>
            </a:r>
            <a:r>
              <a:rPr lang="en-US" sz="1200" dirty="0">
                <a:latin typeface="Times New Roman" panose="02020603050405020304" pitchFamily="18" charset="0"/>
                <a:cs typeface="Times New Roman" panose="02020603050405020304" pitchFamily="18" charset="0"/>
              </a:rPr>
              <a:t> xorg-x11-apps </a:t>
            </a:r>
            <a:r>
              <a:rPr lang="en-US" sz="1200" dirty="0" err="1">
                <a:latin typeface="Times New Roman" panose="02020603050405020304" pitchFamily="18" charset="0"/>
                <a:cs typeface="Times New Roman" panose="02020603050405020304" pitchFamily="18" charset="0"/>
              </a:rPr>
              <a:t>xeyes</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yum install mesa-</a:t>
            </a:r>
            <a:r>
              <a:rPr lang="en-US" sz="1200" dirty="0" err="1">
                <a:latin typeface="Times New Roman" panose="02020603050405020304" pitchFamily="18" charset="0"/>
                <a:cs typeface="Times New Roman" panose="02020603050405020304" pitchFamily="18" charset="0"/>
              </a:rPr>
              <a:t>utils</a:t>
            </a:r>
            <a:r>
              <a:rPr lang="en-US" sz="1200" dirty="0">
                <a:latin typeface="Times New Roman" panose="02020603050405020304" pitchFamily="18" charset="0"/>
                <a:cs typeface="Times New Roman" panose="02020603050405020304" pitchFamily="18" charset="0"/>
              </a:rPr>
              <a:t> and libgl1-mesa-glx</a:t>
            </a:r>
          </a:p>
          <a:p>
            <a:r>
              <a:rPr lang="en-US" sz="1200" dirty="0">
                <a:latin typeface="Times New Roman" panose="02020603050405020304" pitchFamily="18" charset="0"/>
                <a:cs typeface="Times New Roman" panose="02020603050405020304" pitchFamily="18" charset="0"/>
              </a:rPr>
              <a:t>yum -y install </a:t>
            </a:r>
            <a:r>
              <a:rPr lang="en-US" sz="1200" dirty="0" err="1">
                <a:latin typeface="Times New Roman" panose="02020603050405020304" pitchFamily="18" charset="0"/>
                <a:cs typeface="Times New Roman" panose="02020603050405020304" pitchFamily="18" charset="0"/>
              </a:rPr>
              <a:t>eog</a:t>
            </a:r>
            <a:endParaRPr lang="en-US" sz="1200" dirty="0">
              <a:latin typeface="Times New Roman" panose="02020603050405020304" pitchFamily="18" charset="0"/>
              <a:cs typeface="Times New Roman" panose="02020603050405020304" pitchFamily="18" charset="0"/>
            </a:endParaRPr>
          </a:p>
          <a:p>
            <a:r>
              <a:rPr lang="nb-NO" sz="1200" dirty="0">
                <a:latin typeface="Times New Roman" panose="02020603050405020304" pitchFamily="18" charset="0"/>
                <a:cs typeface="Times New Roman" panose="02020603050405020304" pitchFamily="18" charset="0"/>
              </a:rPr>
              <a:t>vi /etc/ssh/sshd_config (X11 Forwarding yes)</a:t>
            </a:r>
          </a:p>
          <a:p>
            <a:r>
              <a:rPr lang="en-US" sz="1200" dirty="0" err="1">
                <a:latin typeface="Times New Roman" panose="02020603050405020304" pitchFamily="18" charset="0"/>
                <a:cs typeface="Times New Roman" panose="02020603050405020304" pitchFamily="18" charset="0"/>
              </a:rPr>
              <a:t>systemctl</a:t>
            </a:r>
            <a:r>
              <a:rPr lang="en-US" sz="1200" dirty="0">
                <a:latin typeface="Times New Roman" panose="02020603050405020304" pitchFamily="18" charset="0"/>
                <a:cs typeface="Times New Roman" panose="02020603050405020304" pitchFamily="18" charset="0"/>
              </a:rPr>
              <a:t> restart </a:t>
            </a:r>
            <a:r>
              <a:rPr lang="en-US" sz="1200" dirty="0" err="1">
                <a:latin typeface="Times New Roman" panose="02020603050405020304" pitchFamily="18" charset="0"/>
                <a:cs typeface="Times New Roman" panose="02020603050405020304" pitchFamily="18" charset="0"/>
              </a:rPr>
              <a:t>sshd</a:t>
            </a:r>
            <a:endParaRPr lang="en-US" sz="1200" dirty="0">
              <a:latin typeface="Times New Roman" panose="02020603050405020304" pitchFamily="18" charset="0"/>
              <a:cs typeface="Times New Roman" panose="02020603050405020304" pitchFamily="18" charset="0"/>
            </a:endParaRPr>
          </a:p>
          <a:p>
            <a:r>
              <a:rPr lang="en-US" sz="1200" dirty="0" err="1">
                <a:latin typeface="Times New Roman" panose="02020603050405020304" pitchFamily="18" charset="0"/>
                <a:cs typeface="Times New Roman" panose="02020603050405020304" pitchFamily="18" charset="0"/>
              </a:rPr>
              <a:t>systemctl</a:t>
            </a:r>
            <a:r>
              <a:rPr lang="en-US" sz="1200" dirty="0">
                <a:latin typeface="Times New Roman" panose="02020603050405020304" pitchFamily="18" charset="0"/>
                <a:cs typeface="Times New Roman" panose="02020603050405020304" pitchFamily="18" charset="0"/>
              </a:rPr>
              <a:t> status </a:t>
            </a:r>
            <a:r>
              <a:rPr lang="en-US" sz="1200" dirty="0" err="1">
                <a:latin typeface="Times New Roman" panose="02020603050405020304" pitchFamily="18" charset="0"/>
                <a:cs typeface="Times New Roman" panose="02020603050405020304" pitchFamily="18" charset="0"/>
              </a:rPr>
              <a:t>sshd</a:t>
            </a:r>
            <a:endParaRPr lang="en-US" sz="1200" dirty="0">
              <a:latin typeface="Times New Roman" panose="02020603050405020304" pitchFamily="18" charset="0"/>
              <a:cs typeface="Times New Roman" panose="02020603050405020304" pitchFamily="18" charset="0"/>
            </a:endParaRPr>
          </a:p>
          <a:p>
            <a:r>
              <a:rPr lang="en-US" sz="1200" dirty="0" err="1">
                <a:latin typeface="Times New Roman" panose="02020603050405020304" pitchFamily="18" charset="0"/>
                <a:cs typeface="Times New Roman" panose="02020603050405020304" pitchFamily="18" charset="0"/>
              </a:rPr>
              <a:t>ps</a:t>
            </a:r>
            <a:r>
              <a:rPr lang="en-US" sz="1200" dirty="0">
                <a:latin typeface="Times New Roman" panose="02020603050405020304" pitchFamily="18" charset="0"/>
                <a:cs typeface="Times New Roman" panose="02020603050405020304" pitchFamily="18" charset="0"/>
              </a:rPr>
              <a:t> ax | grep </a:t>
            </a:r>
            <a:r>
              <a:rPr lang="en-US" sz="1200" dirty="0" err="1">
                <a:latin typeface="Times New Roman" panose="02020603050405020304" pitchFamily="18" charset="0"/>
                <a:cs typeface="Times New Roman" panose="02020603050405020304" pitchFamily="18" charset="0"/>
              </a:rPr>
              <a:t>sshd</a:t>
            </a:r>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usr</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sbin</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sshd</a:t>
            </a:r>
            <a:r>
              <a:rPr lang="en-US" sz="1200" dirty="0">
                <a:latin typeface="Times New Roman" panose="02020603050405020304" pitchFamily="18" charset="0"/>
                <a:cs typeface="Times New Roman" panose="02020603050405020304" pitchFamily="18" charset="0"/>
              </a:rPr>
              <a:t> -D</a:t>
            </a:r>
          </a:p>
        </p:txBody>
      </p:sp>
    </p:spTree>
    <p:extLst>
      <p:ext uri="{BB962C8B-B14F-4D97-AF65-F5344CB8AC3E}">
        <p14:creationId xmlns:p14="http://schemas.microsoft.com/office/powerpoint/2010/main" val="3456578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5C0151-0DAA-499F-A4AE-50DF21A3E13B}"/>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Openstack</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175A0DEB-6800-478E-8FD1-45F94356A087}"/>
              </a:ext>
            </a:extLst>
          </p:cNvPr>
          <p:cNvSpPr>
            <a:spLocks noGrp="1"/>
          </p:cNvSpPr>
          <p:nvPr>
            <p:ph idx="1"/>
          </p:nvPr>
        </p:nvSpPr>
        <p:spPr/>
        <p:txBody>
          <a:bodyPr>
            <a:noAutofit/>
          </a:bodyPr>
          <a:lstStyle/>
          <a:p>
            <a:r>
              <a:rPr lang="en-US" sz="1100" dirty="0" err="1">
                <a:latin typeface="Times New Roman" panose="02020603050405020304" pitchFamily="18" charset="0"/>
                <a:cs typeface="Times New Roman" panose="02020603050405020304" pitchFamily="18" charset="0"/>
              </a:rPr>
              <a:t>ss</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tulpn</a:t>
            </a:r>
            <a:endParaRPr lang="en-US" sz="1100" dirty="0">
              <a:latin typeface="Times New Roman" panose="02020603050405020304" pitchFamily="18" charset="0"/>
              <a:cs typeface="Times New Roman" panose="02020603050405020304" pitchFamily="18" charset="0"/>
            </a:endParaRPr>
          </a:p>
          <a:p>
            <a:r>
              <a:rPr lang="en-US" sz="1100" dirty="0" err="1">
                <a:latin typeface="Times New Roman" panose="02020603050405020304" pitchFamily="18" charset="0"/>
                <a:cs typeface="Times New Roman" panose="02020603050405020304" pitchFamily="18" charset="0"/>
              </a:rPr>
              <a:t>systemctl</a:t>
            </a:r>
            <a:r>
              <a:rPr lang="en-US" sz="1100" dirty="0">
                <a:latin typeface="Times New Roman" panose="02020603050405020304" pitchFamily="18" charset="0"/>
                <a:cs typeface="Times New Roman" panose="02020603050405020304" pitchFamily="18" charset="0"/>
              </a:rPr>
              <a:t> stop postfix </a:t>
            </a:r>
            <a:r>
              <a:rPr lang="en-US" sz="1100" dirty="0" err="1">
                <a:latin typeface="Times New Roman" panose="02020603050405020304" pitchFamily="18" charset="0"/>
                <a:cs typeface="Times New Roman" panose="02020603050405020304" pitchFamily="18" charset="0"/>
              </a:rPr>
              <a:t>firewalld</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NetworkManager</a:t>
            </a:r>
            <a:endParaRPr lang="en-US" sz="1100" dirty="0">
              <a:latin typeface="Times New Roman" panose="02020603050405020304" pitchFamily="18" charset="0"/>
              <a:cs typeface="Times New Roman" panose="02020603050405020304" pitchFamily="18" charset="0"/>
            </a:endParaRPr>
          </a:p>
          <a:p>
            <a:r>
              <a:rPr lang="en-US" sz="1100" dirty="0" err="1">
                <a:latin typeface="Times New Roman" panose="02020603050405020304" pitchFamily="18" charset="0"/>
                <a:cs typeface="Times New Roman" panose="02020603050405020304" pitchFamily="18" charset="0"/>
              </a:rPr>
              <a:t>systemctl</a:t>
            </a:r>
            <a:r>
              <a:rPr lang="en-US" sz="1100" dirty="0">
                <a:latin typeface="Times New Roman" panose="02020603050405020304" pitchFamily="18" charset="0"/>
                <a:cs typeface="Times New Roman" panose="02020603050405020304" pitchFamily="18" charset="0"/>
              </a:rPr>
              <a:t> disable postfix </a:t>
            </a:r>
            <a:r>
              <a:rPr lang="en-US" sz="1100" dirty="0" err="1">
                <a:latin typeface="Times New Roman" panose="02020603050405020304" pitchFamily="18" charset="0"/>
                <a:cs typeface="Times New Roman" panose="02020603050405020304" pitchFamily="18" charset="0"/>
              </a:rPr>
              <a:t>firewalld</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NetworkManager</a:t>
            </a:r>
            <a:endParaRPr lang="en-US" sz="1100" dirty="0">
              <a:latin typeface="Times New Roman" panose="02020603050405020304" pitchFamily="18" charset="0"/>
              <a:cs typeface="Times New Roman" panose="02020603050405020304" pitchFamily="18" charset="0"/>
            </a:endParaRPr>
          </a:p>
          <a:p>
            <a:r>
              <a:rPr lang="en-US" sz="1100" dirty="0" err="1">
                <a:latin typeface="Times New Roman" panose="02020603050405020304" pitchFamily="18" charset="0"/>
                <a:cs typeface="Times New Roman" panose="02020603050405020304" pitchFamily="18" charset="0"/>
              </a:rPr>
              <a:t>systemctl</a:t>
            </a:r>
            <a:r>
              <a:rPr lang="en-US" sz="1100" dirty="0">
                <a:latin typeface="Times New Roman" panose="02020603050405020304" pitchFamily="18" charset="0"/>
                <a:cs typeface="Times New Roman" panose="02020603050405020304" pitchFamily="18" charset="0"/>
              </a:rPr>
              <a:t> mask </a:t>
            </a:r>
            <a:r>
              <a:rPr lang="en-US" sz="1100" dirty="0" err="1">
                <a:latin typeface="Times New Roman" panose="02020603050405020304" pitchFamily="18" charset="0"/>
                <a:cs typeface="Times New Roman" panose="02020603050405020304" pitchFamily="18" charset="0"/>
              </a:rPr>
              <a:t>NetworkManager</a:t>
            </a: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yum remove postfix </a:t>
            </a:r>
            <a:r>
              <a:rPr lang="en-US" sz="1100" dirty="0" err="1">
                <a:latin typeface="Times New Roman" panose="02020603050405020304" pitchFamily="18" charset="0"/>
                <a:cs typeface="Times New Roman" panose="02020603050405020304" pitchFamily="18" charset="0"/>
              </a:rPr>
              <a:t>NetworkManager</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NetworkManager-libnm</a:t>
            </a: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disable SELINUX or </a:t>
            </a:r>
            <a:r>
              <a:rPr lang="en-US" sz="1100" dirty="0" err="1">
                <a:latin typeface="Times New Roman" panose="02020603050405020304" pitchFamily="18" charset="0"/>
                <a:cs typeface="Times New Roman" panose="02020603050405020304" pitchFamily="18" charset="0"/>
              </a:rPr>
              <a:t>setenforce</a:t>
            </a:r>
            <a:r>
              <a:rPr lang="en-US" sz="1100" dirty="0">
                <a:latin typeface="Times New Roman" panose="02020603050405020304" pitchFamily="18" charset="0"/>
                <a:cs typeface="Times New Roman" panose="02020603050405020304" pitchFamily="18" charset="0"/>
              </a:rPr>
              <a:t> 0</a:t>
            </a:r>
          </a:p>
          <a:p>
            <a:r>
              <a:rPr lang="en-US" sz="1100" dirty="0">
                <a:latin typeface="Times New Roman" panose="02020603050405020304" pitchFamily="18" charset="0"/>
                <a:cs typeface="Times New Roman" panose="02020603050405020304" pitchFamily="18" charset="0"/>
              </a:rPr>
              <a:t>yum install </a:t>
            </a:r>
            <a:r>
              <a:rPr lang="en-US" sz="1100" dirty="0" err="1">
                <a:latin typeface="Times New Roman" panose="02020603050405020304" pitchFamily="18" charset="0"/>
                <a:cs typeface="Times New Roman" panose="02020603050405020304" pitchFamily="18" charset="0"/>
              </a:rPr>
              <a:t>ntpdate</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epel</a:t>
            </a:r>
            <a:r>
              <a:rPr lang="en-US" sz="1100" dirty="0">
                <a:latin typeface="Times New Roman" panose="02020603050405020304" pitchFamily="18" charset="0"/>
                <a:cs typeface="Times New Roman" panose="02020603050405020304" pitchFamily="18" charset="0"/>
              </a:rPr>
              <a:t>-release </a:t>
            </a:r>
          </a:p>
          <a:p>
            <a:r>
              <a:rPr lang="en-US" sz="1100" dirty="0">
                <a:latin typeface="Times New Roman" panose="02020603050405020304" pitchFamily="18" charset="0"/>
                <a:cs typeface="Times New Roman" panose="02020603050405020304" pitchFamily="18" charset="0"/>
              </a:rPr>
              <a:t>yum install centos-release-</a:t>
            </a:r>
            <a:r>
              <a:rPr lang="en-US" sz="1100" dirty="0" err="1">
                <a:latin typeface="Times New Roman" panose="02020603050405020304" pitchFamily="18" charset="0"/>
                <a:cs typeface="Times New Roman" panose="02020603050405020304" pitchFamily="18" charset="0"/>
              </a:rPr>
              <a:t>openstack</a:t>
            </a:r>
            <a:r>
              <a:rPr lang="en-US" sz="1100" dirty="0">
                <a:latin typeface="Times New Roman" panose="02020603050405020304" pitchFamily="18" charset="0"/>
                <a:cs typeface="Times New Roman" panose="02020603050405020304" pitchFamily="18" charset="0"/>
              </a:rPr>
              <a:t>-</a:t>
            </a:r>
            <a:r>
              <a:rPr lang="en-US" sz="1100" dirty="0" err="1">
                <a:latin typeface="Times New Roman" panose="02020603050405020304" pitchFamily="18" charset="0"/>
                <a:cs typeface="Times New Roman" panose="02020603050405020304" pitchFamily="18" charset="0"/>
              </a:rPr>
              <a:t>ocata</a:t>
            </a: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yum install </a:t>
            </a:r>
            <a:r>
              <a:rPr lang="en-US" sz="1100" dirty="0" err="1">
                <a:latin typeface="Times New Roman" panose="02020603050405020304" pitchFamily="18" charset="0"/>
                <a:cs typeface="Times New Roman" panose="02020603050405020304" pitchFamily="18" charset="0"/>
              </a:rPr>
              <a:t>openstack-packstack</a:t>
            </a: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yum install python-</a:t>
            </a:r>
            <a:r>
              <a:rPr lang="en-US" sz="1100" dirty="0" err="1">
                <a:latin typeface="Times New Roman" panose="02020603050405020304" pitchFamily="18" charset="0"/>
                <a:cs typeface="Times New Roman" panose="02020603050405020304" pitchFamily="18" charset="0"/>
              </a:rPr>
              <a:t>openstackclient</a:t>
            </a:r>
            <a:endParaRPr lang="en-US" sz="1100" dirty="0">
              <a:latin typeface="Times New Roman" panose="02020603050405020304" pitchFamily="18" charset="0"/>
              <a:cs typeface="Times New Roman" panose="02020603050405020304" pitchFamily="18" charset="0"/>
            </a:endParaRPr>
          </a:p>
          <a:p>
            <a:r>
              <a:rPr lang="en-US" sz="1100" dirty="0" err="1">
                <a:latin typeface="Times New Roman" panose="02020603050405020304" pitchFamily="18" charset="0"/>
                <a:cs typeface="Times New Roman" panose="02020603050405020304" pitchFamily="18" charset="0"/>
              </a:rPr>
              <a:t>openstack</a:t>
            </a:r>
            <a:r>
              <a:rPr lang="en-US" sz="1100" dirty="0">
                <a:latin typeface="Times New Roman" panose="02020603050405020304" pitchFamily="18" charset="0"/>
                <a:cs typeface="Times New Roman" panose="02020603050405020304" pitchFamily="18" charset="0"/>
              </a:rPr>
              <a:t> –version</a:t>
            </a:r>
          </a:p>
          <a:p>
            <a:r>
              <a:rPr lang="en-US" sz="1100" dirty="0">
                <a:latin typeface="Times New Roman" panose="02020603050405020304" pitchFamily="18" charset="0"/>
                <a:cs typeface="Times New Roman" panose="02020603050405020304" pitchFamily="18" charset="0"/>
              </a:rPr>
              <a:t>grep -</a:t>
            </a:r>
            <a:r>
              <a:rPr lang="en-US" sz="1100" dirty="0" err="1">
                <a:latin typeface="Times New Roman" panose="02020603050405020304" pitchFamily="18" charset="0"/>
                <a:cs typeface="Times New Roman" panose="02020603050405020304" pitchFamily="18" charset="0"/>
              </a:rPr>
              <a:t>Ec</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vmx|svm</a:t>
            </a:r>
            <a:r>
              <a:rPr lang="en-US" sz="1100" dirty="0">
                <a:latin typeface="Times New Roman" panose="02020603050405020304" pitchFamily="18" charset="0"/>
                <a:cs typeface="Times New Roman" panose="02020603050405020304" pitchFamily="18" charset="0"/>
              </a:rPr>
              <a:t>)' /proc/</a:t>
            </a:r>
            <a:r>
              <a:rPr lang="en-US" sz="1100" dirty="0" err="1">
                <a:latin typeface="Times New Roman" panose="02020603050405020304" pitchFamily="18" charset="0"/>
                <a:cs typeface="Times New Roman" panose="02020603050405020304" pitchFamily="18" charset="0"/>
              </a:rPr>
              <a:t>cpuinfo</a:t>
            </a:r>
            <a:r>
              <a:rPr lang="en-US" sz="1100" dirty="0">
                <a:latin typeface="Times New Roman" panose="02020603050405020304" pitchFamily="18" charset="0"/>
                <a:cs typeface="Times New Roman" panose="02020603050405020304" pitchFamily="18" charset="0"/>
              </a:rPr>
              <a:t> # 0 =</a:t>
            </a:r>
            <a:r>
              <a:rPr lang="en-US" sz="1100" dirty="0" err="1">
                <a:latin typeface="Times New Roman" panose="02020603050405020304" pitchFamily="18" charset="0"/>
                <a:cs typeface="Times New Roman" panose="02020603050405020304" pitchFamily="18" charset="0"/>
              </a:rPr>
              <a:t>qemu</a:t>
            </a:r>
            <a:r>
              <a:rPr lang="en-US" sz="1100" dirty="0">
                <a:latin typeface="Times New Roman" panose="02020603050405020304" pitchFamily="18" charset="0"/>
                <a:cs typeface="Times New Roman" panose="02020603050405020304" pitchFamily="18" charset="0"/>
              </a:rPr>
              <a:t> &gt;=1 =</a:t>
            </a:r>
            <a:r>
              <a:rPr lang="en-US" sz="1100" dirty="0" err="1">
                <a:latin typeface="Times New Roman" panose="02020603050405020304" pitchFamily="18" charset="0"/>
                <a:cs typeface="Times New Roman" panose="02020603050405020304" pitchFamily="18" charset="0"/>
              </a:rPr>
              <a:t>kvm</a:t>
            </a:r>
            <a:endParaRPr lang="en-US" sz="1100" dirty="0">
              <a:latin typeface="Times New Roman" panose="02020603050405020304" pitchFamily="18" charset="0"/>
              <a:cs typeface="Times New Roman" panose="02020603050405020304" pitchFamily="18" charset="0"/>
            </a:endParaRPr>
          </a:p>
          <a:p>
            <a:r>
              <a:rPr lang="en-US" sz="1100" dirty="0" err="1">
                <a:latin typeface="Times New Roman" panose="02020603050405020304" pitchFamily="18" charset="0"/>
                <a:cs typeface="Times New Roman" panose="02020603050405020304" pitchFamily="18" charset="0"/>
              </a:rPr>
              <a:t>packstack</a:t>
            </a:r>
            <a:r>
              <a:rPr lang="en-US" sz="1100" dirty="0">
                <a:latin typeface="Times New Roman" panose="02020603050405020304" pitchFamily="18" charset="0"/>
                <a:cs typeface="Times New Roman" panose="02020603050405020304" pitchFamily="18" charset="0"/>
              </a:rPr>
              <a:t> --gen-answer-file=/root/answer.txt</a:t>
            </a:r>
          </a:p>
          <a:p>
            <a:r>
              <a:rPr lang="en-US" sz="1100" dirty="0" err="1">
                <a:latin typeface="Times New Roman" panose="02020603050405020304" pitchFamily="18" charset="0"/>
                <a:cs typeface="Times New Roman" panose="02020603050405020304" pitchFamily="18" charset="0"/>
              </a:rPr>
              <a:t>packstack</a:t>
            </a:r>
            <a:r>
              <a:rPr lang="en-US" sz="1100" dirty="0">
                <a:latin typeface="Times New Roman" panose="02020603050405020304" pitchFamily="18" charset="0"/>
                <a:cs typeface="Times New Roman" panose="02020603050405020304" pitchFamily="18" charset="0"/>
              </a:rPr>
              <a:t> –answer-file=answer.txt</a:t>
            </a:r>
          </a:p>
          <a:p>
            <a:r>
              <a:rPr lang="en-US" sz="1100" dirty="0" err="1">
                <a:latin typeface="Times New Roman" panose="02020603050405020304" pitchFamily="18" charset="0"/>
                <a:cs typeface="Times New Roman" panose="02020603050405020304" pitchFamily="18" charset="0"/>
              </a:rPr>
              <a:t>packstack</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allinone</a:t>
            </a:r>
            <a:endParaRPr lang="en-US" sz="1100" dirty="0">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yum remove </a:t>
            </a:r>
            <a:r>
              <a:rPr lang="en-US" sz="1100" dirty="0" err="1">
                <a:latin typeface="Times New Roman" panose="02020603050405020304" pitchFamily="18" charset="0"/>
                <a:cs typeface="Times New Roman" panose="02020603050405020304" pitchFamily="18" charset="0"/>
              </a:rPr>
              <a:t>mariadb</a:t>
            </a:r>
            <a:r>
              <a:rPr lang="en-US" sz="1100" dirty="0">
                <a:latin typeface="Times New Roman" panose="02020603050405020304" pitchFamily="18" charset="0"/>
                <a:cs typeface="Times New Roman" panose="02020603050405020304" pitchFamily="18" charset="0"/>
              </a:rPr>
              <a:t>-libs -y</a:t>
            </a: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a:p>
            <a:endParaRPr lang="en-US" sz="1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46496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69E9009-AF50-4008-9395-0791506B5788}"/>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 check apache version </a:t>
            </a:r>
            <a:r>
              <a:rPr lang="en-US" dirty="0" err="1">
                <a:latin typeface="Times New Roman" panose="02020603050405020304" pitchFamily="18" charset="0"/>
                <a:cs typeface="Times New Roman" panose="02020603050405020304" pitchFamily="18" charset="0"/>
              </a:rPr>
              <a:t>httpd</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 xmlns:a16="http://schemas.microsoft.com/office/drawing/2014/main" id="{78AFE790-72D8-488F-8015-7EE3C326AB98}"/>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rpm -</a:t>
            </a:r>
            <a:r>
              <a:rPr lang="en-US" dirty="0" err="1">
                <a:latin typeface="Times New Roman" panose="02020603050405020304" pitchFamily="18" charset="0"/>
                <a:cs typeface="Times New Roman" panose="02020603050405020304" pitchFamily="18" charset="0"/>
              </a:rPr>
              <a:t>qf</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httpd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usr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sbin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httpd</a:t>
            </a:r>
            <a:r>
              <a:rPr lang="en-US" dirty="0">
                <a:latin typeface="Times New Roman" panose="02020603050405020304" pitchFamily="18" charset="0"/>
                <a:cs typeface="Times New Roman" panose="02020603050405020304" pitchFamily="18" charset="0"/>
              </a:rPr>
              <a:t> -v</a:t>
            </a:r>
          </a:p>
          <a:p>
            <a:r>
              <a:rPr lang="en-US" dirty="0">
                <a:latin typeface="Times New Roman" panose="02020603050405020304" pitchFamily="18" charset="0"/>
                <a:cs typeface="Times New Roman" panose="02020603050405020304" pitchFamily="18" charset="0"/>
              </a:rPr>
              <a:t>java -version</a:t>
            </a:r>
          </a:p>
        </p:txBody>
      </p:sp>
    </p:spTree>
    <p:extLst>
      <p:ext uri="{BB962C8B-B14F-4D97-AF65-F5344CB8AC3E}">
        <p14:creationId xmlns:p14="http://schemas.microsoft.com/office/powerpoint/2010/main" val="3065416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latin typeface="Times New Roman" panose="02020603050405020304" pitchFamily="18" charset="0"/>
                <a:cs typeface="Times New Roman" panose="02020603050405020304" pitchFamily="18" charset="0"/>
              </a:rPr>
              <a:t>https://www.lifewire.com/top-internet-terms-for-beginners-2483381</a:t>
            </a:r>
          </a:p>
        </p:txBody>
      </p:sp>
      <p:sp>
        <p:nvSpPr>
          <p:cNvPr id="3" name="Content Placeholder 2"/>
          <p:cNvSpPr>
            <a:spLocks noGrp="1"/>
          </p:cNvSpPr>
          <p:nvPr>
            <p:ph idx="1"/>
          </p:nvPr>
        </p:nvSpPr>
        <p:spPr/>
        <p:txBody>
          <a:bodyPr>
            <a:normAutofit/>
          </a:bodyPr>
          <a:lstStyle/>
          <a:p>
            <a:pPr marL="0" indent="0">
              <a:buNone/>
            </a:pPr>
            <a:r>
              <a:rPr lang="en-US" sz="1400" b="1" dirty="0">
                <a:latin typeface="Times New Roman" panose="02020603050405020304" pitchFamily="18" charset="0"/>
                <a:cs typeface="Times New Roman" panose="02020603050405020304" pitchFamily="18" charset="0"/>
              </a:rPr>
              <a:t>Reliability</a:t>
            </a:r>
            <a:r>
              <a:rPr lang="en-US" sz="1400" dirty="0">
                <a:latin typeface="Times New Roman" panose="02020603050405020304" pitchFamily="18" charset="0"/>
                <a:cs typeface="Times New Roman" panose="02020603050405020304" pitchFamily="18" charset="0"/>
              </a:rPr>
              <a:t>: the quality of being trustworthy or of performing consistently well (in IT industry) </a:t>
            </a:r>
          </a:p>
          <a:p>
            <a:pPr marL="0" indent="0">
              <a:buNone/>
            </a:pPr>
            <a:r>
              <a:rPr lang="en-US" sz="1400" b="1" dirty="0">
                <a:latin typeface="Times New Roman" panose="02020603050405020304" pitchFamily="18" charset="0"/>
                <a:cs typeface="Times New Roman" panose="02020603050405020304" pitchFamily="18" charset="0"/>
              </a:rPr>
              <a:t>Downloading</a:t>
            </a:r>
            <a:r>
              <a:rPr lang="en-US" sz="1400" dirty="0">
                <a:latin typeface="Times New Roman" panose="02020603050405020304" pitchFamily="18" charset="0"/>
                <a:cs typeface="Times New Roman" panose="02020603050405020304" pitchFamily="18" charset="0"/>
              </a:rPr>
              <a:t>: Downloading is a broad term that describes transferring something you find on the internet or World Wide Web to your computer or other device</a:t>
            </a:r>
          </a:p>
          <a:p>
            <a:pPr marL="0" indent="0">
              <a:buNone/>
            </a:pPr>
            <a:r>
              <a:rPr lang="en-US" sz="1400" b="1" dirty="0">
                <a:latin typeface="Times New Roman" panose="02020603050405020304" pitchFamily="18" charset="0"/>
                <a:cs typeface="Times New Roman" panose="02020603050405020304" pitchFamily="18" charset="0"/>
              </a:rPr>
              <a:t>Firewall</a:t>
            </a:r>
            <a:r>
              <a:rPr lang="en-US" sz="1400" dirty="0">
                <a:latin typeface="Times New Roman" panose="02020603050405020304" pitchFamily="18" charset="0"/>
                <a:cs typeface="Times New Roman" panose="02020603050405020304" pitchFamily="18" charset="0"/>
              </a:rPr>
              <a:t>: Firewall is a generic term to describe a barrier against destruction. In the case of computing, a firewall consists of software or hardware that protects your computer from hackers and viruses.</a:t>
            </a:r>
          </a:p>
        </p:txBody>
      </p:sp>
    </p:spTree>
    <p:extLst>
      <p:ext uri="{BB962C8B-B14F-4D97-AF65-F5344CB8AC3E}">
        <p14:creationId xmlns:p14="http://schemas.microsoft.com/office/powerpoint/2010/main" val="24208065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find</a:t>
            </a:r>
            <a:r>
              <a:rPr lang="en-US" sz="3600" dirty="0">
                <a:latin typeface="Times New Roman" panose="02020603050405020304" pitchFamily="18" charset="0"/>
                <a:cs typeface="Times New Roman" panose="02020603050405020304" pitchFamily="18" charset="0"/>
              </a:rPr>
              <a:t> command basics: To search a file or directory.</a:t>
            </a:r>
            <a:br>
              <a:rPr lang="en-US" sz="3600" dirty="0">
                <a:latin typeface="Times New Roman" panose="02020603050405020304" pitchFamily="18" charset="0"/>
                <a:cs typeface="Times New Roman" panose="02020603050405020304" pitchFamily="18" charset="0"/>
              </a:rPr>
            </a:br>
            <a:r>
              <a:rPr lang="en-US" sz="1300" dirty="0">
                <a:latin typeface="Times New Roman" panose="02020603050405020304" pitchFamily="18" charset="0"/>
                <a:cs typeface="Times New Roman" panose="02020603050405020304" pitchFamily="18" charset="0"/>
                <a:hlinkClick r:id="rId2"/>
              </a:rPr>
              <a:t>http://www.tecmint.com/35-practical-examples-of-linux-find-command/</a:t>
            </a:r>
            <a:r>
              <a:rPr lang="en-US" sz="1300" dirty="0">
                <a:latin typeface="Times New Roman" panose="02020603050405020304" pitchFamily="18" charset="0"/>
                <a:cs typeface="Times New Roman" panose="02020603050405020304" pitchFamily="18" charset="0"/>
              </a:rPr>
              <a:t> </a:t>
            </a:r>
            <a:r>
              <a:rPr lang="en-US" sz="1400" i="1" dirty="0">
                <a:solidFill>
                  <a:srgbClr val="FF0000"/>
                </a:solidFill>
                <a:latin typeface="Times New Roman" panose="02020603050405020304" pitchFamily="18" charset="0"/>
                <a:cs typeface="Times New Roman" panose="02020603050405020304" pitchFamily="18" charset="0"/>
              </a:rPr>
              <a:t>Class </a:t>
            </a:r>
            <a:endParaRPr lang="en-US" sz="13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find .  -name then name of the file or directory (find destination then command options)</a:t>
            </a:r>
          </a:p>
          <a:p>
            <a:r>
              <a:rPr lang="en-US" sz="1400" dirty="0">
                <a:latin typeface="Times New Roman" panose="02020603050405020304" pitchFamily="18" charset="0"/>
                <a:cs typeface="Times New Roman" panose="02020603050405020304" pitchFamily="18" charset="0"/>
              </a:rPr>
              <a:t>find -</a:t>
            </a:r>
            <a:r>
              <a:rPr lang="en-US" sz="1400" dirty="0" err="1">
                <a:latin typeface="Times New Roman" panose="02020603050405020304" pitchFamily="18" charset="0"/>
                <a:cs typeface="Times New Roman" panose="02020603050405020304" pitchFamily="18" charset="0"/>
              </a:rPr>
              <a:t>iname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to ignore case sensitive)</a:t>
            </a:r>
          </a:p>
          <a:p>
            <a:r>
              <a:rPr lang="en-US" sz="1400" dirty="0">
                <a:latin typeface="Times New Roman" panose="02020603050405020304" pitchFamily="18" charset="0"/>
                <a:cs typeface="Times New Roman" panose="02020603050405020304" pitchFamily="18" charset="0"/>
              </a:rPr>
              <a:t>find /home -</a:t>
            </a:r>
            <a:r>
              <a:rPr lang="en-US" sz="1400" dirty="0" err="1">
                <a:latin typeface="Times New Roman" panose="02020603050405020304" pitchFamily="18" charset="0"/>
                <a:cs typeface="Times New Roman" panose="02020603050405020304" pitchFamily="18" charset="0"/>
              </a:rPr>
              <a:t>iname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xyz.file</a:t>
            </a:r>
            <a:r>
              <a:rPr lang="en-US" sz="1400" dirty="0">
                <a:latin typeface="Times New Roman" panose="02020603050405020304" pitchFamily="18" charset="0"/>
                <a:cs typeface="Times New Roman" panose="02020603050405020304" pitchFamily="18" charset="0"/>
              </a:rPr>
              <a:t> (to search the file in home directory)</a:t>
            </a:r>
          </a:p>
          <a:p>
            <a:r>
              <a:rPr lang="en-US" sz="1400" dirty="0">
                <a:latin typeface="Times New Roman" panose="02020603050405020304" pitchFamily="18" charset="0"/>
                <a:cs typeface="Times New Roman" panose="02020603050405020304" pitchFamily="18" charset="0"/>
              </a:rPr>
              <a:t>find / -type d -name </a:t>
            </a:r>
            <a:r>
              <a:rPr lang="en-US" sz="1400" dirty="0" err="1">
                <a:latin typeface="Times New Roman" panose="02020603050405020304" pitchFamily="18" charset="0"/>
                <a:cs typeface="Times New Roman" panose="02020603050405020304" pitchFamily="18" charset="0"/>
              </a:rPr>
              <a:t>suresh</a:t>
            </a:r>
            <a:r>
              <a:rPr lang="en-US" sz="1400" dirty="0">
                <a:latin typeface="Times New Roman" panose="02020603050405020304" pitchFamily="18" charset="0"/>
                <a:cs typeface="Times New Roman" panose="02020603050405020304" pitchFamily="18" charset="0"/>
              </a:rPr>
              <a:t> (-type d to search any directory)</a:t>
            </a:r>
          </a:p>
          <a:p>
            <a:r>
              <a:rPr lang="en-US" sz="1400" dirty="0">
                <a:latin typeface="Times New Roman" panose="02020603050405020304" pitchFamily="18" charset="0"/>
                <a:cs typeface="Times New Roman" panose="02020603050405020304" pitchFamily="18" charset="0"/>
              </a:rPr>
              <a:t>find  /home -type f -name </a:t>
            </a:r>
            <a:r>
              <a:rPr lang="en-US" sz="1400" dirty="0" err="1">
                <a:latin typeface="Times New Roman" panose="02020603050405020304" pitchFamily="18" charset="0"/>
                <a:cs typeface="Times New Roman" panose="02020603050405020304" pitchFamily="18" charset="0"/>
              </a:rPr>
              <a:t>suresh.php</a:t>
            </a:r>
            <a:r>
              <a:rPr lang="en-US" sz="1400" dirty="0">
                <a:latin typeface="Times New Roman" panose="02020603050405020304" pitchFamily="18" charset="0"/>
                <a:cs typeface="Times New Roman" panose="02020603050405020304" pitchFamily="18" charset="0"/>
              </a:rPr>
              <a:t> (-type f to search any file )</a:t>
            </a:r>
          </a:p>
          <a:p>
            <a:r>
              <a:rPr lang="en-US" sz="1400" dirty="0">
                <a:latin typeface="Times New Roman" panose="02020603050405020304" pitchFamily="18" charset="0"/>
                <a:cs typeface="Times New Roman" panose="02020603050405020304" pitchFamily="18" charset="0"/>
              </a:rPr>
              <a:t>find /home -type f -name “*.</a:t>
            </a:r>
            <a:r>
              <a:rPr lang="en-US" sz="1400" dirty="0" err="1">
                <a:latin typeface="Times New Roman" panose="02020603050405020304" pitchFamily="18" charset="0"/>
                <a:cs typeface="Times New Roman" panose="02020603050405020304" pitchFamily="18" charset="0"/>
              </a:rPr>
              <a:t>php</a:t>
            </a:r>
            <a:r>
              <a:rPr lang="en-US" sz="1400" dirty="0">
                <a:latin typeface="Times New Roman" panose="02020603050405020304" pitchFamily="18" charset="0"/>
                <a:cs typeface="Times New Roman" panose="02020603050405020304" pitchFamily="18" charset="0"/>
              </a:rPr>
              <a:t>” (I think you all know what is * mean)</a:t>
            </a:r>
          </a:p>
          <a:p>
            <a:pPr marL="0" indent="0">
              <a:buNone/>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find . -perm 0777 (to search files in current directory with 777 permissions)</a:t>
            </a:r>
          </a:p>
          <a:p>
            <a:r>
              <a:rPr lang="en-US" sz="1400" dirty="0">
                <a:latin typeface="Times New Roman" panose="02020603050405020304" pitchFamily="18" charset="0"/>
                <a:cs typeface="Times New Roman" panose="02020603050405020304" pitchFamily="18" charset="0"/>
              </a:rPr>
              <a:t>find . ! -perm 0777(to search files in current directory without 777 permissions)</a:t>
            </a:r>
          </a:p>
          <a:p>
            <a:r>
              <a:rPr lang="en-US" sz="1400" dirty="0">
                <a:latin typeface="Times New Roman" panose="02020603050405020304" pitchFamily="18" charset="0"/>
                <a:cs typeface="Times New Roman" panose="02020603050405020304" pitchFamily="18" charset="0"/>
              </a:rPr>
              <a:t>find  . -perm </a:t>
            </a:r>
          </a:p>
          <a:p>
            <a:pPr marL="0" indent="0">
              <a:buNone/>
            </a:pPr>
            <a:r>
              <a:rPr lang="en-US" sz="1400" dirty="0">
                <a:latin typeface="Times New Roman" panose="02020603050405020304" pitchFamily="18" charset="0"/>
                <a:cs typeface="Times New Roman" panose="02020603050405020304" pitchFamily="18" charset="0"/>
              </a:rPr>
              <a:t>http://stackoverflow.com/questions/10898154/grep-inside-all-files-created-within-date-range</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623441157"/>
              </p:ext>
            </p:extLst>
          </p:nvPr>
        </p:nvGraphicFramePr>
        <p:xfrm>
          <a:off x="1250765" y="6311900"/>
          <a:ext cx="8128000" cy="424681"/>
        </p:xfrm>
        <a:graphic>
          <a:graphicData uri="http://schemas.openxmlformats.org/drawingml/2006/table">
            <a:tbl>
              <a:tblPr firstRow="1" bandRow="1">
                <a:tableStyleId>{5C22544A-7EE6-4342-B048-85BDC9FD1C3A}</a:tableStyleId>
              </a:tblPr>
              <a:tblGrid>
                <a:gridCol w="8128000">
                  <a:extLst>
                    <a:ext uri="{9D8B030D-6E8A-4147-A177-3AD203B41FA5}">
                      <a16:colId xmlns="" xmlns:a16="http://schemas.microsoft.com/office/drawing/2014/main" val="556862353"/>
                    </a:ext>
                  </a:extLst>
                </a:gridCol>
              </a:tblGrid>
              <a:tr h="424681">
                <a:tc>
                  <a:txBody>
                    <a:bodyPr/>
                    <a:lstStyle/>
                    <a:p>
                      <a:r>
                        <a:rPr lang="en-US" dirty="0" err="1">
                          <a:solidFill>
                            <a:schemeClr val="bg1"/>
                          </a:solidFill>
                          <a:latin typeface="Times New Roman" panose="02020603050405020304" pitchFamily="18" charset="0"/>
                          <a:cs typeface="Times New Roman" panose="02020603050405020304" pitchFamily="18" charset="0"/>
                        </a:rPr>
                        <a:t>Fsdfsdfsdcsdc</a:t>
                      </a:r>
                      <a:r>
                        <a:rPr lang="en-US" dirty="0">
                          <a:solidFill>
                            <a:schemeClr val="bg1"/>
                          </a:solidFill>
                          <a:latin typeface="Times New Roman" panose="02020603050405020304" pitchFamily="18" charset="0"/>
                          <a:cs typeface="Times New Roman" panose="02020603050405020304" pitchFamily="18" charset="0"/>
                        </a:rPr>
                        <a:t> is not about an IT JOB., be </a:t>
                      </a:r>
                      <a:r>
                        <a:rPr lang="en-US" dirty="0" err="1">
                          <a:solidFill>
                            <a:schemeClr val="bg1"/>
                          </a:solidFill>
                          <a:latin typeface="Times New Roman" panose="02020603050405020304" pitchFamily="18" charset="0"/>
                          <a:cs typeface="Times New Roman" panose="02020603050405020304" pitchFamily="18" charset="0"/>
                        </a:rPr>
                        <a:t>njoy</a:t>
                      </a:r>
                      <a:r>
                        <a:rPr lang="en-US" dirty="0">
                          <a:solidFill>
                            <a:schemeClr val="bg1"/>
                          </a:solidFill>
                          <a:latin typeface="Times New Roman" panose="02020603050405020304" pitchFamily="18" charset="0"/>
                          <a:cs typeface="Times New Roman" panose="02020603050405020304" pitchFamily="18" charset="0"/>
                        </a:rPr>
                        <a:t>  eve</a:t>
                      </a:r>
                    </a:p>
                  </a:txBody>
                  <a:tcPr>
                    <a:noFill/>
                  </a:tcPr>
                </a:tc>
                <a:extLst>
                  <a:ext uri="{0D108BD9-81ED-4DB2-BD59-A6C34878D82A}">
                    <a16:rowId xmlns="" xmlns:a16="http://schemas.microsoft.com/office/drawing/2014/main" val="1982723289"/>
                  </a:ext>
                </a:extLst>
              </a:tr>
            </a:tbl>
          </a:graphicData>
        </a:graphic>
      </p:graphicFrame>
      <p:sp>
        <p:nvSpPr>
          <p:cNvPr id="5" name="TextBox 4"/>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No:01</a:t>
            </a:r>
          </a:p>
        </p:txBody>
      </p:sp>
    </p:spTree>
    <p:extLst>
      <p:ext uri="{BB962C8B-B14F-4D97-AF65-F5344CB8AC3E}">
        <p14:creationId xmlns:p14="http://schemas.microsoft.com/office/powerpoint/2010/main" val="3820016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locate</a:t>
            </a:r>
            <a:r>
              <a:rPr lang="en-US" sz="3600" dirty="0">
                <a:latin typeface="Times New Roman" panose="02020603050405020304" pitchFamily="18" charset="0"/>
                <a:cs typeface="Times New Roman" panose="02020603050405020304" pitchFamily="18" charset="0"/>
              </a:rPr>
              <a:t> command basics: To find the locations of files and directories </a:t>
            </a:r>
            <a:r>
              <a:rPr lang="en-US" sz="1400" dirty="0">
                <a:latin typeface="Times New Roman" panose="02020603050405020304" pitchFamily="18" charset="0"/>
                <a:cs typeface="Times New Roman" panose="02020603050405020304" pitchFamily="18" charset="0"/>
                <a:hlinkClick r:id="rId2"/>
              </a:rPr>
              <a:t>https://linux.die.net/man/1/locate</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r>
              <a:rPr lang="en-US" sz="1400" dirty="0">
                <a:latin typeface="Times New Roman" panose="02020603050405020304" pitchFamily="18" charset="0"/>
                <a:cs typeface="Times New Roman" panose="02020603050405020304" pitchFamily="18" charset="0"/>
              </a:rPr>
              <a:t>locate file name</a:t>
            </a:r>
          </a:p>
          <a:p>
            <a:r>
              <a:rPr lang="en-US" sz="1400" dirty="0">
                <a:latin typeface="Times New Roman" panose="02020603050405020304" pitchFamily="18" charset="0"/>
                <a:cs typeface="Times New Roman" panose="02020603050405020304" pitchFamily="18" charset="0"/>
              </a:rPr>
              <a:t>locate -0 file name (-0 shows all the files in single line)</a:t>
            </a:r>
          </a:p>
          <a:p>
            <a:r>
              <a:rPr lang="en-US" sz="1400" dirty="0">
                <a:latin typeface="Times New Roman" panose="02020603050405020304" pitchFamily="18" charset="0"/>
                <a:cs typeface="Times New Roman" panose="02020603050405020304" pitchFamily="18" charset="0"/>
              </a:rPr>
              <a:t>locate -c file name (-c will give the file count)</a:t>
            </a:r>
          </a:p>
          <a:p>
            <a:r>
              <a:rPr lang="en-US" sz="1400" dirty="0">
                <a:latin typeface="Times New Roman" panose="02020603050405020304" pitchFamily="18" charset="0"/>
                <a:cs typeface="Times New Roman" panose="02020603050405020304" pitchFamily="18" charset="0"/>
              </a:rPr>
              <a:t>locate -l n file name(-l is use to list the n number of files, so we can see only limited files) </a:t>
            </a:r>
          </a:p>
          <a:p>
            <a:r>
              <a:rPr lang="en-US" sz="1400" dirty="0">
                <a:latin typeface="Times New Roman" panose="02020603050405020304" pitchFamily="18" charset="0"/>
                <a:cs typeface="Times New Roman" panose="02020603050405020304" pitchFamily="18" charset="0"/>
              </a:rPr>
              <a:t>locate -</a:t>
            </a:r>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file name(as all you know that -</a:t>
            </a:r>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is for case-sensitive)</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4089914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Grep &amp; </a:t>
            </a:r>
            <a:r>
              <a:rPr lang="en-US" sz="3600" dirty="0" err="1">
                <a:solidFill>
                  <a:srgbClr val="FFC000"/>
                </a:solidFill>
                <a:latin typeface="Times New Roman" panose="02020603050405020304" pitchFamily="18" charset="0"/>
                <a:cs typeface="Times New Roman" panose="02020603050405020304" pitchFamily="18" charset="0"/>
              </a:rPr>
              <a:t>egrep</a:t>
            </a:r>
            <a:r>
              <a:rPr lang="en-US" sz="3600" dirty="0">
                <a:latin typeface="Times New Roman" panose="02020603050405020304" pitchFamily="18" charset="0"/>
                <a:cs typeface="Times New Roman" panose="02020603050405020304" pitchFamily="18" charset="0"/>
              </a:rPr>
              <a:t> command basics: To search a word </a:t>
            </a:r>
            <a:r>
              <a:rPr lang="en-US" sz="1400" dirty="0">
                <a:latin typeface="Times New Roman" panose="02020603050405020304" pitchFamily="18" charset="0"/>
                <a:cs typeface="Times New Roman" panose="02020603050405020304" pitchFamily="18" charset="0"/>
                <a:hlinkClick r:id="rId2"/>
              </a:rPr>
              <a:t>http://www.tecmint.com/12-practical-examples-of-linux-grep-command/</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r>
              <a:rPr lang="en-US" sz="1400" dirty="0">
                <a:latin typeface="Times New Roman" panose="02020603050405020304" pitchFamily="18" charset="0"/>
                <a:cs typeface="Times New Roman" panose="02020603050405020304" pitchFamily="18" charset="0"/>
              </a:rPr>
              <a:t>grep word file name or location</a:t>
            </a:r>
          </a:p>
          <a:p>
            <a:r>
              <a:rPr lang="en-US" sz="1400" dirty="0">
                <a:latin typeface="Times New Roman" panose="02020603050405020304" pitchFamily="18" charset="0"/>
                <a:cs typeface="Times New Roman" panose="02020603050405020304" pitchFamily="18" charset="0"/>
              </a:rPr>
              <a:t>grep -v “word” path or location (-v won’t list the particular word)</a:t>
            </a:r>
          </a:p>
          <a:p>
            <a:r>
              <a:rPr lang="en-US" sz="1400" dirty="0">
                <a:latin typeface="Times New Roman" panose="02020603050405020304" pitchFamily="18" charset="0"/>
                <a:cs typeface="Times New Roman" panose="02020603050405020304" pitchFamily="18" charset="0"/>
              </a:rPr>
              <a:t>grep -w word(-w is to search only words, not numbers wrong:abc123)</a:t>
            </a:r>
          </a:p>
          <a:p>
            <a:r>
              <a:rPr lang="en-US" sz="1400" dirty="0">
                <a:latin typeface="Times New Roman" panose="02020603050405020304" pitchFamily="18" charset="0"/>
                <a:cs typeface="Times New Roman" panose="02020603050405020304" pitchFamily="18" charset="0"/>
              </a:rPr>
              <a:t>grep --color word(--color is to display the output in colors)</a:t>
            </a:r>
          </a:p>
          <a:p>
            <a:r>
              <a:rPr lang="en-US" sz="1400" dirty="0">
                <a:latin typeface="Times New Roman" panose="02020603050405020304" pitchFamily="18" charset="0"/>
                <a:cs typeface="Times New Roman" panose="02020603050405020304" pitchFamily="18" charset="0"/>
              </a:rPr>
              <a:t>grep –l </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571671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Port Numbers </a:t>
            </a:r>
            <a:endParaRPr lang="en-US" sz="1200" i="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fr-FR" sz="1400" dirty="0">
                <a:latin typeface="Times New Roman" panose="02020603050405020304" pitchFamily="18" charset="0"/>
                <a:cs typeface="Times New Roman" panose="02020603050405020304" pitchFamily="18" charset="0"/>
              </a:rPr>
              <a:t>Web server default </a:t>
            </a:r>
            <a:r>
              <a:rPr lang="fr-FR" sz="1400" dirty="0" err="1">
                <a:latin typeface="Times New Roman" panose="02020603050405020304" pitchFamily="18" charset="0"/>
                <a:cs typeface="Times New Roman" panose="02020603050405020304" pitchFamily="18" charset="0"/>
              </a:rPr>
              <a:t>nonsecure</a:t>
            </a:r>
            <a:r>
              <a:rPr lang="fr-FR" sz="1400" dirty="0">
                <a:latin typeface="Times New Roman" panose="02020603050405020304" pitchFamily="18" charset="0"/>
                <a:cs typeface="Times New Roman" panose="02020603050405020304" pitchFamily="18" charset="0"/>
              </a:rPr>
              <a:t> port : 80</a:t>
            </a:r>
          </a:p>
          <a:p>
            <a:r>
              <a:rPr lang="en-US" sz="1400" dirty="0">
                <a:latin typeface="Times New Roman" panose="02020603050405020304" pitchFamily="18" charset="0"/>
                <a:cs typeface="Times New Roman" panose="02020603050405020304" pitchFamily="18" charset="0"/>
              </a:rPr>
              <a:t>Web server default secure port        :443</a:t>
            </a:r>
          </a:p>
          <a:p>
            <a:r>
              <a:rPr lang="en-US" sz="1400" dirty="0" err="1">
                <a:latin typeface="Times New Roman" panose="02020603050405020304" pitchFamily="18" charset="0"/>
                <a:cs typeface="Times New Roman" panose="02020603050405020304" pitchFamily="18" charset="0"/>
              </a:rPr>
              <a:t>Jboss</a:t>
            </a:r>
            <a:r>
              <a:rPr lang="en-US" sz="1400" dirty="0">
                <a:latin typeface="Times New Roman" panose="02020603050405020304" pitchFamily="18" charset="0"/>
                <a:cs typeface="Times New Roman" panose="02020603050405020304" pitchFamily="18" charset="0"/>
              </a:rPr>
              <a:t> http public :8080</a:t>
            </a:r>
          </a:p>
          <a:p>
            <a:r>
              <a:rPr lang="en-US" sz="1400" dirty="0" err="1">
                <a:latin typeface="Times New Roman" panose="02020603050405020304" pitchFamily="18" charset="0"/>
                <a:cs typeface="Times New Roman" panose="02020603050405020304" pitchFamily="18" charset="0"/>
              </a:rPr>
              <a:t>Jboss</a:t>
            </a:r>
            <a:r>
              <a:rPr lang="en-US" sz="1400" dirty="0">
                <a:latin typeface="Times New Roman" panose="02020603050405020304" pitchFamily="18" charset="0"/>
                <a:cs typeface="Times New Roman" panose="02020603050405020304" pitchFamily="18" charset="0"/>
              </a:rPr>
              <a:t> https </a:t>
            </a:r>
            <a:r>
              <a:rPr lang="en-US" sz="1400" dirty="0" err="1">
                <a:latin typeface="Times New Roman" panose="02020603050405020304" pitchFamily="18" charset="0"/>
                <a:cs typeface="Times New Roman" panose="02020603050405020304" pitchFamily="18" charset="0"/>
              </a:rPr>
              <a:t>pulic</a:t>
            </a:r>
            <a:r>
              <a:rPr lang="en-US" sz="1400" dirty="0">
                <a:latin typeface="Times New Roman" panose="02020603050405020304" pitchFamily="18" charset="0"/>
                <a:cs typeface="Times New Roman" panose="02020603050405020304" pitchFamily="18" charset="0"/>
              </a:rPr>
              <a:t> :8443</a:t>
            </a:r>
          </a:p>
          <a:p>
            <a:r>
              <a:rPr lang="en-US" sz="1400" dirty="0" err="1">
                <a:latin typeface="Times New Roman" panose="02020603050405020304" pitchFamily="18" charset="0"/>
                <a:cs typeface="Times New Roman" panose="02020603050405020304" pitchFamily="18" charset="0"/>
              </a:rPr>
              <a:t>Jboss</a:t>
            </a:r>
            <a:r>
              <a:rPr lang="en-US" sz="1400" dirty="0">
                <a:latin typeface="Times New Roman" panose="02020603050405020304" pitchFamily="18" charset="0"/>
                <a:cs typeface="Times New Roman" panose="02020603050405020304" pitchFamily="18" charset="0"/>
              </a:rPr>
              <a:t> admin console :9990</a:t>
            </a:r>
          </a:p>
          <a:p>
            <a:r>
              <a:rPr lang="en-US" sz="1400" dirty="0" err="1">
                <a:latin typeface="Times New Roman" panose="02020603050405020304" pitchFamily="18" charset="0"/>
                <a:cs typeface="Times New Roman" panose="02020603050405020304" pitchFamily="18" charset="0"/>
              </a:rPr>
              <a:t>Jboss</a:t>
            </a:r>
            <a:r>
              <a:rPr lang="en-US" sz="1400" dirty="0">
                <a:latin typeface="Times New Roman" panose="02020603050405020304" pitchFamily="18" charset="0"/>
                <a:cs typeface="Times New Roman" panose="02020603050405020304" pitchFamily="18" charset="0"/>
              </a:rPr>
              <a:t> CLI :9999</a:t>
            </a:r>
          </a:p>
          <a:p>
            <a:r>
              <a:rPr lang="en-US" sz="1400" dirty="0">
                <a:latin typeface="Times New Roman" panose="02020603050405020304" pitchFamily="18" charset="0"/>
                <a:cs typeface="Times New Roman" panose="02020603050405020304" pitchFamily="18" charset="0"/>
              </a:rPr>
              <a:t>FTP :21</a:t>
            </a:r>
          </a:p>
          <a:p>
            <a:r>
              <a:rPr lang="en-US" sz="1400" dirty="0">
                <a:latin typeface="Times New Roman" panose="02020603050405020304" pitchFamily="18" charset="0"/>
                <a:cs typeface="Times New Roman" panose="02020603050405020304" pitchFamily="18" charset="0"/>
              </a:rPr>
              <a:t>SSH :22</a:t>
            </a:r>
          </a:p>
          <a:p>
            <a:r>
              <a:rPr lang="en-US" sz="1400" dirty="0">
                <a:latin typeface="Times New Roman" panose="02020603050405020304" pitchFamily="18" charset="0"/>
                <a:cs typeface="Times New Roman" panose="02020603050405020304" pitchFamily="18" charset="0"/>
              </a:rPr>
              <a:t>TELNET :23</a:t>
            </a:r>
          </a:p>
          <a:p>
            <a:r>
              <a:rPr lang="en-US" sz="1400" dirty="0">
                <a:latin typeface="Times New Roman" panose="02020603050405020304" pitchFamily="18" charset="0"/>
                <a:cs typeface="Times New Roman" panose="02020603050405020304" pitchFamily="18" charset="0"/>
              </a:rPr>
              <a:t>SMTP :25</a:t>
            </a:r>
          </a:p>
          <a:p>
            <a:r>
              <a:rPr lang="en-US" sz="1400" dirty="0">
                <a:latin typeface="Times New Roman" panose="02020603050405020304" pitchFamily="18" charset="0"/>
                <a:cs typeface="Times New Roman" panose="02020603050405020304" pitchFamily="18" charset="0"/>
              </a:rPr>
              <a:t>LDAP :389</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773995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err="1">
                <a:solidFill>
                  <a:srgbClr val="FFC000"/>
                </a:solidFill>
                <a:latin typeface="Times New Roman" panose="02020603050405020304" pitchFamily="18" charset="0"/>
                <a:cs typeface="Times New Roman" panose="02020603050405020304" pitchFamily="18" charset="0"/>
              </a:rPr>
              <a:t>netstat</a:t>
            </a:r>
            <a:r>
              <a:rPr lang="en-US" sz="3600" dirty="0">
                <a:latin typeface="Times New Roman" panose="02020603050405020304" pitchFamily="18" charset="0"/>
                <a:cs typeface="Times New Roman" panose="02020603050405020304" pitchFamily="18" charset="0"/>
              </a:rPr>
              <a:t> command basics: To monitoring network connections both incoming and outgoing as well as viewing routing tables </a:t>
            </a:r>
            <a:r>
              <a:rPr lang="en-US" sz="1400" dirty="0">
                <a:latin typeface="Times New Roman" panose="02020603050405020304" pitchFamily="18" charset="0"/>
                <a:cs typeface="Times New Roman" panose="02020603050405020304" pitchFamily="18" charset="0"/>
                <a:hlinkClick r:id="rId2"/>
              </a:rPr>
              <a:t>http://www.tecmint.com/20-netstat-commands-for-linux-network-management/</a:t>
            </a:r>
            <a:r>
              <a:rPr lang="en-US" sz="1400" dirty="0">
                <a:latin typeface="Times New Roman" panose="02020603050405020304" pitchFamily="18" charset="0"/>
                <a:cs typeface="Times New Roman" panose="02020603050405020304" pitchFamily="18" charset="0"/>
              </a:rPr>
              <a:t>  </a:t>
            </a:r>
            <a:r>
              <a:rPr lang="en-US" sz="1400" i="1" dirty="0">
                <a:solidFill>
                  <a:srgbClr val="FF0000"/>
                </a:solidFill>
                <a:latin typeface="Times New Roman" panose="02020603050405020304" pitchFamily="18" charset="0"/>
                <a:cs typeface="Times New Roman" panose="02020603050405020304" pitchFamily="18" charset="0"/>
              </a:rPr>
              <a:t>Class</a:t>
            </a:r>
            <a:endParaRPr lang="en-US" sz="1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1400" dirty="0" err="1">
                <a:latin typeface="Times New Roman" panose="02020603050405020304" pitchFamily="18" charset="0"/>
                <a:cs typeface="Times New Roman" panose="02020603050405020304" pitchFamily="18" charset="0"/>
              </a:rPr>
              <a:t>netstat</a:t>
            </a:r>
            <a:r>
              <a:rPr lang="en-US" sz="1400" dirty="0">
                <a:latin typeface="Times New Roman" panose="02020603050405020304" pitchFamily="18" charset="0"/>
                <a:cs typeface="Times New Roman" panose="02020603050405020304" pitchFamily="18" charset="0"/>
              </a:rPr>
              <a:t>  -a (-a for all ports UDP &amp; TCP) </a:t>
            </a:r>
          </a:p>
          <a:p>
            <a:r>
              <a:rPr lang="en-US" sz="1400" dirty="0" err="1">
                <a:latin typeface="Times New Roman" panose="02020603050405020304" pitchFamily="18" charset="0"/>
                <a:cs typeface="Times New Roman" panose="02020603050405020304" pitchFamily="18" charset="0"/>
              </a:rPr>
              <a:t>netstat</a:t>
            </a:r>
            <a:r>
              <a:rPr lang="en-US" sz="1400" dirty="0">
                <a:latin typeface="Times New Roman" panose="02020603050405020304" pitchFamily="18" charset="0"/>
                <a:cs typeface="Times New Roman" panose="02020603050405020304" pitchFamily="18" charset="0"/>
              </a:rPr>
              <a:t> -l (-l for listing)</a:t>
            </a:r>
          </a:p>
          <a:p>
            <a:r>
              <a:rPr lang="en-US" sz="1400" dirty="0" err="1">
                <a:latin typeface="Times New Roman" panose="02020603050405020304" pitchFamily="18" charset="0"/>
                <a:cs typeface="Times New Roman" panose="02020603050405020304" pitchFamily="18" charset="0"/>
              </a:rPr>
              <a:t>netstat</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ap</a:t>
            </a:r>
            <a:r>
              <a:rPr lang="en-US" sz="1400" dirty="0">
                <a:latin typeface="Times New Roman" panose="02020603050405020304" pitchFamily="18" charset="0"/>
                <a:cs typeface="Times New Roman" panose="02020603050405020304" pitchFamily="18" charset="0"/>
              </a:rPr>
              <a:t> |grep http (-a for all and -p, --program , Show the PID and name of the program to which each socket belongs.)</a:t>
            </a:r>
          </a:p>
          <a:p>
            <a:r>
              <a:rPr lang="en-US" sz="1400" dirty="0" err="1">
                <a:latin typeface="Times New Roman" panose="02020603050405020304" pitchFamily="18" charset="0"/>
                <a:cs typeface="Times New Roman" panose="02020603050405020304" pitchFamily="18" charset="0"/>
              </a:rPr>
              <a:t>netstat</a:t>
            </a:r>
            <a:r>
              <a:rPr lang="en-US" sz="1400" dirty="0">
                <a:latin typeface="Times New Roman" panose="02020603050405020304" pitchFamily="18" charset="0"/>
                <a:cs typeface="Times New Roman" panose="02020603050405020304" pitchFamily="18" charset="0"/>
              </a:rPr>
              <a:t> –r (-route , -r Display the kernel routing tables.)</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9332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Vi editor</a:t>
            </a:r>
            <a:r>
              <a:rPr lang="en-US" sz="3600" dirty="0">
                <a:latin typeface="Times New Roman" panose="02020603050405020304" pitchFamily="18" charset="0"/>
                <a:cs typeface="Times New Roman" panose="02020603050405020304" pitchFamily="18" charset="0"/>
              </a:rPr>
              <a:t> command basics: To read/write a file </a:t>
            </a:r>
            <a:r>
              <a:rPr lang="en-US" sz="1400" dirty="0">
                <a:latin typeface="Times New Roman" panose="02020603050405020304" pitchFamily="18" charset="0"/>
                <a:cs typeface="Times New Roman" panose="02020603050405020304" pitchFamily="18" charset="0"/>
                <a:hlinkClick r:id="rId2"/>
              </a:rPr>
              <a:t>http://www.linfo.org/vi/search.html</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lnSpcReduction="10000"/>
          </a:bodyPr>
          <a:lstStyle/>
          <a:p>
            <a:r>
              <a:rPr lang="en-US" sz="1400" b="1" dirty="0">
                <a:solidFill>
                  <a:srgbClr val="FF0000"/>
                </a:solidFill>
                <a:latin typeface="Times New Roman" panose="02020603050405020304" pitchFamily="18" charset="0"/>
                <a:cs typeface="Times New Roman" panose="02020603050405020304" pitchFamily="18" charset="0"/>
              </a:rPr>
              <a:t>We should enter ESC before we use all the below options</a:t>
            </a:r>
          </a:p>
          <a:p>
            <a:r>
              <a:rPr lang="en-US" sz="1400" dirty="0">
                <a:latin typeface="Times New Roman" panose="02020603050405020304" pitchFamily="18" charset="0"/>
                <a:cs typeface="Times New Roman" panose="02020603050405020304" pitchFamily="18" charset="0"/>
              </a:rPr>
              <a:t>H - top of the page</a:t>
            </a:r>
          </a:p>
          <a:p>
            <a:r>
              <a:rPr lang="en-US" sz="1400" dirty="0">
                <a:latin typeface="Times New Roman" panose="02020603050405020304" pitchFamily="18" charset="0"/>
                <a:cs typeface="Times New Roman" panose="02020603050405020304" pitchFamily="18" charset="0"/>
              </a:rPr>
              <a:t>M - middle of the page</a:t>
            </a:r>
          </a:p>
          <a:p>
            <a:r>
              <a:rPr lang="en-US" sz="1400" dirty="0">
                <a:latin typeface="Times New Roman" panose="02020603050405020304" pitchFamily="18" charset="0"/>
                <a:cs typeface="Times New Roman" panose="02020603050405020304" pitchFamily="18" charset="0"/>
              </a:rPr>
              <a:t>L - bottom of the page</a:t>
            </a:r>
          </a:p>
          <a:p>
            <a:r>
              <a:rPr lang="en-US" sz="1400" dirty="0">
                <a:latin typeface="Times New Roman" panose="02020603050405020304" pitchFamily="18" charset="0"/>
                <a:cs typeface="Times New Roman" panose="02020603050405020304" pitchFamily="18" charset="0"/>
              </a:rPr>
              <a:t>A - end of the line</a:t>
            </a:r>
          </a:p>
          <a:p>
            <a:r>
              <a:rPr lang="en-US" sz="1400" dirty="0">
                <a:latin typeface="Times New Roman" panose="02020603050405020304" pitchFamily="18" charset="0"/>
                <a:cs typeface="Times New Roman" panose="02020603050405020304" pitchFamily="18" charset="0"/>
              </a:rPr>
              <a:t>^ beginning of the line</a:t>
            </a:r>
          </a:p>
          <a:p>
            <a:r>
              <a:rPr lang="en-US" sz="1400" dirty="0">
                <a:latin typeface="Times New Roman" panose="02020603050405020304" pitchFamily="18" charset="0"/>
                <a:cs typeface="Times New Roman" panose="02020603050405020304" pitchFamily="18" charset="0"/>
              </a:rPr>
              <a:t>:%s/old-word/new-word (to change in the complete file)</a:t>
            </a:r>
          </a:p>
          <a:p>
            <a:r>
              <a:rPr lang="en-US" sz="1400" dirty="0">
                <a:latin typeface="Times New Roman" panose="02020603050405020304" pitchFamily="18" charset="0"/>
                <a:cs typeface="Times New Roman" panose="02020603050405020304" pitchFamily="18" charset="0"/>
              </a:rPr>
              <a:t>:s/old-word/new-word (to change in single line)</a:t>
            </a:r>
          </a:p>
          <a:p>
            <a:r>
              <a:rPr lang="en-US" sz="1400" dirty="0">
                <a:latin typeface="Times New Roman" panose="02020603050405020304" pitchFamily="18" charset="0"/>
                <a:cs typeface="Times New Roman" panose="02020603050405020304" pitchFamily="18" charset="0"/>
              </a:rPr>
              <a:t>:1,10s/old/new (to change from 1 to 10 lines)</a:t>
            </a:r>
          </a:p>
          <a:p>
            <a:r>
              <a:rPr lang="en-US" sz="1400" dirty="0">
                <a:latin typeface="Times New Roman" panose="02020603050405020304" pitchFamily="18" charset="0"/>
                <a:cs typeface="Times New Roman" panose="02020603050405020304" pitchFamily="18" charset="0"/>
              </a:rPr>
              <a:t>/search</a:t>
            </a:r>
          </a:p>
          <a:p>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 insert</a:t>
            </a:r>
          </a:p>
          <a:p>
            <a:r>
              <a:rPr lang="en-US" sz="1400" dirty="0">
                <a:latin typeface="Times New Roman" panose="02020603050405020304" pitchFamily="18" charset="0"/>
                <a:cs typeface="Times New Roman" panose="02020603050405020304" pitchFamily="18" charset="0"/>
              </a:rPr>
              <a:t>o – append</a:t>
            </a:r>
          </a:p>
          <a:p>
            <a:r>
              <a:rPr lang="en-US" sz="1400" dirty="0">
                <a:latin typeface="Times New Roman" panose="02020603050405020304" pitchFamily="18" charset="0"/>
                <a:cs typeface="Times New Roman" panose="02020603050405020304" pitchFamily="18" charset="0"/>
              </a:rPr>
              <a:t>G last line of the file</a:t>
            </a:r>
          </a:p>
          <a:p>
            <a:r>
              <a:rPr lang="en-US" sz="1400" dirty="0">
                <a:latin typeface="Times New Roman" panose="02020603050405020304" pitchFamily="18" charset="0"/>
                <a:cs typeface="Times New Roman" panose="02020603050405020304" pitchFamily="18" charset="0"/>
              </a:rPr>
              <a:t>1G first line of the file</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806119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solidFill>
                  <a:srgbClr val="FFC000"/>
                </a:solidFill>
                <a:latin typeface="Times New Roman" panose="02020603050405020304" pitchFamily="18" charset="0"/>
                <a:cs typeface="Times New Roman" panose="02020603050405020304" pitchFamily="18" charset="0"/>
              </a:rPr>
              <a:t>nslookup</a:t>
            </a:r>
            <a:r>
              <a:rPr lang="en-US" sz="3600" dirty="0">
                <a:solidFill>
                  <a:srgbClr val="FFC00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command basics: To testing and troubleshooting DNS servers </a:t>
            </a:r>
            <a:r>
              <a:rPr lang="en-US" sz="1400" dirty="0">
                <a:latin typeface="Times New Roman" panose="02020603050405020304" pitchFamily="18" charset="0"/>
                <a:cs typeface="Times New Roman" panose="02020603050405020304" pitchFamily="18" charset="0"/>
                <a:hlinkClick r:id="rId2"/>
              </a:rPr>
              <a:t>http://www.tecmint.com/8-linux-nslookup-commands-to-troubleshoot-dns-domain-name-server/</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r>
              <a:rPr lang="en-US" sz="1400" dirty="0" err="1">
                <a:latin typeface="Times New Roman" panose="02020603050405020304" pitchFamily="18" charset="0"/>
                <a:cs typeface="Times New Roman" panose="02020603050405020304" pitchFamily="18" charset="0"/>
              </a:rPr>
              <a:t>nslookup</a:t>
            </a:r>
            <a:r>
              <a:rPr lang="en-US" sz="1400" dirty="0">
                <a:latin typeface="Times New Roman" panose="02020603050405020304" pitchFamily="18" charset="0"/>
                <a:cs typeface="Times New Roman" panose="02020603050405020304" pitchFamily="18" charset="0"/>
              </a:rPr>
              <a:t> www.google.com</a:t>
            </a:r>
          </a:p>
          <a:p>
            <a:r>
              <a:rPr lang="en-US" sz="1400" dirty="0" err="1">
                <a:latin typeface="Times New Roman" panose="02020603050405020304" pitchFamily="18" charset="0"/>
                <a:cs typeface="Times New Roman" panose="02020603050405020304" pitchFamily="18" charset="0"/>
              </a:rPr>
              <a:t>nslookup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ip</a:t>
            </a:r>
            <a:r>
              <a:rPr lang="en-US" sz="1400" dirty="0">
                <a:latin typeface="Times New Roman" panose="02020603050405020304" pitchFamily="18" charset="0"/>
                <a:cs typeface="Times New Roman" panose="02020603050405020304" pitchFamily="18" charset="0"/>
              </a:rPr>
              <a:t>-address or hostname.</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3739892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traceroute </a:t>
            </a:r>
            <a:r>
              <a:rPr lang="en-US" sz="3600" dirty="0">
                <a:latin typeface="Times New Roman" panose="02020603050405020304" pitchFamily="18" charset="0"/>
                <a:cs typeface="Times New Roman" panose="02020603050405020304" pitchFamily="18" charset="0"/>
              </a:rPr>
              <a:t>command basics: is used to find the network path from my machine to google.com </a:t>
            </a:r>
            <a:r>
              <a:rPr lang="en-US" sz="1400" dirty="0">
                <a:latin typeface="Times New Roman" panose="02020603050405020304" pitchFamily="18" charset="0"/>
                <a:cs typeface="Times New Roman" panose="02020603050405020304" pitchFamily="18" charset="0"/>
                <a:hlinkClick r:id="rId2"/>
              </a:rPr>
              <a:t>http://www.thegeekstuff.com/2012/05/traceroute-examples</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r>
              <a:rPr lang="en-US" sz="1400" dirty="0" err="1">
                <a:latin typeface="Times New Roman" panose="02020603050405020304" pitchFamily="18" charset="0"/>
                <a:cs typeface="Times New Roman" panose="02020603050405020304" pitchFamily="18" charset="0"/>
              </a:rPr>
              <a:t>tracert</a:t>
            </a: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3"/>
              </a:rPr>
              <a:t>www.google.com</a:t>
            </a:r>
            <a:r>
              <a:rPr lang="en-US" sz="1400" dirty="0">
                <a:latin typeface="Times New Roman" panose="02020603050405020304" pitchFamily="18" charset="0"/>
                <a:cs typeface="Times New Roman" panose="02020603050405020304" pitchFamily="18" charset="0"/>
              </a:rPr>
              <a:t> (Windows)</a:t>
            </a:r>
          </a:p>
          <a:p>
            <a:r>
              <a:rPr lang="en-US" sz="1400" dirty="0" err="1">
                <a:latin typeface="Times New Roman" panose="02020603050405020304" pitchFamily="18" charset="0"/>
                <a:cs typeface="Times New Roman" panose="02020603050405020304" pitchFamily="18" charset="0"/>
              </a:rPr>
              <a:t>traceroutre</a:t>
            </a:r>
            <a:r>
              <a:rPr lang="en-US" sz="1400" dirty="0">
                <a:latin typeface="Times New Roman" panose="02020603050405020304" pitchFamily="18" charset="0"/>
                <a:cs typeface="Times New Roman" panose="02020603050405020304" pitchFamily="18" charset="0"/>
              </a:rPr>
              <a:t> &lt;server name or </a:t>
            </a:r>
            <a:r>
              <a:rPr lang="en-US" sz="1400" dirty="0">
                <a:latin typeface="Times New Roman" panose="02020603050405020304" pitchFamily="18" charset="0"/>
                <a:cs typeface="Times New Roman" panose="02020603050405020304" pitchFamily="18" charset="0"/>
                <a:hlinkClick r:id="rId3"/>
              </a:rPr>
              <a:t>www.google.com</a:t>
            </a:r>
            <a:r>
              <a:rPr lang="en-US" sz="1400" dirty="0">
                <a:latin typeface="Times New Roman" panose="02020603050405020304" pitchFamily="18" charset="0"/>
                <a:cs typeface="Times New Roman" panose="02020603050405020304" pitchFamily="18" charset="0"/>
              </a:rPr>
              <a:t> &gt; (Linux)</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41411567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Disk usage</a:t>
            </a:r>
            <a:r>
              <a:rPr lang="en-US" sz="3600" dirty="0">
                <a:latin typeface="Times New Roman" panose="02020603050405020304" pitchFamily="18" charset="0"/>
                <a:cs typeface="Times New Roman" panose="02020603050405020304" pitchFamily="18" charset="0"/>
              </a:rPr>
              <a:t> command basics: To check the information of disk usage of files and directories on a machine. </a:t>
            </a:r>
            <a:r>
              <a:rPr lang="en-US" sz="1400" dirty="0">
                <a:latin typeface="Times New Roman" panose="02020603050405020304" pitchFamily="18" charset="0"/>
                <a:cs typeface="Times New Roman" panose="02020603050405020304" pitchFamily="18" charset="0"/>
                <a:hlinkClick r:id="rId2"/>
              </a:rPr>
              <a:t>http://www.tecmint.com/check-linux-disk-usage-of-files-and-directories/</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r>
              <a:rPr lang="en-US" sz="1400" dirty="0">
                <a:latin typeface="Times New Roman" panose="02020603050405020304" pitchFamily="18" charset="0"/>
                <a:cs typeface="Times New Roman" panose="02020603050405020304" pitchFamily="18" charset="0"/>
              </a:rPr>
              <a:t>du /home/xyz </a:t>
            </a:r>
          </a:p>
          <a:p>
            <a:r>
              <a:rPr lang="en-US" sz="1400" dirty="0">
                <a:latin typeface="Times New Roman" panose="02020603050405020304" pitchFamily="18" charset="0"/>
                <a:cs typeface="Times New Roman" panose="02020603050405020304" pitchFamily="18" charset="0"/>
              </a:rPr>
              <a:t>du –h /home/xyz (-h human-readable, print sizes in human readable format)</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7794501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solidFill>
                  <a:srgbClr val="FFC000"/>
                </a:solidFill>
                <a:latin typeface="Times New Roman" panose="02020603050405020304" pitchFamily="18" charset="0"/>
                <a:cs typeface="Times New Roman" panose="02020603050405020304" pitchFamily="18" charset="0"/>
              </a:rPr>
              <a:t>Disk Space </a:t>
            </a:r>
            <a:r>
              <a:rPr lang="en-US" sz="3600" dirty="0">
                <a:latin typeface="Times New Roman" panose="02020603050405020304" pitchFamily="18" charset="0"/>
                <a:cs typeface="Times New Roman" panose="02020603050405020304" pitchFamily="18" charset="0"/>
              </a:rPr>
              <a:t>command basics: is used to get full summary of available and used disk space usage of file system on Linux system. </a:t>
            </a:r>
            <a:r>
              <a:rPr lang="en-US" sz="1400" dirty="0">
                <a:latin typeface="Times New Roman" panose="02020603050405020304" pitchFamily="18" charset="0"/>
                <a:cs typeface="Times New Roman" panose="02020603050405020304" pitchFamily="18" charset="0"/>
                <a:hlinkClick r:id="rId2"/>
              </a:rPr>
              <a:t>http://www.tecmint.com/how-to-check-disk-space-in-linux/</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r>
              <a:rPr lang="en-US" sz="1400" dirty="0" err="1">
                <a:latin typeface="Times New Roman" panose="02020603050405020304" pitchFamily="18" charset="0"/>
                <a:cs typeface="Times New Roman" panose="02020603050405020304" pitchFamily="18" charset="0"/>
              </a:rPr>
              <a:t>df</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df</a:t>
            </a:r>
            <a:r>
              <a:rPr lang="en-US" sz="1400" dirty="0">
                <a:latin typeface="Times New Roman" panose="02020603050405020304" pitchFamily="18" charset="0"/>
                <a:cs typeface="Times New Roman" panose="02020603050405020304" pitchFamily="18" charset="0"/>
              </a:rPr>
              <a:t> -h (As you already know –h for human readable) </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2442112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Top &amp; Ps</a:t>
            </a:r>
            <a:r>
              <a:rPr lang="en-US" sz="3600" dirty="0">
                <a:latin typeface="Times New Roman" panose="02020603050405020304" pitchFamily="18" charset="0"/>
                <a:cs typeface="Times New Roman" panose="02020603050405020304" pitchFamily="18" charset="0"/>
              </a:rPr>
              <a:t> command basics: To find the current running processes </a:t>
            </a:r>
            <a:endParaRPr lang="en-US" sz="1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1400" dirty="0">
                <a:latin typeface="Times New Roman" panose="02020603050405020304" pitchFamily="18" charset="0"/>
                <a:cs typeface="Times New Roman" panose="02020603050405020304" pitchFamily="18" charset="0"/>
              </a:rPr>
              <a:t>top</a:t>
            </a:r>
          </a:p>
          <a:p>
            <a:r>
              <a:rPr lang="en-US" sz="1400" dirty="0">
                <a:latin typeface="Times New Roman" panose="02020603050405020304" pitchFamily="18" charset="0"/>
                <a:cs typeface="Times New Roman" panose="02020603050405020304" pitchFamily="18" charset="0"/>
              </a:rPr>
              <a:t>top then </a:t>
            </a:r>
            <a:r>
              <a:rPr lang="en-US" sz="1400" dirty="0" err="1">
                <a:latin typeface="Times New Roman" panose="02020603050405020304" pitchFamily="18" charset="0"/>
                <a:cs typeface="Times New Roman" panose="02020603050405020304" pitchFamily="18" charset="0"/>
              </a:rPr>
              <a:t>shift+m</a:t>
            </a:r>
            <a:r>
              <a:rPr lang="en-US" sz="1400" dirty="0">
                <a:latin typeface="Times New Roman" panose="02020603050405020304" pitchFamily="18" charset="0"/>
                <a:cs typeface="Times New Roman" panose="02020603050405020304" pitchFamily="18" charset="0"/>
              </a:rPr>
              <a:t> (to see the highest memory processes)  </a:t>
            </a:r>
          </a:p>
          <a:p>
            <a:r>
              <a:rPr lang="en-US" sz="1400" dirty="0">
                <a:latin typeface="Times New Roman" panose="02020603050405020304" pitchFamily="18" charset="0"/>
                <a:cs typeface="Times New Roman" panose="02020603050405020304" pitchFamily="18" charset="0"/>
              </a:rPr>
              <a:t>top  -u </a:t>
            </a:r>
            <a:r>
              <a:rPr lang="en-US" sz="1400" dirty="0" err="1">
                <a:latin typeface="Times New Roman" panose="02020603050405020304" pitchFamily="18" charset="0"/>
                <a:cs typeface="Times New Roman" panose="02020603050405020304" pitchFamily="18" charset="0"/>
              </a:rPr>
              <a:t>user_name</a:t>
            </a:r>
            <a:r>
              <a:rPr lang="en-US" sz="1400" dirty="0">
                <a:latin typeface="Times New Roman" panose="02020603050405020304" pitchFamily="18" charset="0"/>
                <a:cs typeface="Times New Roman" panose="02020603050405020304" pitchFamily="18" charset="0"/>
              </a:rPr>
              <a:t> (to se particular user processes)</a:t>
            </a:r>
          </a:p>
          <a:p>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ps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ef</a:t>
            </a:r>
            <a:r>
              <a:rPr lang="en-US" sz="1400" dirty="0">
                <a:latin typeface="Times New Roman" panose="02020603050405020304" pitchFamily="18" charset="0"/>
                <a:cs typeface="Times New Roman" panose="02020603050405020304" pitchFamily="18" charset="0"/>
              </a:rPr>
              <a:t>  |grep –</a:t>
            </a:r>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http(-e for all </a:t>
            </a:r>
            <a:r>
              <a:rPr lang="en-US" sz="1400" dirty="0" err="1">
                <a:latin typeface="Times New Roman" panose="02020603050405020304" pitchFamily="18" charset="0"/>
                <a:cs typeface="Times New Roman" panose="02020603050405020304" pitchFamily="18" charset="0"/>
              </a:rPr>
              <a:t>proceses</a:t>
            </a:r>
            <a:r>
              <a:rPr lang="en-US" sz="1400" dirty="0">
                <a:latin typeface="Times New Roman" panose="02020603050405020304" pitchFamily="18" charset="0"/>
                <a:cs typeface="Times New Roman" panose="02020603050405020304" pitchFamily="18" charset="0"/>
              </a:rPr>
              <a:t> , -f does full-format listing )</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sudo</a:t>
            </a:r>
            <a:r>
              <a:rPr lang="en-US" sz="1400" dirty="0">
                <a:latin typeface="Times New Roman" panose="02020603050405020304" pitchFamily="18" charset="0"/>
                <a:cs typeface="Times New Roman" panose="02020603050405020304" pitchFamily="18" charset="0"/>
              </a:rPr>
              <a:t> apt-get install </a:t>
            </a:r>
            <a:r>
              <a:rPr lang="en-US" sz="1400" dirty="0" err="1">
                <a:latin typeface="Times New Roman" panose="02020603050405020304" pitchFamily="18" charset="0"/>
                <a:cs typeface="Times New Roman" panose="02020603050405020304" pitchFamily="18" charset="0"/>
              </a:rPr>
              <a:t>htop</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htop</a:t>
            </a:r>
            <a:r>
              <a:rPr lang="en-US" sz="1400" dirty="0">
                <a:latin typeface="Times New Roman" panose="02020603050405020304" pitchFamily="18" charset="0"/>
                <a:cs typeface="Times New Roman" panose="02020603050405020304" pitchFamily="18" charset="0"/>
              </a:rPr>
              <a:t>  (if we run </a:t>
            </a:r>
            <a:r>
              <a:rPr lang="en-US" sz="1400" dirty="0" err="1">
                <a:latin typeface="Times New Roman" panose="02020603050405020304" pitchFamily="18" charset="0"/>
                <a:cs typeface="Times New Roman" panose="02020603050405020304" pitchFamily="18" charset="0"/>
              </a:rPr>
              <a:t>htop</a:t>
            </a:r>
            <a:r>
              <a:rPr lang="en-US" sz="1400" dirty="0">
                <a:latin typeface="Times New Roman" panose="02020603050405020304" pitchFamily="18" charset="0"/>
                <a:cs typeface="Times New Roman" panose="02020603050405020304" pitchFamily="18" charset="0"/>
              </a:rPr>
              <a:t> command , we will see that there is more user-friendly display)</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4272891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solidFill>
                  <a:srgbClr val="FFC000"/>
                </a:solidFill>
                <a:latin typeface="Times New Roman" panose="02020603050405020304" pitchFamily="18" charset="0"/>
                <a:cs typeface="Times New Roman" panose="02020603050405020304" pitchFamily="18" charset="0"/>
              </a:rPr>
              <a:t>cp</a:t>
            </a:r>
            <a:r>
              <a:rPr lang="en-US" sz="3600" dirty="0">
                <a:solidFill>
                  <a:srgbClr val="FFC000"/>
                </a:solidFill>
                <a:latin typeface="Times New Roman" panose="02020603050405020304" pitchFamily="18" charset="0"/>
                <a:cs typeface="Times New Roman" panose="02020603050405020304" pitchFamily="18" charset="0"/>
              </a:rPr>
              <a:t>, </a:t>
            </a:r>
            <a:r>
              <a:rPr lang="en-US" sz="3600" dirty="0" err="1">
                <a:solidFill>
                  <a:srgbClr val="FFC000"/>
                </a:solidFill>
                <a:latin typeface="Times New Roman" panose="02020603050405020304" pitchFamily="18" charset="0"/>
                <a:cs typeface="Times New Roman" panose="02020603050405020304" pitchFamily="18" charset="0"/>
              </a:rPr>
              <a:t>scp</a:t>
            </a:r>
            <a:r>
              <a:rPr lang="en-US" sz="3600" dirty="0">
                <a:solidFill>
                  <a:srgbClr val="FFC000"/>
                </a:solidFill>
                <a:latin typeface="Times New Roman" panose="02020603050405020304" pitchFamily="18" charset="0"/>
                <a:cs typeface="Times New Roman" panose="02020603050405020304" pitchFamily="18" charset="0"/>
              </a:rPr>
              <a:t> &amp; </a:t>
            </a:r>
            <a:r>
              <a:rPr lang="en-US" sz="3600" dirty="0" err="1">
                <a:solidFill>
                  <a:srgbClr val="FFC000"/>
                </a:solidFill>
                <a:latin typeface="Times New Roman" panose="02020603050405020304" pitchFamily="18" charset="0"/>
                <a:cs typeface="Times New Roman" panose="02020603050405020304" pitchFamily="18" charset="0"/>
              </a:rPr>
              <a:t>rsync</a:t>
            </a:r>
            <a:r>
              <a:rPr lang="en-US" sz="3600" dirty="0">
                <a:solidFill>
                  <a:srgbClr val="FFC000"/>
                </a:solidFill>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command basics: To copy files from source to destination </a:t>
            </a:r>
            <a:r>
              <a:rPr lang="en-US" sz="1400" dirty="0">
                <a:latin typeface="Times New Roman" panose="02020603050405020304" pitchFamily="18" charset="0"/>
                <a:cs typeface="Times New Roman" panose="02020603050405020304" pitchFamily="18" charset="0"/>
                <a:hlinkClick r:id="rId2"/>
              </a:rPr>
              <a:t>http://www.tecmint.com/scp-commands-examples/</a:t>
            </a:r>
            <a:endParaRPr lang="en-US" sz="1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1400" dirty="0" err="1">
                <a:latin typeface="Times New Roman" panose="02020603050405020304" pitchFamily="18" charset="0"/>
                <a:cs typeface="Times New Roman" panose="02020603050405020304" pitchFamily="18" charset="0"/>
              </a:rPr>
              <a:t>scp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source_file_name</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username@destination_host:destination_folder</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cp</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avr</a:t>
            </a:r>
            <a:r>
              <a:rPr lang="en-US" sz="1400" dirty="0">
                <a:latin typeface="Times New Roman" panose="02020603050405020304" pitchFamily="18" charset="0"/>
                <a:cs typeface="Times New Roman" panose="02020603050405020304" pitchFamily="18" charset="0"/>
              </a:rPr>
              <a:t> /source/   /destination</a:t>
            </a:r>
          </a:p>
          <a:p>
            <a:r>
              <a:rPr lang="en-US" sz="1400" dirty="0">
                <a:latin typeface="Times New Roman" panose="02020603050405020304" pitchFamily="18" charset="0"/>
                <a:cs typeface="Times New Roman" panose="02020603050405020304" pitchFamily="18" charset="0"/>
              </a:rPr>
              <a:t>-a : Preserve the specified attributes such as directory an file mode, ownership, timestamps, if possible additional attributes: context, links, </a:t>
            </a:r>
            <a:r>
              <a:rPr lang="en-US" sz="1400" dirty="0" err="1">
                <a:latin typeface="Times New Roman" panose="02020603050405020304" pitchFamily="18" charset="0"/>
                <a:cs typeface="Times New Roman" panose="02020603050405020304" pitchFamily="18" charset="0"/>
              </a:rPr>
              <a:t>xattr</a:t>
            </a:r>
            <a:r>
              <a:rPr lang="en-US" sz="1400" dirty="0">
                <a:latin typeface="Times New Roman" panose="02020603050405020304" pitchFamily="18" charset="0"/>
                <a:cs typeface="Times New Roman" panose="02020603050405020304" pitchFamily="18" charset="0"/>
              </a:rPr>
              <a:t>, all.</a:t>
            </a:r>
          </a:p>
          <a:p>
            <a:r>
              <a:rPr lang="en-US" sz="1400" dirty="0">
                <a:latin typeface="Times New Roman" panose="02020603050405020304" pitchFamily="18" charset="0"/>
                <a:cs typeface="Times New Roman" panose="02020603050405020304" pitchFamily="18" charset="0"/>
              </a:rPr>
              <a:t>-r : Copy directories recursively. (Recursive means that </a:t>
            </a:r>
            <a:r>
              <a:rPr lang="en-US" sz="1400" dirty="0" err="1">
                <a:latin typeface="Times New Roman" panose="02020603050405020304" pitchFamily="18" charset="0"/>
                <a:cs typeface="Times New Roman" panose="02020603050405020304" pitchFamily="18" charset="0"/>
              </a:rPr>
              <a:t>cp</a:t>
            </a:r>
            <a:r>
              <a:rPr lang="en-US" sz="1400" dirty="0">
                <a:latin typeface="Times New Roman" panose="02020603050405020304" pitchFamily="18" charset="0"/>
                <a:cs typeface="Times New Roman" panose="02020603050405020304" pitchFamily="18" charset="0"/>
              </a:rPr>
              <a:t> copies the contents of directories, and if a directory has subdirectories they are copied)</a:t>
            </a:r>
          </a:p>
          <a:p>
            <a:r>
              <a:rPr lang="en-US" sz="1400" b="1" dirty="0" err="1">
                <a:solidFill>
                  <a:srgbClr val="FF0000"/>
                </a:solidFill>
                <a:latin typeface="Times New Roman" panose="02020603050405020304" pitchFamily="18" charset="0"/>
                <a:cs typeface="Times New Roman" panose="02020603050405020304" pitchFamily="18" charset="0"/>
              </a:rPr>
              <a:t>rsync</a:t>
            </a:r>
            <a:r>
              <a:rPr lang="en-US" sz="1400" b="1" dirty="0">
                <a:solidFill>
                  <a:srgbClr val="FF0000"/>
                </a:solidFill>
                <a:latin typeface="Times New Roman" panose="02020603050405020304" pitchFamily="18" charset="0"/>
                <a:cs typeface="Times New Roman" panose="02020603050405020304" pitchFamily="18" charset="0"/>
              </a:rPr>
              <a:t> Command: </a:t>
            </a:r>
            <a:r>
              <a:rPr lang="en-US" sz="1400" dirty="0">
                <a:latin typeface="Times New Roman" panose="02020603050405020304" pitchFamily="18" charset="0"/>
                <a:cs typeface="Times New Roman" panose="02020603050405020304" pitchFamily="18" charset="0"/>
              </a:rPr>
              <a:t>You can also use </a:t>
            </a:r>
            <a:r>
              <a:rPr lang="en-US" sz="1400" dirty="0" err="1">
                <a:latin typeface="Times New Roman" panose="02020603050405020304" pitchFamily="18" charset="0"/>
                <a:cs typeface="Times New Roman" panose="02020603050405020304" pitchFamily="18" charset="0"/>
              </a:rPr>
              <a:t>rsync</a:t>
            </a:r>
            <a:r>
              <a:rPr lang="en-US" sz="1400" dirty="0">
                <a:latin typeface="Times New Roman" panose="02020603050405020304" pitchFamily="18" charset="0"/>
                <a:cs typeface="Times New Roman" panose="02020603050405020304" pitchFamily="18" charset="0"/>
              </a:rPr>
              <a:t> command which is a fast and extraordinarily versatile file copying tool. It can make copies across the network. The syntax is as follows: </a:t>
            </a:r>
            <a:r>
              <a:rPr lang="en-US" sz="1400" b="1" dirty="0" err="1">
                <a:solidFill>
                  <a:srgbClr val="FF0000"/>
                </a:solidFill>
                <a:latin typeface="Times New Roman" panose="02020603050405020304" pitchFamily="18" charset="0"/>
                <a:cs typeface="Times New Roman" panose="02020603050405020304" pitchFamily="18" charset="0"/>
              </a:rPr>
              <a:t>rsync</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av</a:t>
            </a:r>
            <a:r>
              <a:rPr lang="en-US" sz="1400" b="1" dirty="0">
                <a:solidFill>
                  <a:srgbClr val="FF0000"/>
                </a:solidFill>
                <a:latin typeface="Times New Roman" panose="02020603050405020304" pitchFamily="18" charset="0"/>
                <a:cs typeface="Times New Roman" panose="02020603050405020304" pitchFamily="18" charset="0"/>
              </a:rPr>
              <a:t>  /source   /destination (</a:t>
            </a:r>
            <a:r>
              <a:rPr lang="en-US" sz="1400" b="1" dirty="0">
                <a:solidFill>
                  <a:srgbClr val="FF0000"/>
                </a:solidFill>
                <a:latin typeface="Times New Roman" panose="02020603050405020304" pitchFamily="18" charset="0"/>
                <a:cs typeface="Times New Roman" panose="02020603050405020304" pitchFamily="18" charset="0"/>
                <a:hlinkClick r:id="rId3"/>
              </a:rPr>
              <a:t>https://www.cyberciti.biz/faq/copy-folder-linux-command-line/</a:t>
            </a:r>
            <a:r>
              <a:rPr lang="en-US" sz="1400" b="1" dirty="0">
                <a:solidFill>
                  <a:srgbClr val="FF0000"/>
                </a:solidFill>
                <a:latin typeface="Times New Roman" panose="02020603050405020304" pitchFamily="18" charset="0"/>
                <a:cs typeface="Times New Roman" panose="02020603050405020304" pitchFamily="18" charset="0"/>
              </a:rPr>
              <a:t> )</a:t>
            </a:r>
          </a:p>
          <a:p>
            <a:r>
              <a:rPr lang="en-US" sz="1400" dirty="0">
                <a:latin typeface="Times New Roman" panose="02020603050405020304" pitchFamily="18" charset="0"/>
                <a:cs typeface="Times New Roman" panose="02020603050405020304" pitchFamily="18" charset="0"/>
              </a:rPr>
              <a:t>a : Archive mode i.e. copy a folder with all its permission and other information including recursive copy.</a:t>
            </a:r>
          </a:p>
          <a:p>
            <a:r>
              <a:rPr lang="en-US" sz="1400" dirty="0">
                <a:latin typeface="Times New Roman" panose="02020603050405020304" pitchFamily="18" charset="0"/>
                <a:cs typeface="Times New Roman" panose="02020603050405020304" pitchFamily="18" charset="0"/>
              </a:rPr>
              <a:t>-v : Verbose mode.</a:t>
            </a:r>
          </a:p>
          <a:p>
            <a:r>
              <a:rPr lang="en-US" sz="1400" dirty="0">
                <a:latin typeface="Times New Roman" panose="02020603050405020304" pitchFamily="18" charset="0"/>
                <a:cs typeface="Times New Roman" panose="02020603050405020304" pitchFamily="18" charset="0"/>
              </a:rPr>
              <a:t>-z : With this option, </a:t>
            </a:r>
            <a:r>
              <a:rPr lang="en-US" sz="1400" dirty="0" err="1">
                <a:latin typeface="Times New Roman" panose="02020603050405020304" pitchFamily="18" charset="0"/>
                <a:cs typeface="Times New Roman" panose="02020603050405020304" pitchFamily="18" charset="0"/>
              </a:rPr>
              <a:t>rsync</a:t>
            </a:r>
            <a:r>
              <a:rPr lang="en-US" sz="1400" dirty="0">
                <a:latin typeface="Times New Roman" panose="02020603050405020304" pitchFamily="18" charset="0"/>
                <a:cs typeface="Times New Roman" panose="02020603050405020304" pitchFamily="18" charset="0"/>
              </a:rPr>
              <a:t> compresses the file data as it is sent to the destination machine, which reduces the amount of data being transmitted â€” something that is useful over a slow connection.</a:t>
            </a:r>
          </a:p>
          <a:p>
            <a:r>
              <a:rPr lang="en-US" sz="1400" dirty="0">
                <a:latin typeface="Times New Roman" panose="02020603050405020304" pitchFamily="18" charset="0"/>
                <a:cs typeface="Times New Roman" panose="02020603050405020304" pitchFamily="18" charset="0"/>
              </a:rPr>
              <a:t>You can show progress during transfer using –progress or -P option: </a:t>
            </a:r>
            <a:r>
              <a:rPr lang="en-US" sz="1400" b="1" dirty="0" err="1">
                <a:solidFill>
                  <a:srgbClr val="FF0000"/>
                </a:solidFill>
                <a:latin typeface="Times New Roman" panose="02020603050405020304" pitchFamily="18" charset="0"/>
                <a:cs typeface="Times New Roman" panose="02020603050405020304" pitchFamily="18" charset="0"/>
              </a:rPr>
              <a:t>rsync</a:t>
            </a:r>
            <a:r>
              <a:rPr lang="en-US" sz="1400" b="1" dirty="0">
                <a:solidFill>
                  <a:srgbClr val="FF0000"/>
                </a:solidFill>
                <a:latin typeface="Times New Roman" panose="02020603050405020304" pitchFamily="18" charset="0"/>
                <a:cs typeface="Times New Roman" panose="02020603050405020304" pitchFamily="18" charset="0"/>
              </a:rPr>
              <a:t> -</a:t>
            </a:r>
            <a:r>
              <a:rPr lang="en-US" sz="1400" b="1" dirty="0" err="1">
                <a:solidFill>
                  <a:srgbClr val="FF0000"/>
                </a:solidFill>
                <a:latin typeface="Times New Roman" panose="02020603050405020304" pitchFamily="18" charset="0"/>
                <a:cs typeface="Times New Roman" panose="02020603050405020304" pitchFamily="18" charset="0"/>
              </a:rPr>
              <a:t>av</a:t>
            </a:r>
            <a:r>
              <a:rPr lang="en-US" sz="1400" b="1" dirty="0">
                <a:solidFill>
                  <a:srgbClr val="FF0000"/>
                </a:solidFill>
                <a:latin typeface="Times New Roman" panose="02020603050405020304" pitchFamily="18" charset="0"/>
                <a:cs typeface="Times New Roman" panose="02020603050405020304" pitchFamily="18" charset="0"/>
              </a:rPr>
              <a:t> --progress /path/to/source/ /path/to/</a:t>
            </a:r>
            <a:r>
              <a:rPr lang="en-US" sz="1400" b="1" dirty="0" err="1">
                <a:solidFill>
                  <a:srgbClr val="FF0000"/>
                </a:solidFill>
                <a:latin typeface="Times New Roman" panose="02020603050405020304" pitchFamily="18" charset="0"/>
                <a:cs typeface="Times New Roman" panose="02020603050405020304" pitchFamily="18" charset="0"/>
              </a:rPr>
              <a:t>dest</a:t>
            </a:r>
            <a:endParaRPr lang="en-US" sz="1400" b="1" dirty="0">
              <a:solidFill>
                <a:srgbClr val="FF0000"/>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338494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Cat, </a:t>
            </a:r>
            <a:r>
              <a:rPr lang="en-US" sz="3600" dirty="0" err="1">
                <a:solidFill>
                  <a:srgbClr val="FFC000"/>
                </a:solidFill>
                <a:latin typeface="Times New Roman" panose="02020603050405020304" pitchFamily="18" charset="0"/>
                <a:cs typeface="Times New Roman" panose="02020603050405020304" pitchFamily="18" charset="0"/>
              </a:rPr>
              <a:t>mv</a:t>
            </a:r>
            <a:r>
              <a:rPr lang="en-US" sz="3600" dirty="0" err="1">
                <a:latin typeface="Times New Roman" panose="02020603050405020304" pitchFamily="18" charset="0"/>
                <a:cs typeface="Times New Roman" panose="02020603050405020304" pitchFamily="18" charset="0"/>
              </a:rPr>
              <a:t>command</a:t>
            </a:r>
            <a:r>
              <a:rPr lang="en-US" sz="3600" dirty="0">
                <a:latin typeface="Times New Roman" panose="02020603050405020304" pitchFamily="18" charset="0"/>
                <a:cs typeface="Times New Roman" panose="02020603050405020304" pitchFamily="18" charset="0"/>
              </a:rPr>
              <a:t> basics: To compare or see the data in different files </a:t>
            </a:r>
            <a:r>
              <a:rPr lang="en-US" sz="1400" dirty="0">
                <a:latin typeface="Times New Roman" panose="02020603050405020304" pitchFamily="18" charset="0"/>
                <a:cs typeface="Times New Roman" panose="02020603050405020304" pitchFamily="18" charset="0"/>
                <a:hlinkClick r:id="rId2"/>
              </a:rPr>
              <a:t>http://www.tecmint.com/13-basic-cat-command-examples-in-linux/</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The cat (short for “concatenate“)</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162193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More &amp; Less </a:t>
            </a:r>
            <a:r>
              <a:rPr lang="en-US" sz="3600" dirty="0">
                <a:latin typeface="Times New Roman" panose="02020603050405020304" pitchFamily="18" charset="0"/>
                <a:cs typeface="Times New Roman" panose="02020603050405020304" pitchFamily="18" charset="0"/>
              </a:rPr>
              <a:t>command basics: To display the contents of a file in a console </a:t>
            </a:r>
            <a:r>
              <a:rPr lang="en-US" sz="1400" dirty="0">
                <a:latin typeface="Times New Roman" panose="02020603050405020304" pitchFamily="18" charset="0"/>
                <a:cs typeface="Times New Roman" panose="02020603050405020304" pitchFamily="18" charset="0"/>
                <a:hlinkClick r:id="rId2"/>
              </a:rPr>
              <a:t>https://linux.die.net/man/1/locate </a:t>
            </a:r>
            <a:r>
              <a:rPr lang="en-US" sz="1400" i="1" dirty="0">
                <a:solidFill>
                  <a:srgbClr val="FF0000"/>
                </a:solidFill>
                <a:latin typeface="Times New Roman" panose="02020603050405020304" pitchFamily="18" charset="0"/>
                <a:cs typeface="Times New Roman" panose="02020603050405020304" pitchFamily="18" charset="0"/>
                <a:hlinkClick r:id="rId2"/>
              </a:rPr>
              <a:t>4/18/2017</a:t>
            </a:r>
            <a:r>
              <a:rPr lang="en-US" sz="1400" i="1" dirty="0">
                <a:solidFill>
                  <a:srgbClr val="FF0000"/>
                </a:solidFill>
                <a:latin typeface="Times New Roman" panose="02020603050405020304" pitchFamily="18" charset="0"/>
                <a:cs typeface="Times New Roman" panose="02020603050405020304" pitchFamily="18" charset="0"/>
              </a:rPr>
              <a:t/>
            </a:r>
            <a:br>
              <a:rPr lang="en-US" sz="1400" i="1" dirty="0">
                <a:solidFill>
                  <a:srgbClr val="FF0000"/>
                </a:solidFill>
                <a:latin typeface="Times New Roman" panose="02020603050405020304" pitchFamily="18" charset="0"/>
                <a:cs typeface="Times New Roman" panose="02020603050405020304" pitchFamily="18" charset="0"/>
              </a:rPr>
            </a:br>
            <a:r>
              <a:rPr lang="en-US" sz="1400" dirty="0">
                <a:solidFill>
                  <a:srgbClr val="FF0000"/>
                </a:solidFill>
                <a:latin typeface="Times New Roman" panose="02020603050405020304" pitchFamily="18" charset="0"/>
                <a:cs typeface="Times New Roman" panose="02020603050405020304" pitchFamily="18" charset="0"/>
                <a:hlinkClick r:id="rId3"/>
              </a:rPr>
              <a:t>http://www.tecmint.com/linux-more-command-and-less-command-examples/</a:t>
            </a:r>
            <a:r>
              <a:rPr lang="en-US" sz="1400" dirty="0">
                <a:solidFill>
                  <a:srgbClr val="FF0000"/>
                </a:solidFill>
                <a:latin typeface="Times New Roman" panose="02020603050405020304" pitchFamily="18" charset="0"/>
                <a:cs typeface="Times New Roman" panose="02020603050405020304" pitchFamily="18" charset="0"/>
              </a:rPr>
              <a:t> </a:t>
            </a:r>
            <a:endParaRPr lang="en-US" sz="1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r>
              <a:rPr lang="en-US" sz="1400" dirty="0">
                <a:latin typeface="Times New Roman" panose="02020603050405020304" pitchFamily="18" charset="0"/>
                <a:cs typeface="Times New Roman" panose="02020603050405020304" pitchFamily="18" charset="0"/>
              </a:rPr>
              <a:t>more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a:t>
            </a:r>
          </a:p>
          <a:p>
            <a:r>
              <a:rPr lang="en-US" sz="1400" dirty="0">
                <a:latin typeface="Times New Roman" panose="02020603050405020304" pitchFamily="18" charset="0"/>
                <a:cs typeface="Times New Roman" panose="02020603050405020304" pitchFamily="18" charset="0"/>
              </a:rPr>
              <a:t>more -10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less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a:t>
            </a:r>
          </a:p>
          <a:p>
            <a:r>
              <a:rPr lang="en-US" sz="1400" dirty="0">
                <a:latin typeface="Times New Roman" panose="02020603050405020304" pitchFamily="18" charset="0"/>
                <a:cs typeface="Times New Roman" panose="02020603050405020304" pitchFamily="18" charset="0"/>
              </a:rPr>
              <a:t>less  -10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a:t>
            </a:r>
          </a:p>
          <a:p>
            <a:r>
              <a:rPr lang="en-US" sz="1400" dirty="0">
                <a:latin typeface="Times New Roman" panose="02020603050405020304" pitchFamily="18" charset="0"/>
                <a:cs typeface="Times New Roman" panose="02020603050405020304" pitchFamily="18" charset="0"/>
              </a:rPr>
              <a:t>-N option</a:t>
            </a:r>
          </a:p>
          <a:p>
            <a:r>
              <a:rPr lang="en-US" sz="1400" dirty="0">
                <a:latin typeface="Times New Roman" panose="02020603050405020304" pitchFamily="18" charset="0"/>
                <a:cs typeface="Times New Roman" panose="02020603050405020304" pitchFamily="18" charset="0"/>
              </a:rPr>
              <a:t>less  -10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cat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 |more</a:t>
            </a:r>
          </a:p>
          <a:p>
            <a:r>
              <a:rPr lang="en-US" sz="1400" dirty="0">
                <a:latin typeface="Times New Roman" panose="02020603050405020304" pitchFamily="18" charset="0"/>
                <a:cs typeface="Times New Roman" panose="02020603050405020304" pitchFamily="18" charset="0"/>
              </a:rPr>
              <a:t>cat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 |more -10</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cat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 |less</a:t>
            </a:r>
          </a:p>
          <a:p>
            <a:r>
              <a:rPr lang="en-US" sz="1400" dirty="0">
                <a:latin typeface="Times New Roman" panose="02020603050405020304" pitchFamily="18" charset="0"/>
                <a:cs typeface="Times New Roman" panose="02020603050405020304" pitchFamily="18" charset="0"/>
              </a:rPr>
              <a:t>cat  /</a:t>
            </a:r>
            <a:r>
              <a:rPr lang="en-US" sz="1400" dirty="0" err="1">
                <a:latin typeface="Times New Roman" panose="02020603050405020304" pitchFamily="18" charset="0"/>
                <a:cs typeface="Times New Roman" panose="02020603050405020304" pitchFamily="18" charset="0"/>
              </a:rPr>
              <a:t>var</a:t>
            </a:r>
            <a:r>
              <a:rPr lang="en-US" sz="1400" dirty="0">
                <a:latin typeface="Times New Roman" panose="02020603050405020304" pitchFamily="18" charset="0"/>
                <a:cs typeface="Times New Roman" panose="02020603050405020304" pitchFamily="18" charset="0"/>
              </a:rPr>
              <a:t>/log/abc.log |less -10 </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535072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Head &amp; tail</a:t>
            </a:r>
            <a:r>
              <a:rPr lang="en-US" sz="3600" dirty="0">
                <a:latin typeface="Times New Roman" panose="02020603050405020304" pitchFamily="18" charset="0"/>
                <a:cs typeface="Times New Roman" panose="02020603050405020304" pitchFamily="18" charset="0"/>
              </a:rPr>
              <a:t> command basics: To find the locations of files and directories </a:t>
            </a:r>
            <a:r>
              <a:rPr lang="en-US" sz="1400" dirty="0">
                <a:latin typeface="Times New Roman" panose="02020603050405020304" pitchFamily="18" charset="0"/>
                <a:cs typeface="Times New Roman" panose="02020603050405020304" pitchFamily="18" charset="0"/>
                <a:hlinkClick r:id="rId2"/>
              </a:rPr>
              <a:t>https://linux.die.net/man/1/locate</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78075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solidFill>
                  <a:srgbClr val="FFC000"/>
                </a:solidFill>
                <a:latin typeface="Times New Roman" panose="02020603050405020304" pitchFamily="18" charset="0"/>
                <a:cs typeface="Times New Roman" panose="02020603050405020304" pitchFamily="18" charset="0"/>
              </a:rPr>
              <a:t>tcpdump</a:t>
            </a:r>
            <a:r>
              <a:rPr lang="en-US" sz="3600" dirty="0">
                <a:latin typeface="Times New Roman" panose="02020603050405020304" pitchFamily="18" charset="0"/>
                <a:cs typeface="Times New Roman" panose="02020603050405020304" pitchFamily="18" charset="0"/>
              </a:rPr>
              <a:t> command basics: To find the locations of files and directories </a:t>
            </a:r>
            <a:r>
              <a:rPr lang="en-US" sz="1400" dirty="0">
                <a:latin typeface="Times New Roman" panose="02020603050405020304" pitchFamily="18" charset="0"/>
                <a:cs typeface="Times New Roman" panose="02020603050405020304" pitchFamily="18" charset="0"/>
                <a:hlinkClick r:id="rId2"/>
              </a:rPr>
              <a:t>https://linux.die.net/man/1/locate</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0845235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err="1">
                <a:solidFill>
                  <a:srgbClr val="FFC000"/>
                </a:solidFill>
                <a:latin typeface="Times New Roman" panose="02020603050405020304" pitchFamily="18" charset="0"/>
                <a:cs typeface="Times New Roman" panose="02020603050405020304" pitchFamily="18" charset="0"/>
              </a:rPr>
              <a:t>vmstat</a:t>
            </a:r>
            <a:r>
              <a:rPr lang="en-US" sz="3600" dirty="0">
                <a:latin typeface="Times New Roman" panose="02020603050405020304" pitchFamily="18" charset="0"/>
                <a:cs typeface="Times New Roman" panose="02020603050405020304" pitchFamily="18" charset="0"/>
              </a:rPr>
              <a:t> command basics: To find the locations of files and directories </a:t>
            </a:r>
            <a:r>
              <a:rPr lang="en-US" sz="1400" dirty="0">
                <a:latin typeface="Times New Roman" panose="02020603050405020304" pitchFamily="18" charset="0"/>
                <a:cs typeface="Times New Roman" panose="02020603050405020304" pitchFamily="18" charset="0"/>
                <a:hlinkClick r:id="rId2"/>
              </a:rPr>
              <a:t>https://linux.die.net/man/1/locate</a:t>
            </a:r>
            <a:endParaRPr lang="en-US" sz="1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1839658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C000"/>
                </a:solidFill>
                <a:latin typeface="Times New Roman" panose="02020603050405020304" pitchFamily="18" charset="0"/>
                <a:cs typeface="Times New Roman" panose="02020603050405020304" pitchFamily="18" charset="0"/>
              </a:rPr>
              <a:t>20 Basic Linux</a:t>
            </a:r>
            <a:r>
              <a:rPr lang="en-US" sz="3600" dirty="0">
                <a:latin typeface="Times New Roman" panose="02020603050405020304" pitchFamily="18" charset="0"/>
                <a:cs typeface="Times New Roman" panose="02020603050405020304" pitchFamily="18" charset="0"/>
              </a:rPr>
              <a:t> command basics: To find the locations of files and directories </a:t>
            </a:r>
            <a:r>
              <a:rPr lang="en-US" sz="1400" dirty="0">
                <a:latin typeface="Times New Roman" panose="02020603050405020304" pitchFamily="18" charset="0"/>
                <a:cs typeface="Times New Roman" panose="02020603050405020304" pitchFamily="18" charset="0"/>
                <a:hlinkClick r:id="rId2"/>
              </a:rPr>
              <a:t>http://www.tecmint.com/useful-linux-commands-for-system-administrators/</a:t>
            </a:r>
            <a:r>
              <a:rPr lang="en-US" sz="14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Uptime</a:t>
            </a:r>
          </a:p>
          <a:p>
            <a:r>
              <a:rPr lang="en-US" sz="1400" dirty="0">
                <a:latin typeface="Times New Roman" panose="02020603050405020304" pitchFamily="18" charset="0"/>
                <a:cs typeface="Times New Roman" panose="02020603050405020304" pitchFamily="18" charset="0"/>
              </a:rPr>
              <a:t>W</a:t>
            </a:r>
          </a:p>
          <a:p>
            <a:r>
              <a:rPr lang="en-US" sz="1400" dirty="0">
                <a:latin typeface="Times New Roman" panose="02020603050405020304" pitchFamily="18" charset="0"/>
                <a:cs typeface="Times New Roman" panose="02020603050405020304" pitchFamily="18" charset="0"/>
              </a:rPr>
              <a:t>users</a:t>
            </a:r>
          </a:p>
          <a:p>
            <a:r>
              <a:rPr lang="en-US" sz="1400" dirty="0">
                <a:latin typeface="Times New Roman" panose="02020603050405020304" pitchFamily="18" charset="0"/>
                <a:cs typeface="Times New Roman" panose="02020603050405020304" pitchFamily="18" charset="0"/>
              </a:rPr>
              <a:t>Who</a:t>
            </a:r>
          </a:p>
          <a:p>
            <a:r>
              <a:rPr lang="en-US" sz="1400" dirty="0" err="1">
                <a:latin typeface="Times New Roman" panose="02020603050405020304" pitchFamily="18" charset="0"/>
                <a:cs typeface="Times New Roman" panose="02020603050405020304" pitchFamily="18" charset="0"/>
              </a:rPr>
              <a:t>Whoami</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Sort</a:t>
            </a:r>
          </a:p>
          <a:p>
            <a:r>
              <a:rPr lang="en-US" sz="1400" dirty="0" err="1">
                <a:latin typeface="Times New Roman" panose="02020603050405020304" pitchFamily="18" charset="0"/>
                <a:cs typeface="Times New Roman" panose="02020603050405020304" pitchFamily="18" charset="0"/>
              </a:rPr>
              <a:t>Ssh</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ftp</a:t>
            </a:r>
          </a:p>
          <a:p>
            <a:r>
              <a:rPr lang="en-US" sz="1400" dirty="0">
                <a:latin typeface="Times New Roman" panose="02020603050405020304" pitchFamily="18" charset="0"/>
                <a:cs typeface="Times New Roman" panose="02020603050405020304" pitchFamily="18" charset="0"/>
              </a:rPr>
              <a:t>Service  ( service </a:t>
            </a:r>
            <a:r>
              <a:rPr lang="en-US" sz="1400" dirty="0" err="1">
                <a:latin typeface="Times New Roman" panose="02020603050405020304" pitchFamily="18" charset="0"/>
                <a:cs typeface="Times New Roman" panose="02020603050405020304" pitchFamily="18" charset="0"/>
              </a:rPr>
              <a:t>httpd</a:t>
            </a:r>
            <a:r>
              <a:rPr lang="en-US" sz="1400" dirty="0">
                <a:latin typeface="Times New Roman" panose="02020603050405020304" pitchFamily="18" charset="0"/>
                <a:cs typeface="Times New Roman" panose="02020603050405020304" pitchFamily="18" charset="0"/>
              </a:rPr>
              <a:t> start) or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init.d</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httpd</a:t>
            </a:r>
            <a:r>
              <a:rPr lang="en-US" sz="1400" dirty="0">
                <a:latin typeface="Times New Roman" panose="02020603050405020304" pitchFamily="18" charset="0"/>
                <a:cs typeface="Times New Roman" panose="02020603050405020304" pitchFamily="18" charset="0"/>
              </a:rPr>
              <a:t> start</a:t>
            </a:r>
          </a:p>
          <a:p>
            <a:r>
              <a:rPr lang="en-US" sz="1400" dirty="0">
                <a:latin typeface="Times New Roman" panose="02020603050405020304" pitchFamily="18" charset="0"/>
                <a:cs typeface="Times New Roman" panose="02020603050405020304" pitchFamily="18" charset="0"/>
              </a:rPr>
              <a:t>Free</a:t>
            </a: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7905961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sz="3600" dirty="0"/>
          </a:p>
        </p:txBody>
      </p:sp>
      <p:sp>
        <p:nvSpPr>
          <p:cNvPr id="3" name="Content Placeholder 2"/>
          <p:cNvSpPr>
            <a:spLocks noGrp="1"/>
          </p:cNvSpPr>
          <p:nvPr>
            <p:ph idx="1"/>
          </p:nvPr>
        </p:nvSpPr>
        <p:spPr/>
        <p:txBody>
          <a:bodyPr/>
          <a:lstStyle/>
          <a:p>
            <a:r>
              <a:rPr lang="en-US" sz="1400" dirty="0">
                <a:latin typeface="Times New Roman" panose="02020603050405020304" pitchFamily="18" charset="0"/>
                <a:cs typeface="Times New Roman" panose="02020603050405020304" pitchFamily="18" charset="0"/>
              </a:rPr>
              <a:t>Tar</a:t>
            </a:r>
          </a:p>
          <a:p>
            <a:r>
              <a:rPr lang="en-US" sz="1400" dirty="0" err="1">
                <a:latin typeface="Times New Roman" panose="02020603050405020304" pitchFamily="18" charset="0"/>
                <a:cs typeface="Times New Roman" panose="02020603050405020304" pitchFamily="18" charset="0"/>
              </a:rPr>
              <a:t>Lsof</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Last</a:t>
            </a:r>
          </a:p>
          <a:p>
            <a:r>
              <a:rPr lang="en-US" sz="1400" dirty="0">
                <a:latin typeface="Times New Roman" panose="02020603050405020304" pitchFamily="18" charset="0"/>
                <a:cs typeface="Times New Roman" panose="02020603050405020304" pitchFamily="18" charset="0"/>
              </a:rPr>
              <a:t>Kill </a:t>
            </a:r>
            <a:r>
              <a:rPr lang="en-US" sz="1400" dirty="0" err="1">
                <a:latin typeface="Times New Roman" panose="02020603050405020304" pitchFamily="18" charset="0"/>
                <a:cs typeface="Times New Roman" panose="02020603050405020304" pitchFamily="18" charset="0"/>
              </a:rPr>
              <a:t>rm</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Mkdir</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Rmdir</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Cat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redhat</a:t>
            </a:r>
            <a:r>
              <a:rPr lang="en-US" sz="1400" dirty="0">
                <a:latin typeface="Times New Roman" panose="02020603050405020304" pitchFamily="18" charset="0"/>
                <a:cs typeface="Times New Roman" panose="02020603050405020304" pitchFamily="18" charset="0"/>
              </a:rPr>
              <a:t>-release</a:t>
            </a:r>
          </a:p>
          <a:p>
            <a:r>
              <a:rPr lang="en-US" sz="1400" dirty="0" err="1">
                <a:latin typeface="Times New Roman" panose="02020603050405020304" pitchFamily="18" charset="0"/>
                <a:cs typeface="Times New Roman" panose="02020603050405020304" pitchFamily="18" charset="0"/>
              </a:rPr>
              <a:t>Uname</a:t>
            </a:r>
            <a:r>
              <a:rPr lang="en-US" sz="1400" dirty="0">
                <a:latin typeface="Times New Roman" panose="02020603050405020304" pitchFamily="18" charset="0"/>
                <a:cs typeface="Times New Roman" panose="02020603050405020304" pitchFamily="18" charset="0"/>
              </a:rPr>
              <a:t> -a</a:t>
            </a:r>
          </a:p>
          <a:p>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passwd</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/shadow</a:t>
            </a:r>
          </a:p>
          <a:p>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/hosts</a:t>
            </a:r>
          </a:p>
          <a:p>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motd</a:t>
            </a:r>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endParaRPr lang="en-US" dirty="0"/>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2168360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Soft link and Hard Link </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4084227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sar</a:t>
            </a:r>
            <a:r>
              <a:rPr lang="en-US" dirty="0">
                <a:latin typeface="Times New Roman" panose="02020603050405020304" pitchFamily="18" charset="0"/>
                <a:cs typeface="Times New Roman" panose="02020603050405020304" pitchFamily="18" charset="0"/>
              </a:rPr>
              <a:t> command </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3776556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sed</a:t>
            </a:r>
            <a:r>
              <a:rPr lang="en-US" dirty="0">
                <a:latin typeface="Times New Roman" panose="02020603050405020304" pitchFamily="18" charset="0"/>
                <a:cs typeface="Times New Roman" panose="02020603050405020304" pitchFamily="18" charset="0"/>
              </a:rPr>
              <a:t> command  </a:t>
            </a:r>
            <a:endParaRPr lang="en-US" dirty="0"/>
          </a:p>
        </p:txBody>
      </p:sp>
      <p:sp>
        <p:nvSpPr>
          <p:cNvPr id="3" name="Content Placeholder 2"/>
          <p:cNvSpPr>
            <a:spLocks noGrp="1"/>
          </p:cNvSpPr>
          <p:nvPr>
            <p:ph idx="1"/>
          </p:nvPr>
        </p:nvSpPr>
        <p:spPr/>
        <p:txBody>
          <a:bodyPr>
            <a:normAutofit/>
          </a:bodyPr>
          <a:lstStyle/>
          <a:p>
            <a:r>
              <a:rPr lang="en-US" sz="1200" dirty="0">
                <a:latin typeface="Times New Roman" panose="02020603050405020304" pitchFamily="18" charset="0"/>
                <a:cs typeface="Times New Roman" panose="02020603050405020304" pitchFamily="18" charset="0"/>
              </a:rPr>
              <a:t>Tools such as head and tail allow us to view the bottom or the top of a file. What if we need to view a section in the middle? The following </a:t>
            </a:r>
            <a:r>
              <a:rPr lang="en-US" sz="1200" dirty="0" err="1">
                <a:latin typeface="Times New Roman" panose="02020603050405020304" pitchFamily="18" charset="0"/>
                <a:cs typeface="Times New Roman" panose="02020603050405020304" pitchFamily="18" charset="0"/>
              </a:rPr>
              <a:t>sed</a:t>
            </a:r>
            <a:r>
              <a:rPr lang="en-US" sz="1200" dirty="0">
                <a:latin typeface="Times New Roman" panose="02020603050405020304" pitchFamily="18" charset="0"/>
                <a:cs typeface="Times New Roman" panose="02020603050405020304" pitchFamily="18" charset="0"/>
              </a:rPr>
              <a:t> one-liner will return lines 5 through 10 </a:t>
            </a:r>
          </a:p>
          <a:p>
            <a:r>
              <a:rPr lang="en-US" sz="1200" dirty="0" err="1">
                <a:latin typeface="Times New Roman" panose="02020603050405020304" pitchFamily="18" charset="0"/>
                <a:cs typeface="Times New Roman" panose="02020603050405020304" pitchFamily="18" charset="0"/>
              </a:rPr>
              <a:t>sed</a:t>
            </a:r>
            <a:r>
              <a:rPr lang="en-US" sz="1200" dirty="0">
                <a:latin typeface="Times New Roman" panose="02020603050405020304" pitchFamily="18" charset="0"/>
                <a:cs typeface="Times New Roman" panose="02020603050405020304" pitchFamily="18" charset="0"/>
              </a:rPr>
              <a:t> –n ‘5, 10p’ </a:t>
            </a:r>
            <a:r>
              <a:rPr lang="en-US" sz="1200" dirty="0" err="1">
                <a:latin typeface="Times New Roman" panose="02020603050405020304" pitchFamily="18" charset="0"/>
                <a:cs typeface="Times New Roman" panose="02020603050405020304" pitchFamily="18" charset="0"/>
              </a:rPr>
              <a:t>abc.file</a:t>
            </a:r>
            <a:endParaRPr lang="en-US" sz="12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9217178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Touch command  </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9520985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Cat /</a:t>
            </a:r>
            <a:r>
              <a:rPr lang="en-US" sz="3600" dirty="0" err="1">
                <a:latin typeface="Times New Roman" panose="02020603050405020304" pitchFamily="18" charset="0"/>
                <a:cs typeface="Times New Roman" panose="02020603050405020304" pitchFamily="18" charset="0"/>
              </a:rPr>
              <a:t>etc</a:t>
            </a:r>
            <a:r>
              <a:rPr lang="en-US" sz="3600" dirty="0">
                <a:latin typeface="Times New Roman" panose="02020603050405020304" pitchFamily="18" charset="0"/>
                <a:cs typeface="Times New Roman" panose="02020603050405020304" pitchFamily="18" charset="0"/>
              </a:rPr>
              <a:t>/</a:t>
            </a:r>
            <a:r>
              <a:rPr lang="en-US" sz="3600" dirty="0" err="1">
                <a:latin typeface="Times New Roman" panose="02020603050405020304" pitchFamily="18" charset="0"/>
                <a:cs typeface="Times New Roman" panose="02020603050405020304" pitchFamily="18" charset="0"/>
              </a:rPr>
              <a:t>redhat</a:t>
            </a:r>
            <a:r>
              <a:rPr lang="en-US" sz="3600" dirty="0">
                <a:latin typeface="Times New Roman" panose="02020603050405020304" pitchFamily="18" charset="0"/>
                <a:cs typeface="Times New Roman" panose="02020603050405020304" pitchFamily="18" charset="0"/>
              </a:rPr>
              <a:t>-release</a:t>
            </a:r>
            <a:endParaRPr lang="en-US" sz="1800"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40859896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How to change mount point name from A to B </a:t>
            </a:r>
          </a:p>
        </p:txBody>
      </p:sp>
      <p:sp>
        <p:nvSpPr>
          <p:cNvPr id="3" name="Content Placeholder 2"/>
          <p:cNvSpPr>
            <a:spLocks noGrp="1"/>
          </p:cNvSpPr>
          <p:nvPr>
            <p:ph idx="1"/>
          </p:nvPr>
        </p:nvSpPr>
        <p:spPr/>
        <p:txBody>
          <a:bodyPr/>
          <a:lstStyle/>
          <a:p>
            <a:r>
              <a:rPr lang="en-US" sz="1400" dirty="0">
                <a:hlinkClick r:id="rId2"/>
              </a:rPr>
              <a:t>https://somireddy.wordpress.com/2013/07/02/how-to-rename-a-mount-point-in-linux/</a:t>
            </a:r>
            <a:endParaRPr lang="en-US" sz="1400" dirty="0"/>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3512716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err="1">
                <a:latin typeface="Times New Roman" panose="02020603050405020304" pitchFamily="18" charset="0"/>
                <a:cs typeface="Times New Roman" panose="02020603050405020304" pitchFamily="18" charset="0"/>
              </a:rPr>
              <a:t>Chmod</a:t>
            </a:r>
            <a:r>
              <a:rPr lang="en-US" sz="3600" dirty="0">
                <a:latin typeface="Times New Roman" panose="02020603050405020304" pitchFamily="18" charset="0"/>
                <a:cs typeface="Times New Roman" panose="02020603050405020304" pitchFamily="18" charset="0"/>
              </a:rPr>
              <a:t> &amp; </a:t>
            </a:r>
            <a:r>
              <a:rPr lang="en-US" sz="3600" dirty="0" err="1">
                <a:latin typeface="Times New Roman" panose="02020603050405020304" pitchFamily="18" charset="0"/>
                <a:cs typeface="Times New Roman" panose="02020603050405020304" pitchFamily="18" charset="0"/>
              </a:rPr>
              <a:t>chown</a:t>
            </a:r>
            <a:r>
              <a:rPr lang="en-US" sz="3600" dirty="0">
                <a:latin typeface="Times New Roman" panose="02020603050405020304" pitchFamily="18" charset="0"/>
                <a:cs typeface="Times New Roman" panose="02020603050405020304" pitchFamily="18" charset="0"/>
              </a:rPr>
              <a:t> Commands </a:t>
            </a:r>
            <a:r>
              <a:rPr lang="en-US" dirty="0"/>
              <a:t> </a:t>
            </a:r>
          </a:p>
        </p:txBody>
      </p:sp>
      <p:sp>
        <p:nvSpPr>
          <p:cNvPr id="3" name="Content Placeholder 2"/>
          <p:cNvSpPr>
            <a:spLocks noGrp="1"/>
          </p:cNvSpPr>
          <p:nvPr>
            <p:ph idx="1"/>
          </p:nvPr>
        </p:nvSpPr>
        <p:spPr/>
        <p:txBody>
          <a:bodyPr>
            <a:normAutofit/>
          </a:bodyPr>
          <a:lstStyle/>
          <a:p>
            <a:endParaRPr lang="en-US" sz="1200" dirty="0">
              <a:latin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796517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passwd</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/shadow   </a:t>
            </a:r>
          </a:p>
        </p:txBody>
      </p:sp>
      <p:sp>
        <p:nvSpPr>
          <p:cNvPr id="3" name="Content Placeholder 2"/>
          <p:cNvSpPr>
            <a:spLocks noGrp="1"/>
          </p:cNvSpPr>
          <p:nvPr>
            <p:ph idx="1"/>
          </p:nvPr>
        </p:nvSpPr>
        <p:spPr/>
        <p:txBody>
          <a:bodyPr/>
          <a:lstStyle/>
          <a:p>
            <a:r>
              <a:rPr lang="en-US" dirty="0" err="1">
                <a:latin typeface="Times New Roman" panose="02020603050405020304" pitchFamily="18" charset="0"/>
                <a:cs typeface="Times New Roman" panose="02020603050405020304" pitchFamily="18" charset="0"/>
              </a:rPr>
              <a:t>Ditrct</a:t>
            </a:r>
            <a:r>
              <a:rPr lang="en-US" dirty="0">
                <a:latin typeface="Times New Roman" panose="02020603050405020304" pitchFamily="18" charset="0"/>
                <a:cs typeface="Times New Roman" panose="02020603050405020304" pitchFamily="18" charset="0"/>
              </a:rPr>
              <a:t> login access.</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401687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Times New Roman" panose="02020603050405020304" pitchFamily="18" charset="0"/>
                <a:cs typeface="Times New Roman" panose="02020603050405020304" pitchFamily="18" charset="0"/>
              </a:rPr>
              <a:t>File with Date Stamp </a:t>
            </a:r>
            <a:r>
              <a:rPr lang="en-US" dirty="0"/>
              <a:t>  </a:t>
            </a:r>
          </a:p>
        </p:txBody>
      </p:sp>
      <p:sp>
        <p:nvSpPr>
          <p:cNvPr id="3" name="Content Placeholder 2"/>
          <p:cNvSpPr>
            <a:spLocks noGrp="1"/>
          </p:cNvSpPr>
          <p:nvPr>
            <p:ph idx="1"/>
          </p:nvPr>
        </p:nvSpPr>
        <p:spPr/>
        <p:txBody>
          <a:bodyPr/>
          <a:lstStyle/>
          <a:p>
            <a:r>
              <a:rPr lang="en-US" dirty="0" err="1">
                <a:latin typeface="Times New Roman" panose="02020603050405020304" pitchFamily="18" charset="0"/>
                <a:cs typeface="Times New Roman" panose="02020603050405020304" pitchFamily="18" charset="0"/>
              </a:rPr>
              <a:t>Testfile</a:t>
            </a:r>
            <a:r>
              <a:rPr lang="en-US" dirty="0">
                <a:latin typeface="Times New Roman" panose="02020603050405020304" pitchFamily="18" charset="0"/>
                <a:cs typeface="Times New Roman" panose="02020603050405020304" pitchFamily="18" charset="0"/>
              </a:rPr>
              <a:t>-`date +%</a:t>
            </a:r>
            <a:r>
              <a:rPr lang="en-US" dirty="0" err="1">
                <a:latin typeface="Times New Roman" panose="02020603050405020304" pitchFamily="18" charset="0"/>
                <a:cs typeface="Times New Roman" panose="02020603050405020304" pitchFamily="18" charset="0"/>
              </a:rPr>
              <a:t>Y%m%d%H%M%S</a:t>
            </a:r>
            <a:r>
              <a:rPr lang="en-US" dirty="0">
                <a:latin typeface="Times New Roman" panose="02020603050405020304" pitchFamily="18" charset="0"/>
                <a:cs typeface="Times New Roman" panose="02020603050405020304" pitchFamily="18" charset="0"/>
              </a:rPr>
              <a:t>`</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4953089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Awk</a:t>
            </a:r>
            <a:r>
              <a:rPr lang="en-US" dirty="0">
                <a:latin typeface="Times New Roman" panose="02020603050405020304" pitchFamily="18" charset="0"/>
                <a:cs typeface="Times New Roman" panose="02020603050405020304" pitchFamily="18" charset="0"/>
              </a:rPr>
              <a:t> filters  </a:t>
            </a:r>
          </a:p>
        </p:txBody>
      </p:sp>
      <p:sp>
        <p:nvSpPr>
          <p:cNvPr id="3" name="Content Placeholder 2"/>
          <p:cNvSpPr>
            <a:spLocks noGrp="1"/>
          </p:cNvSpPr>
          <p:nvPr>
            <p:ph idx="1"/>
          </p:nvPr>
        </p:nvSpPr>
        <p:spPr/>
        <p:txBody>
          <a:bodyPr>
            <a:normAutofit/>
          </a:bodyPr>
          <a:lstStyle/>
          <a:p>
            <a:r>
              <a:rPr lang="en-US" sz="1400" dirty="0" err="1">
                <a:latin typeface="Times New Roman" panose="02020603050405020304" pitchFamily="18" charset="0"/>
                <a:cs typeface="Times New Roman" panose="02020603050405020304" pitchFamily="18" charset="0"/>
              </a:rPr>
              <a:t>awk</a:t>
            </a:r>
            <a:r>
              <a:rPr lang="en-US" sz="1400" dirty="0">
                <a:latin typeface="Times New Roman" panose="02020603050405020304" pitchFamily="18" charset="0"/>
                <a:cs typeface="Times New Roman" panose="02020603050405020304" pitchFamily="18" charset="0"/>
              </a:rPr>
              <a:t> ‘{print $1}’</a:t>
            </a:r>
          </a:p>
          <a:p>
            <a:r>
              <a:rPr lang="en-US" sz="1400" dirty="0" err="1">
                <a:latin typeface="Times New Roman" panose="02020603050405020304" pitchFamily="18" charset="0"/>
                <a:cs typeface="Times New Roman" panose="02020603050405020304" pitchFamily="18" charset="0"/>
              </a:rPr>
              <a:t>awk</a:t>
            </a:r>
            <a:r>
              <a:rPr lang="en-US" sz="1400" dirty="0">
                <a:latin typeface="Times New Roman" panose="02020603050405020304" pitchFamily="18" charset="0"/>
                <a:cs typeface="Times New Roman" panose="02020603050405020304" pitchFamily="18" charset="0"/>
              </a:rPr>
              <a:t> -F '|' '$1 == "</a:t>
            </a:r>
            <a:r>
              <a:rPr lang="en-US" sz="1400" dirty="0" err="1">
                <a:latin typeface="Times New Roman" panose="02020603050405020304" pitchFamily="18" charset="0"/>
                <a:cs typeface="Times New Roman" panose="02020603050405020304" pitchFamily="18" charset="0"/>
              </a:rPr>
              <a:t>suresh</a:t>
            </a:r>
            <a:r>
              <a:rPr lang="en-US" sz="1400" dirty="0">
                <a:latin typeface="Times New Roman" panose="02020603050405020304" pitchFamily="18" charset="0"/>
                <a:cs typeface="Times New Roman" panose="02020603050405020304" pitchFamily="18" charset="0"/>
              </a:rPr>
              <a:t>" {sum += $3} END {print sum}‘</a:t>
            </a:r>
          </a:p>
          <a:p>
            <a:r>
              <a:rPr lang="en-US" sz="1400" dirty="0" err="1">
                <a:latin typeface="Times New Roman" panose="02020603050405020304" pitchFamily="18" charset="0"/>
                <a:cs typeface="Times New Roman" panose="02020603050405020304" pitchFamily="18" charset="0"/>
              </a:rPr>
              <a:t>awk</a:t>
            </a:r>
            <a:r>
              <a:rPr lang="en-US" sz="1400" dirty="0">
                <a:latin typeface="Times New Roman" panose="02020603050405020304" pitchFamily="18" charset="0"/>
                <a:cs typeface="Times New Roman" panose="02020603050405020304" pitchFamily="18" charset="0"/>
              </a:rPr>
              <a:t> '/localhost/{print}'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/hosts   </a:t>
            </a:r>
          </a:p>
          <a:p>
            <a:r>
              <a:rPr lang="en-US" sz="1400" dirty="0" err="1">
                <a:latin typeface="Times New Roman" panose="02020603050405020304" pitchFamily="18" charset="0"/>
                <a:cs typeface="Times New Roman" panose="02020603050405020304" pitchFamily="18" charset="0"/>
              </a:rPr>
              <a:t>awk</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l.c</a:t>
            </a:r>
            <a:r>
              <a:rPr lang="en-US" sz="1400" dirty="0">
                <a:latin typeface="Times New Roman" panose="02020603050405020304" pitchFamily="18" charset="0"/>
                <a:cs typeface="Times New Roman" panose="02020603050405020304" pitchFamily="18" charset="0"/>
              </a:rPr>
              <a:t>/{print}'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/hosts  </a:t>
            </a: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awk</a:t>
            </a:r>
            <a:r>
              <a:rPr lang="en-US" sz="1400" dirty="0">
                <a:latin typeface="Times New Roman" panose="02020603050405020304" pitchFamily="18" charset="0"/>
                <a:cs typeface="Times New Roman" panose="02020603050405020304" pitchFamily="18" charset="0"/>
              </a:rPr>
              <a:t> '$1 &gt;200' xyz.txt</a:t>
            </a:r>
          </a:p>
          <a:p>
            <a:r>
              <a:rPr lang="en-US" sz="1400" dirty="0">
                <a:latin typeface="Times New Roman" panose="02020603050405020304" pitchFamily="18" charset="0"/>
                <a:cs typeface="Times New Roman" panose="02020603050405020304" pitchFamily="18" charset="0"/>
              </a:rPr>
              <a:t>NF- Number of fields variable</a:t>
            </a:r>
          </a:p>
          <a:p>
            <a:r>
              <a:rPr lang="en-US" sz="1400" dirty="0">
                <a:latin typeface="Times New Roman" panose="02020603050405020304" pitchFamily="18" charset="0"/>
                <a:cs typeface="Times New Roman" panose="02020603050405020304" pitchFamily="18" charset="0"/>
              </a:rPr>
              <a:t>NR- Number of records variable.</a:t>
            </a:r>
          </a:p>
          <a:p>
            <a:r>
              <a:rPr lang="en-US" sz="1400" dirty="0">
                <a:latin typeface="Times New Roman" panose="02020603050405020304" pitchFamily="18" charset="0"/>
                <a:cs typeface="Times New Roman" panose="02020603050405020304" pitchFamily="18" charset="0"/>
              </a:rPr>
              <a:t>FS- Number of input field separator variable.</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awk</a:t>
            </a:r>
            <a:r>
              <a:rPr lang="en-US" sz="1400" dirty="0">
                <a:latin typeface="Times New Roman" panose="02020603050405020304" pitchFamily="18" charset="0"/>
                <a:cs typeface="Times New Roman" panose="02020603050405020304" pitchFamily="18" charset="0"/>
              </a:rPr>
              <a:t> '{ sum += </a:t>
            </a:r>
            <a:r>
              <a:rPr lang="en-US" sz="1400">
                <a:latin typeface="Times New Roman" panose="02020603050405020304" pitchFamily="18" charset="0"/>
                <a:cs typeface="Times New Roman" panose="02020603050405020304" pitchFamily="18" charset="0"/>
              </a:rPr>
              <a:t>$3} </a:t>
            </a:r>
            <a:r>
              <a:rPr lang="en-US" sz="1400" dirty="0">
                <a:latin typeface="Times New Roman" panose="02020603050405020304" pitchFamily="18" charset="0"/>
                <a:cs typeface="Times New Roman" panose="02020603050405020304" pitchFamily="18" charset="0"/>
              </a:rPr>
              <a:t>END { if (NR &gt; 0) print sum / NR }’ filename</a:t>
            </a:r>
          </a:p>
          <a:p>
            <a:r>
              <a:rPr lang="en-US" sz="1400" dirty="0">
                <a:latin typeface="Times New Roman" panose="02020603050405020304" pitchFamily="18" charset="0"/>
                <a:cs typeface="Times New Roman" panose="02020603050405020304" pitchFamily="18" charset="0"/>
              </a:rPr>
              <a:t>Cat filename| </a:t>
            </a:r>
            <a:r>
              <a:rPr lang="en-US" sz="1400" dirty="0" err="1">
                <a:latin typeface="Times New Roman" panose="02020603050405020304" pitchFamily="18" charset="0"/>
                <a:cs typeface="Times New Roman" panose="02020603050405020304" pitchFamily="18" charset="0"/>
              </a:rPr>
              <a:t>awk</a:t>
            </a:r>
            <a:r>
              <a:rPr lang="en-US" sz="1400" dirty="0">
                <a:latin typeface="Times New Roman" panose="02020603050405020304" pitchFamily="18" charset="0"/>
                <a:cs typeface="Times New Roman" panose="02020603050405020304" pitchFamily="18" charset="0"/>
              </a:rPr>
              <a:t> '{sum+=$3} END {print "Average = ",sum/NR}'</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47220713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Crontab</a:t>
            </a:r>
            <a:r>
              <a:rPr lang="en-US"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472205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Service Commands </a:t>
            </a:r>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service </a:t>
            </a:r>
            <a:r>
              <a:rPr lang="en-US" sz="1400" dirty="0" err="1">
                <a:latin typeface="Times New Roman" panose="02020603050405020304" pitchFamily="18" charset="0"/>
                <a:cs typeface="Times New Roman" panose="02020603050405020304" pitchFamily="18" charset="0"/>
              </a:rPr>
              <a:t>httpd</a:t>
            </a:r>
            <a:r>
              <a:rPr lang="en-US" sz="1400" dirty="0">
                <a:latin typeface="Times New Roman" panose="02020603050405020304" pitchFamily="18" charset="0"/>
                <a:cs typeface="Times New Roman" panose="02020603050405020304" pitchFamily="18" charset="0"/>
              </a:rPr>
              <a:t> restart or /</a:t>
            </a:r>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init.d</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httpd</a:t>
            </a:r>
            <a:r>
              <a:rPr lang="en-US" sz="1400" dirty="0">
                <a:latin typeface="Times New Roman" panose="02020603050405020304" pitchFamily="18" charset="0"/>
                <a:cs typeface="Times New Roman" panose="02020603050405020304" pitchFamily="18" charset="0"/>
              </a:rPr>
              <a:t> restart</a:t>
            </a:r>
          </a:p>
          <a:p>
            <a:r>
              <a:rPr lang="en-US" sz="1400" dirty="0" err="1">
                <a:latin typeface="Times New Roman" panose="02020603050405020304" pitchFamily="18" charset="0"/>
                <a:cs typeface="Times New Roman" panose="02020603050405020304" pitchFamily="18" charset="0"/>
              </a:rPr>
              <a:t>chkconfig</a:t>
            </a:r>
            <a:r>
              <a:rPr lang="en-US" sz="1400" dirty="0">
                <a:latin typeface="Times New Roman" panose="02020603050405020304" pitchFamily="18" charset="0"/>
                <a:cs typeface="Times New Roman" panose="02020603050405020304" pitchFamily="18" charset="0"/>
              </a:rPr>
              <a:t> –list |grep –</a:t>
            </a:r>
            <a:r>
              <a:rPr lang="en-US" sz="1400" dirty="0" err="1">
                <a:latin typeface="Times New Roman" panose="02020603050405020304" pitchFamily="18" charset="0"/>
                <a:cs typeface="Times New Roman" panose="02020603050405020304" pitchFamily="18" charset="0"/>
              </a:rPr>
              <a:t>i</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httpd</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chkconfig</a:t>
            </a:r>
            <a:r>
              <a:rPr lang="en-US" sz="1400" dirty="0">
                <a:latin typeface="Times New Roman" panose="02020603050405020304" pitchFamily="18" charset="0"/>
                <a:cs typeface="Times New Roman" panose="02020603050405020304" pitchFamily="18" charset="0"/>
              </a:rPr>
              <a:t> –level 35 </a:t>
            </a:r>
            <a:r>
              <a:rPr lang="en-US" sz="1400" dirty="0" err="1">
                <a:latin typeface="Times New Roman" panose="02020603050405020304" pitchFamily="18" charset="0"/>
                <a:cs typeface="Times New Roman" panose="02020603050405020304" pitchFamily="18" charset="0"/>
              </a:rPr>
              <a:t>httpd</a:t>
            </a:r>
            <a:r>
              <a:rPr lang="en-US" sz="1400" dirty="0">
                <a:latin typeface="Times New Roman" panose="02020603050405020304" pitchFamily="18" charset="0"/>
                <a:cs typeface="Times New Roman" panose="02020603050405020304" pitchFamily="18" charset="0"/>
              </a:rPr>
              <a:t> 0ff</a:t>
            </a:r>
          </a:p>
          <a:p>
            <a:r>
              <a:rPr lang="en-US" sz="1400" dirty="0" err="1">
                <a:latin typeface="Times New Roman" panose="02020603050405020304" pitchFamily="18" charset="0"/>
                <a:cs typeface="Times New Roman" panose="02020603050405020304" pitchFamily="18" charset="0"/>
              </a:rPr>
              <a:t>chkconfig</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httpd</a:t>
            </a:r>
            <a:r>
              <a:rPr lang="en-US" sz="1400" dirty="0">
                <a:latin typeface="Times New Roman" panose="02020603050405020304" pitchFamily="18" charset="0"/>
                <a:cs typeface="Times New Roman" panose="02020603050405020304" pitchFamily="18" charset="0"/>
              </a:rPr>
              <a:t> on</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1426446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Linux run levels  </a:t>
            </a:r>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96658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SSH password less login  </a:t>
            </a:r>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6250546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DHCP &amp; DNS Server. </a:t>
            </a:r>
          </a:p>
        </p:txBody>
      </p:sp>
      <p:sp>
        <p:nvSpPr>
          <p:cNvPr id="3" name="Content Placeholder 2"/>
          <p:cNvSpPr>
            <a:spLocks noGrp="1"/>
          </p:cNvSpPr>
          <p:nvPr>
            <p:ph idx="1"/>
          </p:nvPr>
        </p:nvSpPr>
        <p:spPr/>
        <p:txBody>
          <a:bodyPr/>
          <a:lstStyle/>
          <a:p>
            <a:endParaRPr lang="en-US" dirty="0"/>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08514600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Network Layers </a:t>
            </a:r>
          </a:p>
        </p:txBody>
      </p:sp>
      <p:sp>
        <p:nvSpPr>
          <p:cNvPr id="3" name="Content Placeholder 2"/>
          <p:cNvSpPr>
            <a:spLocks noGrp="1"/>
          </p:cNvSpPr>
          <p:nvPr>
            <p:ph idx="1"/>
          </p:nvPr>
        </p:nvSpPr>
        <p:spPr/>
        <p:txBody>
          <a:bodyPr/>
          <a:lstStyle/>
          <a:p>
            <a:endParaRPr lang="en-US" dirty="0"/>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65102466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Run Levels in </a:t>
            </a:r>
            <a:r>
              <a:rPr lang="en-US" dirty="0" err="1">
                <a:latin typeface="Times New Roman" panose="02020603050405020304" pitchFamily="18" charset="0"/>
                <a:cs typeface="Times New Roman" panose="02020603050405020304" pitchFamily="18" charset="0"/>
              </a:rPr>
              <a:t>LInux</a:t>
            </a:r>
            <a:r>
              <a:rPr lang="en-US" dirty="0">
                <a:latin typeface="Times New Roman" panose="02020603050405020304" pitchFamily="18" charset="0"/>
                <a:cs typeface="Times New Roman" panose="02020603050405020304" pitchFamily="18" charset="0"/>
              </a:rPr>
              <a:t> </a:t>
            </a:r>
            <a:r>
              <a:rPr lang="en-US" sz="2400" i="1" dirty="0">
                <a:solidFill>
                  <a:srgbClr val="FF0000"/>
                </a:solidFill>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0	Halt the system.</a:t>
            </a:r>
          </a:p>
          <a:p>
            <a:r>
              <a:rPr lang="en-US" sz="1400" dirty="0">
                <a:latin typeface="Times New Roman" panose="02020603050405020304" pitchFamily="18" charset="0"/>
                <a:cs typeface="Times New Roman" panose="02020603050405020304" pitchFamily="18" charset="0"/>
              </a:rPr>
              <a:t>1	Single-user mode (for special administration).</a:t>
            </a:r>
          </a:p>
          <a:p>
            <a:r>
              <a:rPr lang="en-US" sz="1400" dirty="0">
                <a:latin typeface="Times New Roman" panose="02020603050405020304" pitchFamily="18" charset="0"/>
                <a:cs typeface="Times New Roman" panose="02020603050405020304" pitchFamily="18" charset="0"/>
              </a:rPr>
              <a:t>2	Local Multiuser with Networking but without network service (like NFS)</a:t>
            </a:r>
          </a:p>
          <a:p>
            <a:r>
              <a:rPr lang="en-US" sz="1400" dirty="0">
                <a:latin typeface="Times New Roman" panose="02020603050405020304" pitchFamily="18" charset="0"/>
                <a:cs typeface="Times New Roman" panose="02020603050405020304" pitchFamily="18" charset="0"/>
              </a:rPr>
              <a:t>3	Full Multiuser with Networking</a:t>
            </a:r>
          </a:p>
          <a:p>
            <a:r>
              <a:rPr lang="en-US" sz="1400" dirty="0">
                <a:latin typeface="Times New Roman" panose="02020603050405020304" pitchFamily="18" charset="0"/>
                <a:cs typeface="Times New Roman" panose="02020603050405020304" pitchFamily="18" charset="0"/>
              </a:rPr>
              <a:t>4	Not Used</a:t>
            </a:r>
          </a:p>
          <a:p>
            <a:r>
              <a:rPr lang="en-US" sz="1400" dirty="0">
                <a:latin typeface="Times New Roman" panose="02020603050405020304" pitchFamily="18" charset="0"/>
                <a:cs typeface="Times New Roman" panose="02020603050405020304" pitchFamily="18" charset="0"/>
              </a:rPr>
              <a:t>5	Full Multiuser with Networking and X Windows(GUI)</a:t>
            </a:r>
          </a:p>
          <a:p>
            <a:r>
              <a:rPr lang="en-US" sz="1400" dirty="0">
                <a:latin typeface="Times New Roman" panose="02020603050405020304" pitchFamily="18" charset="0"/>
                <a:cs typeface="Times New Roman" panose="02020603050405020304" pitchFamily="18" charset="0"/>
              </a:rPr>
              <a:t>6	Reboot.</a:t>
            </a: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6405253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How to create aliases</a:t>
            </a: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bashrc</a:t>
            </a:r>
            <a:r>
              <a:rPr lang="en-US" dirty="0">
                <a:latin typeface="Times New Roman" panose="02020603050405020304" pitchFamily="18" charset="0"/>
                <a:cs typeface="Times New Roman" panose="02020603050405020304" pitchFamily="18" charset="0"/>
              </a:rPr>
              <a:t> or .</a:t>
            </a:r>
            <a:r>
              <a:rPr lang="en-US" dirty="0" err="1">
                <a:latin typeface="Times New Roman" panose="02020603050405020304" pitchFamily="18" charset="0"/>
                <a:cs typeface="Times New Roman" panose="02020603050405020304" pitchFamily="18" charset="0"/>
              </a:rPr>
              <a:t>cshrc</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2007313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Software Development Life Cycle(SDLC). </a:t>
            </a:r>
          </a:p>
        </p:txBody>
      </p:sp>
      <p:sp>
        <p:nvSpPr>
          <p:cNvPr id="3" name="Content Placeholder 2"/>
          <p:cNvSpPr>
            <a:spLocks noGrp="1"/>
          </p:cNvSpPr>
          <p:nvPr>
            <p:ph idx="1"/>
          </p:nvPr>
        </p:nvSpPr>
        <p:spPr/>
        <p:txBody>
          <a:bodyPr/>
          <a:lstStyle/>
          <a:p>
            <a:endParaRPr lang="en-US" dirty="0"/>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5368372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i="1" dirty="0" err="1">
                <a:solidFill>
                  <a:schemeClr val="accent1">
                    <a:lumMod val="75000"/>
                  </a:schemeClr>
                </a:solidFill>
                <a:latin typeface="Times New Roman" panose="02020603050405020304" pitchFamily="18" charset="0"/>
                <a:cs typeface="Times New Roman" panose="02020603050405020304" pitchFamily="18" charset="0"/>
              </a:rPr>
              <a:t>Telenet</a:t>
            </a:r>
            <a:r>
              <a:rPr lang="en-US" i="1" dirty="0">
                <a:solidFill>
                  <a:schemeClr val="accent1">
                    <a:lumMod val="75000"/>
                  </a:schemeClr>
                </a:solidFill>
                <a:latin typeface="Times New Roman" panose="02020603050405020304" pitchFamily="18" charset="0"/>
                <a:cs typeface="Times New Roman" panose="02020603050405020304" pitchFamily="18" charset="0"/>
              </a:rPr>
              <a:t> &amp; FTP </a:t>
            </a:r>
            <a:r>
              <a:rPr lang="en-US" i="1" dirty="0">
                <a:solidFill>
                  <a:srgbClr val="FF0000"/>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Put and get commands are used in windows to upload  &amp; download files.</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5155588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latin typeface="Times New Roman" panose="02020603050405020304" pitchFamily="18" charset="0"/>
                <a:cs typeface="Times New Roman" panose="02020603050405020304" pitchFamily="18" charset="0"/>
              </a:rPr>
              <a:t>MYsql</a:t>
            </a:r>
            <a:r>
              <a:rPr lang="en-US" i="1" dirty="0">
                <a:latin typeface="Times New Roman" panose="02020603050405020304" pitchFamily="18" charset="0"/>
                <a:cs typeface="Times New Roman" panose="02020603050405020304" pitchFamily="18" charset="0"/>
              </a:rPr>
              <a:t> </a:t>
            </a:r>
            <a:endParaRPr lang="en-US" dirty="0"/>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Service </a:t>
            </a:r>
            <a:r>
              <a:rPr lang="en-US" sz="1400" dirty="0" err="1">
                <a:latin typeface="Times New Roman" panose="02020603050405020304" pitchFamily="18" charset="0"/>
                <a:cs typeface="Times New Roman" panose="02020603050405020304" pitchFamily="18" charset="0"/>
              </a:rPr>
              <a:t>mysql</a:t>
            </a:r>
            <a:r>
              <a:rPr lang="en-US" sz="1400" dirty="0">
                <a:latin typeface="Times New Roman" panose="02020603050405020304" pitchFamily="18" charset="0"/>
                <a:cs typeface="Times New Roman" panose="02020603050405020304" pitchFamily="18" charset="0"/>
              </a:rPr>
              <a:t> start or stop </a:t>
            </a:r>
          </a:p>
          <a:p>
            <a:r>
              <a:rPr lang="en-US" sz="1400" dirty="0" err="1">
                <a:latin typeface="Times New Roman" panose="02020603050405020304" pitchFamily="18" charset="0"/>
                <a:cs typeface="Times New Roman" panose="02020603050405020304" pitchFamily="18" charset="0"/>
              </a:rPr>
              <a:t>mysql</a:t>
            </a:r>
            <a:r>
              <a:rPr lang="en-US" sz="1400" dirty="0">
                <a:latin typeface="Times New Roman" panose="02020603050405020304" pitchFamily="18" charset="0"/>
                <a:cs typeface="Times New Roman" panose="02020603050405020304" pitchFamily="18" charset="0"/>
              </a:rPr>
              <a:t> –u root –p (hit enter)</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To set new password</a:t>
            </a:r>
          </a:p>
          <a:p>
            <a:r>
              <a:rPr lang="en-US" sz="1400" dirty="0" err="1">
                <a:latin typeface="Times New Roman" panose="02020603050405020304" pitchFamily="18" charset="0"/>
                <a:cs typeface="Times New Roman" panose="02020603050405020304" pitchFamily="18" charset="0"/>
              </a:rPr>
              <a:t>mysqladmin</a:t>
            </a:r>
            <a:r>
              <a:rPr lang="en-US" sz="1400" dirty="0">
                <a:latin typeface="Times New Roman" panose="02020603050405020304" pitchFamily="18" charset="0"/>
                <a:cs typeface="Times New Roman" panose="02020603050405020304" pitchFamily="18" charset="0"/>
              </a:rPr>
              <a:t> –u root password “</a:t>
            </a:r>
            <a:r>
              <a:rPr lang="en-US" sz="1400" dirty="0" err="1">
                <a:latin typeface="Times New Roman" panose="02020603050405020304" pitchFamily="18" charset="0"/>
                <a:cs typeface="Times New Roman" panose="02020603050405020304" pitchFamily="18" charset="0"/>
              </a:rPr>
              <a:t>abc</a:t>
            </a:r>
            <a:r>
              <a:rPr lang="en-US" sz="1400" dirty="0">
                <a:latin typeface="Times New Roman" panose="02020603050405020304" pitchFamily="18" charset="0"/>
                <a:cs typeface="Times New Roman" panose="02020603050405020304" pitchFamily="18" charset="0"/>
              </a:rPr>
              <a:t>”</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To change password</a:t>
            </a:r>
          </a:p>
          <a:p>
            <a:r>
              <a:rPr lang="en-US" sz="1400" dirty="0" err="1">
                <a:latin typeface="Times New Roman" panose="02020603050405020304" pitchFamily="18" charset="0"/>
                <a:cs typeface="Times New Roman" panose="02020603050405020304" pitchFamily="18" charset="0"/>
              </a:rPr>
              <a:t>mysqadmin</a:t>
            </a:r>
            <a:r>
              <a:rPr lang="en-US" sz="1400" dirty="0">
                <a:latin typeface="Times New Roman" panose="02020603050405020304" pitchFamily="18" charset="0"/>
                <a:cs typeface="Times New Roman" panose="02020603050405020304" pitchFamily="18" charset="0"/>
              </a:rPr>
              <a:t>  -u root –</a:t>
            </a:r>
            <a:r>
              <a:rPr lang="en-US" sz="1400" dirty="0" err="1">
                <a:latin typeface="Times New Roman" panose="02020603050405020304" pitchFamily="18" charset="0"/>
                <a:cs typeface="Times New Roman" panose="02020603050405020304" pitchFamily="18" charset="0"/>
              </a:rPr>
              <a:t>p’old</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password’new</a:t>
            </a:r>
            <a:r>
              <a:rPr lang="en-US" sz="1400" dirty="0">
                <a:latin typeface="Times New Roman" panose="02020603050405020304" pitchFamily="18" charset="0"/>
                <a:cs typeface="Times New Roman" panose="02020603050405020304" pitchFamily="18" charset="0"/>
              </a:rPr>
              <a:t> password</a:t>
            </a:r>
          </a:p>
          <a:p>
            <a:r>
              <a:rPr lang="en-US" sz="1400" dirty="0" err="1">
                <a:latin typeface="Times New Roman" panose="02020603050405020304" pitchFamily="18" charset="0"/>
                <a:cs typeface="Times New Roman" panose="02020603050405020304" pitchFamily="18" charset="0"/>
              </a:rPr>
              <a:t>Showdatabases</a:t>
            </a:r>
            <a:r>
              <a:rPr lang="en-US" sz="1400"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mysqladmin</a:t>
            </a:r>
            <a:r>
              <a:rPr lang="en-US" sz="1400" dirty="0">
                <a:latin typeface="Times New Roman" panose="02020603050405020304" pitchFamily="18" charset="0"/>
                <a:cs typeface="Times New Roman" panose="02020603050405020304" pitchFamily="18" charset="0"/>
              </a:rPr>
              <a:t> –u root –p ping</a:t>
            </a:r>
          </a:p>
          <a:p>
            <a:r>
              <a:rPr lang="en-US" sz="1400" dirty="0" err="1">
                <a:latin typeface="Times New Roman" panose="02020603050405020304" pitchFamily="18" charset="0"/>
                <a:cs typeface="Times New Roman" panose="02020603050405020304" pitchFamily="18" charset="0"/>
              </a:rPr>
              <a:t>mysqladmin</a:t>
            </a:r>
            <a:r>
              <a:rPr lang="en-US" sz="1400" dirty="0">
                <a:latin typeface="Times New Roman" panose="02020603050405020304" pitchFamily="18" charset="0"/>
                <a:cs typeface="Times New Roman" panose="02020603050405020304" pitchFamily="18" charset="0"/>
              </a:rPr>
              <a:t> –u root –p version, status, variables, </a:t>
            </a:r>
            <a:r>
              <a:rPr lang="en-US" sz="1400" dirty="0" err="1">
                <a:latin typeface="Times New Roman" panose="02020603050405020304" pitchFamily="18" charset="0"/>
                <a:cs typeface="Times New Roman" panose="02020603050405020304" pitchFamily="18" charset="0"/>
              </a:rPr>
              <a:t>processlist</a:t>
            </a:r>
            <a:r>
              <a:rPr lang="en-US" sz="1400" dirty="0">
                <a:latin typeface="Times New Roman" panose="02020603050405020304" pitchFamily="18" charset="0"/>
                <a:cs typeface="Times New Roman" panose="02020603050405020304" pitchFamily="18" charset="0"/>
              </a:rPr>
              <a:t>, reload, refresh, shutdown</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9107641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EXCEL Shortcuts </a:t>
            </a:r>
            <a:endParaRPr lang="en-US" dirty="0"/>
          </a:p>
        </p:txBody>
      </p:sp>
      <p:sp>
        <p:nvSpPr>
          <p:cNvPr id="3" name="Content Placeholder 2"/>
          <p:cNvSpPr>
            <a:spLocks noGrp="1"/>
          </p:cNvSpPr>
          <p:nvPr>
            <p:ph idx="1"/>
          </p:nvPr>
        </p:nvSpPr>
        <p:spPr/>
        <p:txBody>
          <a:bodyPr/>
          <a:lstStyle/>
          <a:p>
            <a:r>
              <a:rPr lang="en-US" sz="1400" dirty="0" err="1">
                <a:latin typeface="Times New Roman" panose="02020603050405020304" pitchFamily="18" charset="0"/>
                <a:cs typeface="Times New Roman" panose="02020603050405020304" pitchFamily="18" charset="0"/>
              </a:rPr>
              <a:t>Cntl</a:t>
            </a:r>
            <a:r>
              <a:rPr lang="en-US" sz="1400" dirty="0">
                <a:latin typeface="Times New Roman" panose="02020603050405020304" pitchFamily="18" charset="0"/>
                <a:cs typeface="Times New Roman" panose="02020603050405020304" pitchFamily="18" charset="0"/>
              </a:rPr>
              <a:t> + : =Date</a:t>
            </a:r>
          </a:p>
          <a:p>
            <a:r>
              <a:rPr lang="en-US" sz="1400" dirty="0">
                <a:latin typeface="Times New Roman" panose="02020603050405020304" pitchFamily="18" charset="0"/>
                <a:cs typeface="Times New Roman" panose="02020603050405020304" pitchFamily="18" charset="0"/>
              </a:rPr>
              <a:t>Alt + Enter = New line in current cell</a:t>
            </a:r>
          </a:p>
          <a:p>
            <a:r>
              <a:rPr lang="en-US" sz="1400" dirty="0">
                <a:latin typeface="Times New Roman" panose="02020603050405020304" pitchFamily="18" charset="0"/>
                <a:cs typeface="Times New Roman" panose="02020603050405020304" pitchFamily="18" charset="0"/>
              </a:rPr>
              <a:t>Shift + Space= Select Complete Row.</a:t>
            </a:r>
          </a:p>
          <a:p>
            <a:r>
              <a:rPr lang="en-US" sz="1400" dirty="0">
                <a:latin typeface="Times New Roman" panose="02020603050405020304" pitchFamily="18" charset="0"/>
                <a:cs typeface="Times New Roman" panose="02020603050405020304" pitchFamily="18" charset="0"/>
              </a:rPr>
              <a:t>Alt + Space + Select Complete </a:t>
            </a:r>
            <a:r>
              <a:rPr lang="en-US" sz="1400" dirty="0" err="1">
                <a:latin typeface="Times New Roman" panose="02020603050405020304" pitchFamily="18" charset="0"/>
                <a:cs typeface="Times New Roman" panose="02020603050405020304" pitchFamily="18" charset="0"/>
              </a:rPr>
              <a:t>Coilumn</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Windows + P = Select Extended Screen </a:t>
            </a:r>
          </a:p>
          <a:p>
            <a:r>
              <a:rPr lang="en-US" sz="1400" dirty="0" err="1">
                <a:latin typeface="Times New Roman" panose="02020603050405020304" pitchFamily="18" charset="0"/>
                <a:cs typeface="Times New Roman" panose="02020603050405020304" pitchFamily="18" charset="0"/>
              </a:rPr>
              <a:t>Vlookup</a:t>
            </a:r>
            <a:r>
              <a:rPr lang="en-US" sz="1400" dirty="0">
                <a:latin typeface="Times New Roman" panose="02020603050405020304" pitchFamily="18" charset="0"/>
                <a:cs typeface="Times New Roman" panose="02020603050405020304" pitchFamily="18" charset="0"/>
              </a:rPr>
              <a:t> Function : To compare same column in different tables. </a:t>
            </a:r>
          </a:p>
          <a:p>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7355851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Change the default font or text color for email messages      </a:t>
            </a:r>
            <a:r>
              <a:rPr lang="en-US" sz="1300" dirty="0">
                <a:latin typeface="Times New Roman" panose="02020603050405020304" pitchFamily="18" charset="0"/>
                <a:cs typeface="Times New Roman" panose="02020603050405020304" pitchFamily="18" charset="0"/>
                <a:hlinkClick r:id="rId2"/>
              </a:rPr>
              <a:t>https://support.office.com/en-us/article/Change-the-default-font-or-text-color-for-email-messages-1aabb236-01d4-4faf-b998-a4087da3ceab</a:t>
            </a:r>
            <a:r>
              <a:rPr lang="en-US" sz="1300"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File &gt; options &gt; mail &gt; compose messages &gt; stationary and fonts &gt;</a:t>
            </a:r>
          </a:p>
          <a:p>
            <a:pPr marL="0" indent="0">
              <a:buNone/>
            </a:pPr>
            <a:r>
              <a:rPr lang="en-US" sz="1800" dirty="0">
                <a:latin typeface="Times New Roman" panose="02020603050405020304" pitchFamily="18" charset="0"/>
                <a:cs typeface="Times New Roman" panose="02020603050405020304" pitchFamily="18" charset="0"/>
              </a:rPr>
              <a:t>Personal stationary &gt;font . Ok</a:t>
            </a:r>
          </a:p>
          <a:p>
            <a:pPr marL="0" indent="0">
              <a:buNone/>
            </a:pPr>
            <a:endParaRPr lang="en-US" sz="18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How To Display New Mail Desktop Alert For Subfolders In Outlook?</a:t>
            </a:r>
            <a:r>
              <a:rPr lang="en-US" sz="1800"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hlinkClick r:id="rId3"/>
              </a:rPr>
              <a:t>https://www.extendoffice.com/documents/outlook/2308-outlook-alert-subfolder.html</a:t>
            </a:r>
            <a:r>
              <a:rPr lang="en-US" sz="1800" dirty="0">
                <a:latin typeface="Times New Roman" panose="02020603050405020304" pitchFamily="18" charset="0"/>
                <a:cs typeface="Times New Roman" panose="02020603050405020304" pitchFamily="18" charset="0"/>
              </a:rPr>
              <a:t> </a:t>
            </a:r>
            <a:r>
              <a:rPr lang="en-US" sz="1800" i="1" dirty="0">
                <a:solidFill>
                  <a:srgbClr val="FF0000"/>
                </a:solidFill>
                <a:latin typeface="Times New Roman" panose="02020603050405020304" pitchFamily="18" charset="0"/>
                <a:cs typeface="Times New Roman" panose="02020603050405020304" pitchFamily="18" charset="0"/>
              </a:rPr>
              <a:t>4/17/2017</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latin typeface="Times New Roman" panose="02020603050405020304" pitchFamily="18" charset="0"/>
                <a:cs typeface="Times New Roman" panose="02020603050405020304" pitchFamily="18" charset="0"/>
              </a:rPr>
              <a:t>Rules&gt; manage rules&amp; Alerts &gt; Apply rule on message I receive next &gt;</a:t>
            </a:r>
          </a:p>
          <a:p>
            <a:pPr marL="0" indent="0">
              <a:buNone/>
            </a:pPr>
            <a:r>
              <a:rPr lang="en-US" sz="1800" dirty="0">
                <a:latin typeface="Times New Roman" panose="02020603050405020304" pitchFamily="18" charset="0"/>
                <a:cs typeface="Times New Roman" panose="02020603050405020304" pitchFamily="18" charset="0"/>
              </a:rPr>
              <a:t>From people or public group &gt; yes &gt; display a Desktop Alert tick mark &gt; finish. ok</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6413036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solidFill>
                  <a:schemeClr val="accent1">
                    <a:lumMod val="75000"/>
                  </a:schemeClr>
                </a:solidFill>
                <a:latin typeface="Times New Roman" panose="02020603050405020304" pitchFamily="18" charset="0"/>
                <a:cs typeface="Times New Roman" panose="02020603050405020304" pitchFamily="18" charset="0"/>
              </a:rPr>
              <a:t>JBOSS EAP 7 Documentation </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What is application </a:t>
            </a:r>
            <a:r>
              <a:rPr lang="en-US" dirty="0" err="1">
                <a:latin typeface="Times New Roman" panose="02020603050405020304" pitchFamily="18" charset="0"/>
                <a:cs typeface="Times New Roman" panose="02020603050405020304" pitchFamily="18" charset="0"/>
              </a:rPr>
              <a:t>saerver</a:t>
            </a:r>
            <a:r>
              <a:rPr lang="en-US"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What is </a:t>
            </a:r>
            <a:r>
              <a:rPr lang="en-US" dirty="0" err="1">
                <a:latin typeface="Times New Roman" panose="02020603050405020304" pitchFamily="18" charset="0"/>
                <a:cs typeface="Times New Roman" panose="02020603050405020304" pitchFamily="18" charset="0"/>
              </a:rPr>
              <a:t>jboss</a:t>
            </a:r>
            <a:r>
              <a:rPr lang="en-US" dirty="0">
                <a:latin typeface="Times New Roman" panose="02020603050405020304" pitchFamily="18" charset="0"/>
                <a:cs typeface="Times New Roman" panose="02020603050405020304" pitchFamily="18" charset="0"/>
              </a:rPr>
              <a:t>?</a:t>
            </a:r>
          </a:p>
          <a:p>
            <a:r>
              <a:rPr lang="en-US" sz="1400" dirty="0" err="1">
                <a:latin typeface="Times New Roman" panose="02020603050405020304" pitchFamily="18" charset="0"/>
                <a:cs typeface="Times New Roman" panose="02020603050405020304" pitchFamily="18" charset="0"/>
              </a:rPr>
              <a:t>JBoss</a:t>
            </a:r>
            <a:r>
              <a:rPr lang="en-US" sz="1400" dirty="0">
                <a:latin typeface="Times New Roman" panose="02020603050405020304" pitchFamily="18" charset="0"/>
                <a:cs typeface="Times New Roman" panose="02020603050405020304" pitchFamily="18" charset="0"/>
              </a:rPr>
              <a:t> is a popular open source application server based on JEE technology. Being JEE based, the </a:t>
            </a:r>
            <a:r>
              <a:rPr lang="en-US" sz="1400" dirty="0" err="1">
                <a:latin typeface="Times New Roman" panose="02020603050405020304" pitchFamily="18" charset="0"/>
                <a:cs typeface="Times New Roman" panose="02020603050405020304" pitchFamily="18" charset="0"/>
              </a:rPr>
              <a:t>JBoss</a:t>
            </a:r>
            <a:r>
              <a:rPr lang="en-US" sz="1400" dirty="0">
                <a:latin typeface="Times New Roman" panose="02020603050405020304" pitchFamily="18" charset="0"/>
                <a:cs typeface="Times New Roman" panose="02020603050405020304" pitchFamily="18" charset="0"/>
              </a:rPr>
              <a:t> supports cross-platform java applications. It was embedded with Apache Tomcat web server. It runs under any JVM of 1.3 or later versions. </a:t>
            </a:r>
            <a:r>
              <a:rPr lang="en-US" sz="1400" dirty="0" err="1">
                <a:latin typeface="Times New Roman" panose="02020603050405020304" pitchFamily="18" charset="0"/>
                <a:cs typeface="Times New Roman" panose="02020603050405020304" pitchFamily="18" charset="0"/>
              </a:rPr>
              <a:t>JBoss</a:t>
            </a:r>
            <a:r>
              <a:rPr lang="en-US" sz="1400" dirty="0">
                <a:latin typeface="Times New Roman" panose="02020603050405020304" pitchFamily="18" charset="0"/>
                <a:cs typeface="Times New Roman" panose="02020603050405020304" pitchFamily="18" charset="0"/>
              </a:rPr>
              <a:t> supports JNDI, Servlet/JSP (Tomcat or Jetty), EJB, JTS/JTA, JCA, JMS, Clustering (</a:t>
            </a:r>
            <a:r>
              <a:rPr lang="en-US" sz="1400" dirty="0" err="1">
                <a:latin typeface="Times New Roman" panose="02020603050405020304" pitchFamily="18" charset="0"/>
                <a:cs typeface="Times New Roman" panose="02020603050405020304" pitchFamily="18" charset="0"/>
              </a:rPr>
              <a:t>JavaGroups</a:t>
            </a:r>
            <a:r>
              <a:rPr lang="en-US" sz="1400" dirty="0">
                <a:latin typeface="Times New Roman" panose="02020603050405020304" pitchFamily="18" charset="0"/>
                <a:cs typeface="Times New Roman" panose="02020603050405020304" pitchFamily="18" charset="0"/>
              </a:rPr>
              <a:t>), Web Services (Axis), and IIOP integration (</a:t>
            </a:r>
            <a:r>
              <a:rPr lang="en-US" sz="1400" dirty="0" err="1">
                <a:latin typeface="Times New Roman" panose="02020603050405020304" pitchFamily="18" charset="0"/>
                <a:cs typeface="Times New Roman" panose="02020603050405020304" pitchFamily="18" charset="0"/>
              </a:rPr>
              <a:t>JacORB</a:t>
            </a:r>
            <a:r>
              <a:rPr lang="en-US" sz="1400" dirty="0">
                <a:latin typeface="Times New Roman" panose="02020603050405020304" pitchFamily="18" charset="0"/>
                <a:cs typeface="Times New Roman" panose="02020603050405020304" pitchFamily="18" charset="0"/>
              </a:rPr>
              <a:t>).</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7549284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a:t>
            </a:r>
            <a:r>
              <a:rPr lang="en-US" i="1" dirty="0">
                <a:solidFill>
                  <a:schemeClr val="accent1">
                    <a:lumMod val="75000"/>
                  </a:schemeClr>
                </a:solidFill>
                <a:latin typeface="Times New Roman" panose="02020603050405020304" pitchFamily="18" charset="0"/>
                <a:cs typeface="Times New Roman" panose="02020603050405020304" pitchFamily="18" charset="0"/>
              </a:rPr>
              <a:t>Host controller</a:t>
            </a:r>
            <a:r>
              <a:rPr lang="en-US" i="1" dirty="0">
                <a:solidFill>
                  <a:srgbClr val="FF0000"/>
                </a:solidFill>
                <a:latin typeface="Times New Roman" panose="02020603050405020304" pitchFamily="18" charset="0"/>
                <a:cs typeface="Times New Roman" panose="02020603050405020304" pitchFamily="18" charset="0"/>
              </a:rPr>
              <a:t>  </a:t>
            </a:r>
            <a:br>
              <a:rPr lang="en-US" i="1" dirty="0">
                <a:solidFill>
                  <a:srgbClr val="FF0000"/>
                </a:solidFill>
                <a:latin typeface="Times New Roman" panose="02020603050405020304" pitchFamily="18" charset="0"/>
                <a:cs typeface="Times New Roman" panose="02020603050405020304" pitchFamily="18" charset="0"/>
              </a:rPr>
            </a:br>
            <a:r>
              <a:rPr lang="en-US" sz="1200" i="1"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hlinkClick r:id="rId2"/>
              </a:rPr>
              <a:t>https://access.redhat.com/documentation/en-US/JBoss_Enterprise_Application_Platform/6.2/html/Administration_and_Configuration_Guide/Host_Controller.html</a:t>
            </a:r>
            <a:r>
              <a:rPr lang="en-US" sz="1600" i="1"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A host controller is launched when the script domain.sh or domain.bat script is run on a host. The primary responsibility of a host controller is </a:t>
            </a:r>
            <a:r>
              <a:rPr lang="en-US" sz="1600" dirty="0">
                <a:solidFill>
                  <a:srgbClr val="00B050"/>
                </a:solidFill>
                <a:latin typeface="Times New Roman" panose="02020603050405020304" pitchFamily="18" charset="0"/>
                <a:cs typeface="Times New Roman" panose="02020603050405020304" pitchFamily="18" charset="0"/>
              </a:rPr>
              <a:t>server management</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It interacts with the domain controller to help manage the communication between the servers and the domain controller. Multiple host controllers of a domain can interact with only a single domain controller. Hence, all the host controllers and server instances running on a single domain mode can have a single domain controller and must belong to the same domain.</a:t>
            </a:r>
          </a:p>
          <a:p>
            <a:r>
              <a:rPr lang="en-US" sz="1600" dirty="0">
                <a:latin typeface="Times New Roman" panose="02020603050405020304" pitchFamily="18" charset="0"/>
                <a:cs typeface="Times New Roman" panose="02020603050405020304" pitchFamily="18" charset="0"/>
              </a:rPr>
              <a:t>domain/configuration/host.xml</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1786741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i="1" dirty="0">
                <a:solidFill>
                  <a:schemeClr val="accent1">
                    <a:lumMod val="75000"/>
                  </a:schemeClr>
                </a:solidFill>
                <a:latin typeface="Times New Roman" panose="02020603050405020304" pitchFamily="18" charset="0"/>
                <a:cs typeface="Times New Roman" panose="02020603050405020304" pitchFamily="18" charset="0"/>
              </a:rPr>
              <a:t>Host controller</a:t>
            </a:r>
            <a:endParaRPr lang="en-US"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Host Controller:</a:t>
            </a:r>
          </a:p>
          <a:p>
            <a:r>
              <a:rPr lang="en-US" sz="1600" dirty="0">
                <a:latin typeface="Times New Roman" panose="02020603050405020304" pitchFamily="18" charset="0"/>
                <a:cs typeface="Times New Roman" panose="02020603050405020304" pitchFamily="18" charset="0"/>
              </a:rPr>
              <a:t>./exit</a:t>
            </a:r>
          </a:p>
          <a:p>
            <a:r>
              <a:rPr lang="en-US" sz="1600" dirty="0">
                <a:latin typeface="Times New Roman" panose="02020603050405020304" pitchFamily="18" charset="0"/>
                <a:cs typeface="Times New Roman" panose="02020603050405020304" pitchFamily="18" charset="0"/>
              </a:rPr>
              <a:t>.sh --host-config=</a:t>
            </a:r>
            <a:r>
              <a:rPr lang="en-US" sz="1600" b="1" dirty="0">
                <a:solidFill>
                  <a:srgbClr val="0070C0"/>
                </a:solidFill>
                <a:latin typeface="Times New Roman" panose="02020603050405020304" pitchFamily="18" charset="0"/>
                <a:cs typeface="Times New Roman" panose="02020603050405020304" pitchFamily="18" charset="0"/>
              </a:rPr>
              <a:t>host-master.xml</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Djboss.domain.base.dir</a:t>
            </a:r>
            <a:r>
              <a:rPr lang="en-US" sz="1600" dirty="0">
                <a:latin typeface="Times New Roman" panose="02020603050405020304" pitchFamily="18" charset="0"/>
                <a:cs typeface="Times New Roman" panose="02020603050405020304" pitchFamily="18" charset="0"/>
              </a:rPr>
              <a:t>=/home/EAP-6.0.0.GA-silent/machine1/domain/ -</a:t>
            </a:r>
            <a:r>
              <a:rPr lang="en-US" sz="1600" dirty="0" err="1">
                <a:latin typeface="Times New Roman" panose="02020603050405020304" pitchFamily="18" charset="0"/>
                <a:cs typeface="Times New Roman" panose="02020603050405020304" pitchFamily="18" charset="0"/>
              </a:rPr>
              <a:t>Djboss.bind.address.management</a:t>
            </a:r>
            <a:r>
              <a:rPr lang="en-US" sz="1600" dirty="0">
                <a:latin typeface="Times New Roman" panose="02020603050405020304" pitchFamily="18" charset="0"/>
                <a:cs typeface="Times New Roman" panose="02020603050405020304" pitchFamily="18" charset="0"/>
              </a:rPr>
              <a:t>=192.168.33.15</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./domain.sh --host-config=</a:t>
            </a:r>
            <a:r>
              <a:rPr lang="en-US" sz="1600" b="1" dirty="0">
                <a:solidFill>
                  <a:srgbClr val="0070C0"/>
                </a:solidFill>
                <a:latin typeface="Times New Roman" panose="02020603050405020304" pitchFamily="18" charset="0"/>
                <a:cs typeface="Times New Roman" panose="02020603050405020304" pitchFamily="18" charset="0"/>
              </a:rPr>
              <a:t>host-slave.xml</a:t>
            </a:r>
            <a:r>
              <a:rPr lang="en-US" sz="1600" b="1"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Djboss.domain.base.dir</a:t>
            </a:r>
            <a:r>
              <a:rPr lang="en-US" sz="1600" dirty="0">
                <a:latin typeface="Times New Roman" panose="02020603050405020304" pitchFamily="18" charset="0"/>
                <a:cs typeface="Times New Roman" panose="02020603050405020304" pitchFamily="18" charset="0"/>
              </a:rPr>
              <a:t>=/home/EAP-6.0.0.GA-silent/machine2/domain/ -</a:t>
            </a:r>
            <a:r>
              <a:rPr lang="en-US" sz="1600" dirty="0" err="1">
                <a:latin typeface="Times New Roman" panose="02020603050405020304" pitchFamily="18" charset="0"/>
                <a:cs typeface="Times New Roman" panose="02020603050405020304" pitchFamily="18" charset="0"/>
              </a:rPr>
              <a:t>Djboss.domain.master.address</a:t>
            </a:r>
            <a:r>
              <a:rPr lang="en-US" sz="1600" dirty="0">
                <a:latin typeface="Times New Roman" panose="02020603050405020304" pitchFamily="18" charset="0"/>
                <a:cs typeface="Times New Roman" panose="02020603050405020304" pitchFamily="18" charset="0"/>
              </a:rPr>
              <a:t>=192.168.33.15 -</a:t>
            </a:r>
            <a:r>
              <a:rPr lang="en-US" sz="1600" dirty="0" err="1">
                <a:latin typeface="Times New Roman" panose="02020603050405020304" pitchFamily="18" charset="0"/>
                <a:cs typeface="Times New Roman" panose="02020603050405020304" pitchFamily="18" charset="0"/>
              </a:rPr>
              <a:t>Djboss.bind.address</a:t>
            </a:r>
            <a:r>
              <a:rPr lang="en-US" sz="1600" dirty="0">
                <a:latin typeface="Times New Roman" panose="02020603050405020304" pitchFamily="18" charset="0"/>
                <a:cs typeface="Times New Roman" panose="02020603050405020304" pitchFamily="18" charset="0"/>
              </a:rPr>
              <a:t>=192.168.33.15</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Djboss.domain.base.dir</a:t>
            </a:r>
            <a:r>
              <a:rPr lang="en-US" sz="1600" dirty="0">
                <a:latin typeface="Times New Roman" panose="02020603050405020304" pitchFamily="18" charset="0"/>
                <a:cs typeface="Times New Roman" panose="02020603050405020304" pitchFamily="18" charset="0"/>
              </a:rPr>
              <a:t>(domain) or –</a:t>
            </a:r>
            <a:r>
              <a:rPr lang="en-US" sz="1600" dirty="0" err="1">
                <a:latin typeface="Times New Roman" panose="02020603050405020304" pitchFamily="18" charset="0"/>
                <a:cs typeface="Times New Roman" panose="02020603050405020304" pitchFamily="18" charset="0"/>
              </a:rPr>
              <a:t>Djboss.server.base.dir</a:t>
            </a:r>
            <a:r>
              <a:rPr lang="en-US" sz="1600" dirty="0">
                <a:latin typeface="Times New Roman" panose="02020603050405020304" pitchFamily="18" charset="0"/>
                <a:cs typeface="Times New Roman" panose="02020603050405020304" pitchFamily="18" charset="0"/>
              </a:rPr>
              <a:t>(standalone)</a:t>
            </a: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Djboss.bind.address.management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Djboss.domain.master.address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Djboss.bind.address</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41916840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i="1" dirty="0">
                <a:solidFill>
                  <a:schemeClr val="accent1">
                    <a:lumMod val="75000"/>
                  </a:schemeClr>
                </a:solidFill>
                <a:latin typeface="Times New Roman" panose="02020603050405020304" pitchFamily="18" charset="0"/>
                <a:cs typeface="Times New Roman" panose="02020603050405020304" pitchFamily="18" charset="0"/>
              </a:rPr>
              <a:t>Domain controller </a:t>
            </a:r>
            <a:r>
              <a:rPr lang="en-US" i="1" dirty="0">
                <a:solidFill>
                  <a:srgbClr val="FF0000"/>
                </a:solidFill>
                <a:latin typeface="Times New Roman" panose="02020603050405020304" pitchFamily="18" charset="0"/>
                <a:cs typeface="Times New Roman" panose="02020603050405020304" pitchFamily="18" charset="0"/>
              </a:rPr>
              <a:t> </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0660541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solidFill>
                  <a:schemeClr val="accent1">
                    <a:lumMod val="75000"/>
                  </a:schemeClr>
                </a:solidFill>
                <a:latin typeface="Times New Roman" panose="02020603050405020304" pitchFamily="18" charset="0"/>
                <a:cs typeface="Times New Roman" panose="02020603050405020304" pitchFamily="18" charset="0"/>
              </a:rPr>
              <a:t>Standalone mode </a:t>
            </a:r>
            <a:endParaRPr lang="en-US" dirty="0"/>
          </a:p>
        </p:txBody>
      </p:sp>
      <p:sp>
        <p:nvSpPr>
          <p:cNvPr id="3" name="Content Placeholder 2"/>
          <p:cNvSpPr>
            <a:spLocks noGrp="1"/>
          </p:cNvSpPr>
          <p:nvPr>
            <p:ph idx="1"/>
          </p:nvPr>
        </p:nvSpPr>
        <p:spPr/>
        <p:txBody>
          <a:bodyPr/>
          <a:lstStyle/>
          <a:p>
            <a:endParaRPr lang="en-US" dirty="0"/>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69366431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solidFill>
                  <a:schemeClr val="accent1">
                    <a:lumMod val="75000"/>
                  </a:schemeClr>
                </a:solidFill>
                <a:latin typeface="Times New Roman" panose="02020603050405020304" pitchFamily="18" charset="0"/>
                <a:cs typeface="Times New Roman" panose="02020603050405020304" pitchFamily="18" charset="0"/>
              </a:rPr>
              <a:t>Domain mode </a:t>
            </a:r>
            <a:endParaRPr lang="en-US" dirty="0"/>
          </a:p>
        </p:txBody>
      </p:sp>
      <p:sp>
        <p:nvSpPr>
          <p:cNvPr id="3" name="Content Placeholder 2"/>
          <p:cNvSpPr>
            <a:spLocks noGrp="1"/>
          </p:cNvSpPr>
          <p:nvPr>
            <p:ph idx="1"/>
          </p:nvPr>
        </p:nvSpPr>
        <p:spPr/>
        <p:txBody>
          <a:bodyPr/>
          <a:lstStyle/>
          <a:p>
            <a:endParaRPr lang="en-US"/>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9310737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latin typeface="Times New Roman" panose="02020603050405020304" pitchFamily="18" charset="0"/>
                <a:cs typeface="Times New Roman" panose="02020603050405020304" pitchFamily="18" charset="0"/>
              </a:rPr>
              <a:t>Jboss</a:t>
            </a:r>
            <a:r>
              <a:rPr lang="en-US" i="1" dirty="0">
                <a:latin typeface="Times New Roman" panose="02020603050405020304" pitchFamily="18" charset="0"/>
                <a:cs typeface="Times New Roman" panose="02020603050405020304" pitchFamily="18" charset="0"/>
              </a:rPr>
              <a:t> EAP Port Offset</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1) </a:t>
            </a:r>
            <a:r>
              <a:rPr lang="en-US" sz="14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How to run multiple standalone instances on a single server or Virtual Machine(VM)?</a:t>
            </a:r>
          </a:p>
          <a:p>
            <a:pPr marL="0" indent="0">
              <a:buNone/>
            </a:pPr>
            <a:r>
              <a:rPr lang="en-US" sz="1400" dirty="0">
                <a:latin typeface="Times New Roman" panose="02020603050405020304" pitchFamily="18" charset="0"/>
                <a:cs typeface="Times New Roman" panose="02020603050405020304" pitchFamily="18" charset="0"/>
              </a:rPr>
              <a:t>We can just copy and paste the standalone </a:t>
            </a:r>
            <a:r>
              <a:rPr lang="en-US" sz="1400" dirty="0" err="1">
                <a:latin typeface="Times New Roman" panose="02020603050405020304" pitchFamily="18" charset="0"/>
                <a:cs typeface="Times New Roman" panose="02020603050405020304" pitchFamily="18" charset="0"/>
              </a:rPr>
              <a:t>dir</a:t>
            </a:r>
            <a:r>
              <a:rPr lang="en-US" sz="1400" dirty="0">
                <a:latin typeface="Times New Roman" panose="02020603050405020304" pitchFamily="18" charset="0"/>
                <a:cs typeface="Times New Roman" panose="02020603050405020304" pitchFamily="18" charset="0"/>
              </a:rPr>
              <a:t> in JBOSS_HOME or in any other location (Need to mention the path in host controller)</a:t>
            </a:r>
          </a:p>
          <a:p>
            <a:pPr marL="0" indent="0">
              <a:buNone/>
            </a:pP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Djboss.domain.base.dir</a:t>
            </a:r>
            <a:r>
              <a:rPr lang="en-US" sz="1400" dirty="0">
                <a:latin typeface="Times New Roman" panose="02020603050405020304" pitchFamily="18" charset="0"/>
                <a:cs typeface="Times New Roman" panose="02020603050405020304" pitchFamily="18" charset="0"/>
              </a:rPr>
              <a:t>=/xxx/ (domain) or –</a:t>
            </a:r>
            <a:r>
              <a:rPr lang="en-US" sz="1400" dirty="0" err="1">
                <a:latin typeface="Times New Roman" panose="02020603050405020304" pitchFamily="18" charset="0"/>
                <a:cs typeface="Times New Roman" panose="02020603050405020304" pitchFamily="18" charset="0"/>
              </a:rPr>
              <a:t>Djboss.server.base.dir</a:t>
            </a:r>
            <a:r>
              <a:rPr lang="en-US" sz="1400" dirty="0">
                <a:latin typeface="Times New Roman" panose="02020603050405020304" pitchFamily="18" charset="0"/>
                <a:cs typeface="Times New Roman" panose="02020603050405020304" pitchFamily="18" charset="0"/>
              </a:rPr>
              <a:t>=/xxx/ (standalone)</a:t>
            </a:r>
          </a:p>
          <a:p>
            <a:pPr marL="0" indent="0">
              <a:buNone/>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2) Why we need to do port offset ?</a:t>
            </a:r>
          </a:p>
          <a:p>
            <a:pPr marL="0" indent="0">
              <a:buNone/>
            </a:pPr>
            <a:r>
              <a:rPr lang="en-US" sz="1400" dirty="0">
                <a:latin typeface="Times New Roman" panose="02020603050405020304" pitchFamily="18" charset="0"/>
                <a:cs typeface="Times New Roman" panose="02020603050405020304" pitchFamily="18" charset="0"/>
              </a:rPr>
              <a:t> To avoid port conflict between multiple instances.</a:t>
            </a:r>
          </a:p>
          <a:p>
            <a:pPr marL="0" indent="0">
              <a:buNone/>
            </a:pP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3) what is vertical scaling ?</a:t>
            </a:r>
          </a:p>
          <a:p>
            <a:pPr marL="0" indent="0">
              <a:buNone/>
            </a:pPr>
            <a:endParaRPr lang="en-US" sz="1400" dirty="0">
              <a:latin typeface="Times New Roman" panose="02020603050405020304" pitchFamily="18" charset="0"/>
              <a:cs typeface="Times New Roman" panose="02020603050405020304" pitchFamily="18" charset="0"/>
            </a:endParaRPr>
          </a:p>
          <a:p>
            <a:pPr lvl="0"/>
            <a:r>
              <a:rPr lang="en-US" sz="1400" dirty="0">
                <a:solidFill>
                  <a:prstClr val="black"/>
                </a:solidFill>
                <a:latin typeface="Times New Roman" panose="02020603050405020304" pitchFamily="18" charset="0"/>
                <a:cs typeface="Times New Roman" panose="02020603050405020304" pitchFamily="18" charset="0"/>
              </a:rPr>
              <a:t>4) what is horizontal  scaling ?</a:t>
            </a:r>
          </a:p>
          <a:p>
            <a:pPr marL="0" indent="0">
              <a:buNone/>
            </a:pPr>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40562471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i="1" dirty="0" err="1">
                <a:solidFill>
                  <a:schemeClr val="accent1">
                    <a:lumMod val="75000"/>
                  </a:schemeClr>
                </a:solidFill>
                <a:latin typeface="Times New Roman" panose="02020603050405020304" pitchFamily="18" charset="0"/>
                <a:cs typeface="Times New Roman" panose="02020603050405020304" pitchFamily="18" charset="0"/>
              </a:rPr>
              <a:t>Jboss</a:t>
            </a:r>
            <a:r>
              <a:rPr lang="en-US" i="1" dirty="0">
                <a:solidFill>
                  <a:schemeClr val="accent1">
                    <a:lumMod val="75000"/>
                  </a:schemeClr>
                </a:solidFill>
                <a:latin typeface="Times New Roman" panose="02020603050405020304" pitchFamily="18" charset="0"/>
                <a:cs typeface="Times New Roman" panose="02020603050405020304" pitchFamily="18" charset="0"/>
              </a:rPr>
              <a:t> CLI</a:t>
            </a:r>
            <a:r>
              <a:rPr lang="en-US" i="1" dirty="0">
                <a:solidFill>
                  <a:srgbClr val="FF0000"/>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normAutofit/>
          </a:bodyPr>
          <a:lstStyle/>
          <a:p>
            <a:r>
              <a:rPr lang="en-US" sz="1600" dirty="0">
                <a:latin typeface="Times New Roman" panose="02020603050405020304" pitchFamily="18" charset="0"/>
                <a:cs typeface="Times New Roman" panose="02020603050405020304" pitchFamily="18" charset="0"/>
              </a:rPr>
              <a:t>./jboss-cli.sh --connect --controller=10.108.206.172</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5210594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Startup Script </a:t>
            </a:r>
            <a:endParaRPr lang="en-US" dirty="0"/>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We should mention Cluster name and server names.</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8401663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jstack</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jmap</a:t>
            </a:r>
            <a:r>
              <a:rPr lang="en-US" dirty="0">
                <a:latin typeface="Times New Roman" panose="02020603050405020304" pitchFamily="18" charset="0"/>
                <a:cs typeface="Times New Roman" panose="02020603050405020304" pitchFamily="18" charset="0"/>
              </a:rPr>
              <a:t> command  </a:t>
            </a:r>
            <a:endParaRPr lang="en-US" dirty="0"/>
          </a:p>
        </p:txBody>
      </p:sp>
      <p:sp>
        <p:nvSpPr>
          <p:cNvPr id="3" name="Content Placeholder 2"/>
          <p:cNvSpPr>
            <a:spLocks noGrp="1"/>
          </p:cNvSpPr>
          <p:nvPr>
            <p:ph idx="1"/>
          </p:nvPr>
        </p:nvSpPr>
        <p:spPr/>
        <p:txBody>
          <a:bodyPr>
            <a:normAutofit/>
          </a:bodyPr>
          <a:lstStyle/>
          <a:p>
            <a:r>
              <a:rPr lang="en-US" sz="1400" dirty="0" err="1">
                <a:latin typeface="Times New Roman" panose="02020603050405020304" pitchFamily="18" charset="0"/>
                <a:cs typeface="Times New Roman" panose="02020603050405020304" pitchFamily="18" charset="0"/>
              </a:rPr>
              <a:t>Jmap</a:t>
            </a:r>
            <a:r>
              <a:rPr lang="en-US" sz="1400" dirty="0">
                <a:latin typeface="Times New Roman" panose="02020603050405020304" pitchFamily="18" charset="0"/>
                <a:cs typeface="Times New Roman" panose="02020603050405020304" pitchFamily="18" charset="0"/>
              </a:rPr>
              <a:t> –j –d64 –</a:t>
            </a:r>
            <a:r>
              <a:rPr lang="en-US" sz="1400" dirty="0" err="1">
                <a:latin typeface="Times New Roman" panose="02020603050405020304" pitchFamily="18" charset="0"/>
                <a:cs typeface="Times New Roman" panose="02020603050405020304" pitchFamily="18" charset="0"/>
              </a:rPr>
              <a:t>dump:live,format</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b,file</a:t>
            </a:r>
            <a:r>
              <a:rPr lang="en-US" sz="1400" dirty="0">
                <a:latin typeface="Times New Roman" panose="02020603050405020304" pitchFamily="18" charset="0"/>
                <a:cs typeface="Times New Roman" panose="02020603050405020304" pitchFamily="18" charset="0"/>
              </a:rPr>
              <a:t>=/app/share/date/</a:t>
            </a:r>
          </a:p>
          <a:p>
            <a:r>
              <a:rPr lang="en-US" sz="1400" dirty="0" err="1">
                <a:latin typeface="Times New Roman" panose="02020603050405020304" pitchFamily="18" charset="0"/>
                <a:cs typeface="Times New Roman" panose="02020603050405020304" pitchFamily="18" charset="0"/>
              </a:rPr>
              <a:t>Jstack</a:t>
            </a:r>
            <a:r>
              <a:rPr lang="en-US" sz="1400" dirty="0">
                <a:latin typeface="Times New Roman" panose="02020603050405020304" pitchFamily="18" charset="0"/>
                <a:cs typeface="Times New Roman" panose="02020603050405020304" pitchFamily="18" charset="0"/>
              </a:rPr>
              <a:t> port number</a:t>
            </a:r>
          </a:p>
          <a:p>
            <a:r>
              <a:rPr lang="en-US" sz="1400" dirty="0" err="1">
                <a:latin typeface="Times New Roman" panose="02020603050405020304" pitchFamily="18" charset="0"/>
                <a:cs typeface="Times New Roman" panose="02020603050405020304" pitchFamily="18" charset="0"/>
              </a:rPr>
              <a:t>Jstack</a:t>
            </a:r>
            <a:r>
              <a:rPr lang="en-US" sz="1400" dirty="0">
                <a:latin typeface="Times New Roman" panose="02020603050405020304" pitchFamily="18" charset="0"/>
                <a:cs typeface="Times New Roman" panose="02020603050405020304" pitchFamily="18" charset="0"/>
              </a:rPr>
              <a:t> thread dump</a:t>
            </a:r>
          </a:p>
          <a:p>
            <a:r>
              <a:rPr lang="en-US" sz="1400" dirty="0" err="1">
                <a:latin typeface="Times New Roman" panose="02020603050405020304" pitchFamily="18" charset="0"/>
                <a:cs typeface="Times New Roman" panose="02020603050405020304" pitchFamily="18" charset="0"/>
              </a:rPr>
              <a:t>Jmap</a:t>
            </a:r>
            <a:r>
              <a:rPr lang="en-US" sz="1400" dirty="0">
                <a:latin typeface="Times New Roman" panose="02020603050405020304" pitchFamily="18" charset="0"/>
                <a:cs typeface="Times New Roman" panose="02020603050405020304" pitchFamily="18" charset="0"/>
              </a:rPr>
              <a:t> heap dump.</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is Thread dump?</a:t>
            </a:r>
          </a:p>
          <a:p>
            <a:r>
              <a:rPr lang="en-US" sz="1400" dirty="0">
                <a:latin typeface="Times New Roman" panose="02020603050405020304" pitchFamily="18" charset="0"/>
                <a:cs typeface="Times New Roman" panose="02020603050405020304" pitchFamily="18" charset="0"/>
              </a:rPr>
              <a:t>It’s a snapshot of all the running processes.</a:t>
            </a:r>
          </a:p>
          <a:p>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What is heap dump?</a:t>
            </a:r>
          </a:p>
          <a:p>
            <a:r>
              <a:rPr lang="en-US" sz="1400" dirty="0">
                <a:latin typeface="Times New Roman" panose="02020603050405020304" pitchFamily="18" charset="0"/>
                <a:cs typeface="Times New Roman" panose="02020603050405020304" pitchFamily="18" charset="0"/>
              </a:rPr>
              <a:t>It’s snapshot of the memory of a java. It contains the information about java objects and classes.</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3420462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Xauth</a:t>
            </a:r>
            <a:r>
              <a:rPr lang="en-US" dirty="0">
                <a:latin typeface="Times New Roman" panose="02020603050405020304" pitchFamily="18" charset="0"/>
                <a:cs typeface="Times New Roman" panose="02020603050405020304" pitchFamily="18" charset="0"/>
              </a:rPr>
              <a:t> add    </a:t>
            </a:r>
          </a:p>
        </p:txBody>
      </p:sp>
      <p:sp>
        <p:nvSpPr>
          <p:cNvPr id="3" name="Content Placeholder 2"/>
          <p:cNvSpPr>
            <a:spLocks noGrp="1"/>
          </p:cNvSpPr>
          <p:nvPr>
            <p:ph idx="1"/>
          </p:nvPr>
        </p:nvSpPr>
        <p:spPr/>
        <p:txBody>
          <a:bodyPr/>
          <a:lstStyle/>
          <a:p>
            <a:r>
              <a:rPr lang="en-US" dirty="0" err="1">
                <a:latin typeface="Times New Roman" panose="02020603050405020304" pitchFamily="18" charset="0"/>
                <a:cs typeface="Times New Roman" panose="02020603050405020304" pitchFamily="18" charset="0"/>
              </a:rPr>
              <a:t>xauth</a:t>
            </a:r>
            <a:r>
              <a:rPr lang="en-US" dirty="0">
                <a:latin typeface="Times New Roman" panose="02020603050405020304" pitchFamily="18" charset="0"/>
                <a:cs typeface="Times New Roman" panose="02020603050405020304" pitchFamily="18" charset="0"/>
              </a:rPr>
              <a:t> list(copy the code)</a:t>
            </a:r>
          </a:p>
          <a:p>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jdmin</a:t>
            </a:r>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xauth</a:t>
            </a:r>
            <a:r>
              <a:rPr lang="en-US" dirty="0">
                <a:latin typeface="Times New Roman" panose="02020603050405020304" pitchFamily="18" charset="0"/>
                <a:cs typeface="Times New Roman" panose="02020603050405020304" pitchFamily="18" charset="0"/>
              </a:rPr>
              <a:t> add (paste the code)</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46821835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Times New Roman" panose="02020603050405020304" pitchFamily="18" charset="0"/>
                <a:cs typeface="Times New Roman" panose="02020603050405020304" pitchFamily="18" charset="0"/>
              </a:rPr>
              <a:t>Directory Structure in </a:t>
            </a:r>
            <a:r>
              <a:rPr lang="en-US" i="1" dirty="0" err="1">
                <a:latin typeface="Times New Roman" panose="02020603050405020304" pitchFamily="18" charset="0"/>
                <a:cs typeface="Times New Roman" panose="02020603050405020304" pitchFamily="18" charset="0"/>
              </a:rPr>
              <a:t>Jboss</a:t>
            </a:r>
            <a:r>
              <a:rPr lang="en-US" i="1" dirty="0">
                <a:latin typeface="Times New Roman" panose="02020603050405020304" pitchFamily="18" charset="0"/>
                <a:cs typeface="Times New Roman" panose="02020603050405020304" pitchFamily="18" charset="0"/>
              </a:rPr>
              <a:t> EAP </a:t>
            </a:r>
            <a:endParaRPr lang="en-US" sz="2400" i="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7) What is the directory structure in </a:t>
            </a:r>
            <a:r>
              <a:rPr lang="en-US" dirty="0" err="1">
                <a:latin typeface="Times New Roman" panose="02020603050405020304" pitchFamily="18" charset="0"/>
                <a:cs typeface="Times New Roman" panose="02020603050405020304" pitchFamily="18" charset="0"/>
              </a:rPr>
              <a:t>JBoss</a:t>
            </a:r>
            <a:r>
              <a:rPr lang="en-US"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The following directories are available after </a:t>
            </a:r>
            <a:r>
              <a:rPr lang="en-US" sz="1600" dirty="0" err="1">
                <a:latin typeface="Times New Roman" panose="02020603050405020304" pitchFamily="18" charset="0"/>
                <a:cs typeface="Times New Roman" panose="02020603050405020304" pitchFamily="18" charset="0"/>
              </a:rPr>
              <a:t>JBoss</a:t>
            </a:r>
            <a:r>
              <a:rPr lang="en-US" sz="1600" dirty="0">
                <a:latin typeface="Times New Roman" panose="02020603050405020304" pitchFamily="18" charset="0"/>
                <a:cs typeface="Times New Roman" panose="02020603050405020304" pitchFamily="18" charset="0"/>
              </a:rPr>
              <a:t> is installed.</a:t>
            </a:r>
          </a:p>
          <a:p>
            <a:pPr marL="0" indent="0">
              <a:buNone/>
            </a:pPr>
            <a:r>
              <a:rPr lang="en-US" sz="1600" dirty="0">
                <a:latin typeface="Times New Roman" panose="02020603050405020304" pitchFamily="18" charset="0"/>
                <a:cs typeface="Times New Roman" panose="02020603050405020304" pitchFamily="18" charset="0"/>
              </a:rPr>
              <a:t>modules</a:t>
            </a:r>
          </a:p>
          <a:p>
            <a:pPr marL="0" indent="0">
              <a:buNone/>
            </a:pPr>
            <a:r>
              <a:rPr lang="en-US" sz="1600" dirty="0">
                <a:latin typeface="Times New Roman" panose="02020603050405020304" pitchFamily="18" charset="0"/>
                <a:cs typeface="Times New Roman" panose="02020603050405020304" pitchFamily="18" charset="0"/>
              </a:rPr>
              <a:t>bundles</a:t>
            </a:r>
          </a:p>
          <a:p>
            <a:pPr marL="0" indent="0">
              <a:buNone/>
            </a:pPr>
            <a:r>
              <a:rPr lang="en-US" sz="1600" dirty="0">
                <a:latin typeface="Times New Roman" panose="02020603050405020304" pitchFamily="18" charset="0"/>
                <a:cs typeface="Times New Roman" panose="02020603050405020304" pitchFamily="18" charset="0"/>
              </a:rPr>
              <a:t>domain</a:t>
            </a:r>
          </a:p>
          <a:p>
            <a:pPr marL="0" indent="0">
              <a:buNone/>
            </a:pPr>
            <a:r>
              <a:rPr lang="en-US" sz="1600" dirty="0">
                <a:latin typeface="Times New Roman" panose="02020603050405020304" pitchFamily="18" charset="0"/>
                <a:cs typeface="Times New Roman" panose="02020603050405020304" pitchFamily="18" charset="0"/>
              </a:rPr>
              <a:t>standalone</a:t>
            </a:r>
          </a:p>
          <a:p>
            <a:pPr marL="0" indent="0">
              <a:buNone/>
            </a:pPr>
            <a:r>
              <a:rPr lang="en-US" sz="1600" dirty="0" err="1">
                <a:latin typeface="Times New Roman" panose="02020603050405020304" pitchFamily="18" charset="0"/>
                <a:cs typeface="Times New Roman" panose="02020603050405020304" pitchFamily="18" charset="0"/>
              </a:rPr>
              <a:t>appclient</a:t>
            </a:r>
            <a:endParaRPr lang="en-US" sz="1600" dirty="0">
              <a:latin typeface="Times New Roman" panose="02020603050405020304" pitchFamily="18" charset="0"/>
              <a:cs typeface="Times New Roman" panose="02020603050405020304" pitchFamily="18" charset="0"/>
            </a:endParaRPr>
          </a:p>
          <a:p>
            <a:pPr marL="0" indent="0">
              <a:buNone/>
            </a:pPr>
            <a:r>
              <a:rPr lang="en-US" sz="1600" dirty="0">
                <a:latin typeface="Times New Roman" panose="02020603050405020304" pitchFamily="18" charset="0"/>
                <a:cs typeface="Times New Roman" panose="02020603050405020304" pitchFamily="18" charset="0"/>
              </a:rPr>
              <a:t>bin</a:t>
            </a:r>
          </a:p>
          <a:p>
            <a:pPr marL="0" indent="0">
              <a:buNone/>
            </a:pPr>
            <a:r>
              <a:rPr lang="en-US" sz="1600" dirty="0">
                <a:latin typeface="Times New Roman" panose="02020603050405020304" pitchFamily="18" charset="0"/>
                <a:cs typeface="Times New Roman" panose="02020603050405020304" pitchFamily="18" charset="0"/>
              </a:rPr>
              <a:t>docs</a:t>
            </a:r>
          </a:p>
          <a:p>
            <a:pPr marL="0" indent="0">
              <a:buNone/>
            </a:pPr>
            <a:r>
              <a:rPr lang="en-US" sz="1600" dirty="0">
                <a:latin typeface="Times New Roman" panose="02020603050405020304" pitchFamily="18" charset="0"/>
                <a:cs typeface="Times New Roman" panose="02020603050405020304" pitchFamily="18" charset="0"/>
              </a:rPr>
              <a:t>welcome-content</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23853099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Times New Roman" panose="02020603050405020304" pitchFamily="18" charset="0"/>
                <a:cs typeface="Times New Roman" panose="02020603050405020304" pitchFamily="18" charset="0"/>
              </a:rPr>
              <a:t>JMS Concept </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0099258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Times New Roman" panose="02020603050405020304" pitchFamily="18" charset="0"/>
                <a:cs typeface="Times New Roman" panose="02020603050405020304" pitchFamily="18" charset="0"/>
              </a:rPr>
              <a:t>JMS Concept</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6389545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XA &amp; Non-</a:t>
            </a:r>
            <a:r>
              <a:rPr lang="en-US" dirty="0" err="1">
                <a:latin typeface="Times New Roman" panose="02020603050405020304" pitchFamily="18" charset="0"/>
                <a:cs typeface="Times New Roman" panose="02020603050405020304" pitchFamily="18" charset="0"/>
              </a:rPr>
              <a:t>Xa</a:t>
            </a:r>
            <a:r>
              <a:rPr lang="en-US" dirty="0">
                <a:latin typeface="Times New Roman" panose="02020603050405020304" pitchFamily="18" charset="0"/>
                <a:cs typeface="Times New Roman" panose="02020603050405020304" pitchFamily="18" charset="0"/>
              </a:rPr>
              <a:t> Transactions</a:t>
            </a:r>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83983839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latin typeface="Times New Roman" panose="02020603050405020304" pitchFamily="18" charset="0"/>
                <a:cs typeface="Times New Roman" panose="02020603050405020304" pitchFamily="18" charset="0"/>
              </a:rPr>
              <a:t>Firewall and load balancer </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3759762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err="1">
                <a:latin typeface="Times New Roman" panose="02020603050405020304" pitchFamily="18" charset="0"/>
                <a:cs typeface="Times New Roman" panose="02020603050405020304" pitchFamily="18" charset="0"/>
              </a:rPr>
              <a:t>Siteminder</a:t>
            </a:r>
            <a:r>
              <a:rPr lang="en-US" i="1" dirty="0">
                <a:latin typeface="Times New Roman" panose="02020603050405020304" pitchFamily="18" charset="0"/>
                <a:cs typeface="Times New Roman" panose="02020603050405020304" pitchFamily="18" charset="0"/>
              </a:rPr>
              <a:t> </a:t>
            </a:r>
            <a:endParaRPr lang="en-US" dirty="0"/>
          </a:p>
        </p:txBody>
      </p:sp>
      <p:sp>
        <p:nvSpPr>
          <p:cNvPr id="3" name="Content Placeholder 2"/>
          <p:cNvSpPr>
            <a:spLocks noGrp="1"/>
          </p:cNvSpPr>
          <p:nvPr>
            <p:ph idx="1"/>
          </p:nvPr>
        </p:nvSpPr>
        <p:spPr/>
        <p:txBody>
          <a:bodyPr/>
          <a:lstStyle/>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3086939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Akana</a:t>
            </a:r>
            <a:r>
              <a:rPr lang="en-US" dirty="0">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endParaRPr lang="en-US" dirty="0"/>
          </a:p>
          <a:p>
            <a:endParaRPr lang="en-US" dirty="0"/>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0883833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Dynatrace</a:t>
            </a:r>
            <a:r>
              <a:rPr lang="en-US" dirty="0">
                <a:latin typeface="Times New Roman" panose="02020603050405020304" pitchFamily="18" charset="0"/>
                <a:cs typeface="Times New Roman" panose="02020603050405020304" pitchFamily="18" charset="0"/>
              </a:rPr>
              <a:t> </a:t>
            </a:r>
            <a:r>
              <a:rPr lang="en-US" sz="2400" i="1" dirty="0">
                <a:solidFill>
                  <a:srgbClr val="FF0000"/>
                </a:solidFill>
                <a:latin typeface="Times New Roman" panose="02020603050405020304" pitchFamily="18" charset="0"/>
                <a:cs typeface="Times New Roman" panose="02020603050405020304" pitchFamily="18" charset="0"/>
              </a:rPr>
              <a:t>05/22/2017</a:t>
            </a:r>
            <a:endParaRPr lang="en-US" dirty="0"/>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Dashboard , new , use for analysis, transaction flow, enable tick mark then click on last 30 minutes.  Select auto , select custom in dropdown </a:t>
            </a:r>
          </a:p>
        </p:txBody>
      </p:sp>
    </p:spTree>
    <p:extLst>
      <p:ext uri="{BB962C8B-B14F-4D97-AF65-F5344CB8AC3E}">
        <p14:creationId xmlns:p14="http://schemas.microsoft.com/office/powerpoint/2010/main" val="15874276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XYZ </a:t>
            </a:r>
            <a:endParaRPr lang="en-US" dirty="0"/>
          </a:p>
        </p:txBody>
      </p:sp>
      <p:sp>
        <p:nvSpPr>
          <p:cNvPr id="3" name="Content Placeholder 2"/>
          <p:cNvSpPr>
            <a:spLocks noGrp="1"/>
          </p:cNvSpPr>
          <p:nvPr>
            <p:ph idx="1"/>
          </p:nvPr>
        </p:nvSpPr>
        <p:spPr/>
        <p:txBody>
          <a:bodyPr>
            <a:normAutofit/>
          </a:bodyPr>
          <a:lstStyle/>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2346792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XYZ </a:t>
            </a:r>
            <a:endParaRPr lang="en-US" dirty="0"/>
          </a:p>
        </p:txBody>
      </p:sp>
      <p:sp>
        <p:nvSpPr>
          <p:cNvPr id="3" name="Content Placeholder 2"/>
          <p:cNvSpPr>
            <a:spLocks noGrp="1"/>
          </p:cNvSpPr>
          <p:nvPr>
            <p:ph idx="1"/>
          </p:nvPr>
        </p:nvSpPr>
        <p:spPr/>
        <p:txBody>
          <a:bodyPr>
            <a:normAutofit/>
          </a:bodyPr>
          <a:lstStyle/>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4393647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SSL(Secure Socket Layer)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Why SSL?</a:t>
            </a:r>
          </a:p>
          <a:p>
            <a:r>
              <a:rPr lang="en-US" dirty="0">
                <a:latin typeface="Times New Roman" panose="02020603050405020304" pitchFamily="18" charset="0"/>
                <a:cs typeface="Times New Roman" panose="02020603050405020304" pitchFamily="18" charset="0"/>
              </a:rPr>
              <a:t>Trust and encryption </a:t>
            </a:r>
          </a:p>
          <a:p>
            <a:r>
              <a:rPr lang="en-US" dirty="0">
                <a:latin typeface="Times New Roman" panose="02020603050405020304" pitchFamily="18" charset="0"/>
                <a:cs typeface="Times New Roman" panose="02020603050405020304" pitchFamily="18" charset="0"/>
              </a:rPr>
              <a:t>Secure </a:t>
            </a:r>
            <a:r>
              <a:rPr lang="en-US" dirty="0" err="1">
                <a:latin typeface="Times New Roman" panose="02020603050405020304" pitchFamily="18" charset="0"/>
                <a:cs typeface="Times New Roman" panose="02020603050405020304" pitchFamily="18" charset="0"/>
              </a:rPr>
              <a:t>Keystore</a:t>
            </a:r>
            <a:r>
              <a:rPr lang="en-US" dirty="0">
                <a:latin typeface="Times New Roman" panose="02020603050405020304" pitchFamily="18" charset="0"/>
                <a:cs typeface="Times New Roman" panose="02020603050405020304" pitchFamily="18" charset="0"/>
              </a:rPr>
              <a:t>(need to place the certificate in </a:t>
            </a:r>
            <a:r>
              <a:rPr lang="en-US" dirty="0" err="1">
                <a:latin typeface="Times New Roman" panose="02020603050405020304" pitchFamily="18" charset="0"/>
                <a:cs typeface="Times New Roman" panose="02020603050405020304" pitchFamily="18" charset="0"/>
              </a:rPr>
              <a:t>keystore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Browser checks weather the request is valid or not.</a:t>
            </a:r>
          </a:p>
          <a:p>
            <a:r>
              <a:rPr lang="en-US" dirty="0">
                <a:latin typeface="Times New Roman" panose="02020603050405020304" pitchFamily="18" charset="0"/>
                <a:cs typeface="Times New Roman" panose="02020603050405020304" pitchFamily="18" charset="0"/>
              </a:rPr>
              <a:t>Source identification</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42210537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SSL Certificate </a:t>
            </a:r>
            <a:r>
              <a:rPr lang="en-US" sz="2400" i="1" dirty="0">
                <a:solidFill>
                  <a:srgbClr val="FF0000"/>
                </a:solidFill>
                <a:latin typeface="Times New Roman" panose="02020603050405020304" pitchFamily="18" charset="0"/>
                <a:cs typeface="Times New Roman" panose="02020603050405020304" pitchFamily="18" charset="0"/>
              </a:rPr>
              <a:t/>
            </a:r>
            <a:br>
              <a:rPr lang="en-US" sz="2400" i="1" dirty="0">
                <a:solidFill>
                  <a:srgbClr val="FF0000"/>
                </a:solidFill>
                <a:latin typeface="Times New Roman" panose="02020603050405020304" pitchFamily="18" charset="0"/>
                <a:cs typeface="Times New Roman" panose="02020603050405020304" pitchFamily="18" charset="0"/>
              </a:rPr>
            </a:br>
            <a:r>
              <a:rPr lang="en-US" sz="2400" i="1" dirty="0">
                <a:solidFill>
                  <a:srgbClr val="FF0000"/>
                </a:solidFill>
                <a:latin typeface="Times New Roman" panose="02020603050405020304" pitchFamily="18" charset="0"/>
                <a:cs typeface="Times New Roman" panose="02020603050405020304" pitchFamily="18" charset="0"/>
                <a:hlinkClick r:id="rId2"/>
              </a:rPr>
              <a:t>http://www.entrust.net/knowledge-base/technote.cfm?tn=7598</a:t>
            </a:r>
            <a:r>
              <a:rPr lang="en-US" sz="2400" i="1" dirty="0">
                <a:solidFill>
                  <a:srgbClr val="FF0000"/>
                </a:solidFill>
                <a:latin typeface="Times New Roman" panose="02020603050405020304" pitchFamily="18" charset="0"/>
                <a:cs typeface="Times New Roman" panose="02020603050405020304" pitchFamily="18" charset="0"/>
              </a:rPr>
              <a:t> </a:t>
            </a:r>
            <a:endParaRPr lang="en-US" dirty="0"/>
          </a:p>
        </p:txBody>
      </p:sp>
      <p:sp>
        <p:nvSpPr>
          <p:cNvPr id="3" name="Content Placeholder 2"/>
          <p:cNvSpPr>
            <a:spLocks noGrp="1"/>
          </p:cNvSpPr>
          <p:nvPr>
            <p:ph idx="1"/>
          </p:nvPr>
        </p:nvSpPr>
        <p:spPr/>
        <p:txBody>
          <a:bodyPr>
            <a:noAutofit/>
          </a:bodyPr>
          <a:lstStyle/>
          <a:p>
            <a:r>
              <a:rPr lang="en-US" sz="1400" dirty="0">
                <a:latin typeface="Times New Roman" panose="02020603050405020304" pitchFamily="18" charset="0"/>
                <a:cs typeface="Times New Roman" panose="02020603050405020304" pitchFamily="18" charset="0"/>
              </a:rPr>
              <a:t>The installation is in four parts</a:t>
            </a:r>
          </a:p>
          <a:p>
            <a:r>
              <a:rPr lang="en-US" sz="1400" dirty="0">
                <a:latin typeface="Times New Roman" panose="02020603050405020304" pitchFamily="18" charset="0"/>
                <a:cs typeface="Times New Roman" panose="02020603050405020304" pitchFamily="18" charset="0"/>
              </a:rPr>
              <a:t>1) Copy the certificate files to your server</a:t>
            </a:r>
          </a:p>
          <a:p>
            <a:r>
              <a:rPr lang="en-US" sz="1400" dirty="0">
                <a:latin typeface="Times New Roman" panose="02020603050405020304" pitchFamily="18" charset="0"/>
                <a:cs typeface="Times New Roman" panose="02020603050405020304" pitchFamily="18" charset="0"/>
              </a:rPr>
              <a:t>2) Configure the Apache server to point  to certificate files</a:t>
            </a:r>
          </a:p>
          <a:p>
            <a:r>
              <a:rPr lang="en-US" sz="1400" dirty="0">
                <a:latin typeface="Times New Roman" panose="02020603050405020304" pitchFamily="18" charset="0"/>
                <a:cs typeface="Times New Roman" panose="02020603050405020304" pitchFamily="18" charset="0"/>
              </a:rPr>
              <a:t>3) Test the configuration was successful</a:t>
            </a:r>
          </a:p>
          <a:p>
            <a:r>
              <a:rPr lang="en-US" sz="1400" dirty="0">
                <a:latin typeface="Times New Roman" panose="02020603050405020304" pitchFamily="18" charset="0"/>
                <a:cs typeface="Times New Roman" panose="02020603050405020304" pitchFamily="18" charset="0"/>
              </a:rPr>
              <a:t>4) Restart the Apache server</a:t>
            </a:r>
          </a:p>
          <a:p>
            <a:r>
              <a:rPr lang="en-US" sz="1400" b="1" dirty="0">
                <a:solidFill>
                  <a:schemeClr val="accent1">
                    <a:lumMod val="75000"/>
                  </a:schemeClr>
                </a:solidFill>
                <a:latin typeface="Times New Roman" panose="02020603050405020304" pitchFamily="18" charset="0"/>
                <a:cs typeface="Times New Roman" panose="02020603050405020304" pitchFamily="18" charset="0"/>
              </a:rPr>
              <a:t>Part 1 of 4: Copy the certificate files to your server</a:t>
            </a:r>
          </a:p>
          <a:p>
            <a:r>
              <a:rPr lang="en-US" sz="1400" dirty="0">
                <a:latin typeface="Times New Roman" panose="02020603050405020304" pitchFamily="18" charset="0"/>
                <a:cs typeface="Times New Roman" panose="02020603050405020304" pitchFamily="18" charset="0"/>
              </a:rPr>
              <a:t>1. Click the Download button in the pickup wizard to download your certificate files. Clicking the download button will produce a zip file that contains the following files:</a:t>
            </a:r>
          </a:p>
          <a:p>
            <a:r>
              <a:rPr lang="en-US" sz="1400" dirty="0">
                <a:latin typeface="Times New Roman" panose="02020603050405020304" pitchFamily="18" charset="0"/>
                <a:cs typeface="Times New Roman" panose="02020603050405020304" pitchFamily="18" charset="0"/>
              </a:rPr>
              <a:t>ServerCertificate.crt: Your signed SSL/TLS certificate</a:t>
            </a:r>
          </a:p>
          <a:p>
            <a:r>
              <a:rPr lang="en-US" sz="1400" dirty="0">
                <a:latin typeface="Times New Roman" panose="02020603050405020304" pitchFamily="18" charset="0"/>
                <a:cs typeface="Times New Roman" panose="02020603050405020304" pitchFamily="18" charset="0"/>
              </a:rPr>
              <a:t>ChainBundle2.crt: The Entrust Certificate chain files</a:t>
            </a:r>
          </a:p>
          <a:p>
            <a:r>
              <a:rPr lang="en-US" sz="1400" dirty="0">
                <a:latin typeface="Times New Roman" panose="02020603050405020304" pitchFamily="18" charset="0"/>
                <a:cs typeface="Times New Roman" panose="02020603050405020304" pitchFamily="18" charset="0"/>
              </a:rPr>
              <a:t>2. Once the files have been extracted from the zip file, copy the files into a directory where you will store your certificate files on your server. Make sure you include your private key file that was generated when your created your CSR, as this will be required to configure SSL/TLS on your Apache server.</a:t>
            </a: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03870466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1852" y="60435"/>
            <a:ext cx="11804374" cy="6578904"/>
          </a:xfrm>
        </p:spPr>
        <p:txBody>
          <a:bodyPr>
            <a:noAutofit/>
          </a:bodyPr>
          <a:lstStyle/>
          <a:p>
            <a:r>
              <a:rPr lang="en-US" sz="1400" b="1" dirty="0">
                <a:solidFill>
                  <a:schemeClr val="accent1">
                    <a:lumMod val="75000"/>
                  </a:schemeClr>
                </a:solidFill>
                <a:latin typeface="Times New Roman" panose="02020603050405020304" pitchFamily="18" charset="0"/>
                <a:cs typeface="Times New Roman" panose="02020603050405020304" pitchFamily="18" charset="0"/>
              </a:rPr>
              <a:t>Part 2 of 4: Configure Apache server to point to certificate files</a:t>
            </a:r>
          </a:p>
          <a:p>
            <a:r>
              <a:rPr lang="en-US" sz="1400" dirty="0">
                <a:latin typeface="Times New Roman" panose="02020603050405020304" pitchFamily="18" charset="0"/>
                <a:cs typeface="Times New Roman" panose="02020603050405020304" pitchFamily="18" charset="0"/>
              </a:rPr>
              <a:t>1. Open your Apache server configuration file and locate the virtual host entry for the website that will use the certificate. The location of the configuration file may vary depending on the Apache distribution and server Operating System. Look for the following directories and files on your server:</a:t>
            </a:r>
          </a:p>
          <a:p>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httpd</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conf</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httpd.conf</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etc</a:t>
            </a:r>
            <a:r>
              <a:rPr lang="en-US" sz="1400" dirty="0">
                <a:latin typeface="Times New Roman" panose="02020603050405020304" pitchFamily="18" charset="0"/>
                <a:cs typeface="Times New Roman" panose="02020603050405020304" pitchFamily="18" charset="0"/>
              </a:rPr>
              <a:t>/apache2/apache2.conf</a:t>
            </a:r>
          </a:p>
          <a:p>
            <a:r>
              <a:rPr lang="en-US" sz="1400" dirty="0" err="1">
                <a:latin typeface="Times New Roman" panose="02020603050405020304" pitchFamily="18" charset="0"/>
                <a:cs typeface="Times New Roman" panose="02020603050405020304" pitchFamily="18" charset="0"/>
              </a:rPr>
              <a:t>httpd-ssl.conf</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ssl.conf</a:t>
            </a:r>
            <a:endParaRPr lang="en-US" sz="1400" dirty="0">
              <a:latin typeface="Times New Roman" panose="02020603050405020304" pitchFamily="18" charset="0"/>
              <a:cs typeface="Times New Roman" panose="02020603050405020304" pitchFamily="18" charset="0"/>
            </a:endParaRPr>
          </a:p>
          <a:p>
            <a:pPr lvl="0"/>
            <a:r>
              <a:rPr lang="en-US" sz="1400" dirty="0">
                <a:solidFill>
                  <a:prstClr val="black"/>
                </a:solidFill>
                <a:latin typeface="Times New Roman" panose="02020603050405020304" pitchFamily="18" charset="0"/>
                <a:cs typeface="Times New Roman" panose="02020603050405020304" pitchFamily="18" charset="0"/>
              </a:rPr>
              <a:t>2. In the "Virtual Host" section, add the directives shown in bold below if they are not already included in the configuration file. If these directives are already included, simply modify the file so that each directive is pointing to the new server certificate, certificate chain, and private key files.</a:t>
            </a:r>
          </a:p>
          <a:p>
            <a:pPr lvl="0"/>
            <a:r>
              <a:rPr lang="en-US" sz="1400" dirty="0">
                <a:solidFill>
                  <a:prstClr val="black"/>
                </a:solidFill>
                <a:latin typeface="Times New Roman" panose="02020603050405020304" pitchFamily="18" charset="0"/>
                <a:cs typeface="Times New Roman" panose="02020603050405020304" pitchFamily="18" charset="0"/>
              </a:rPr>
              <a:t>&lt;</a:t>
            </a:r>
            <a:r>
              <a:rPr lang="en-US" sz="1400" dirty="0" err="1">
                <a:solidFill>
                  <a:prstClr val="black"/>
                </a:solidFill>
                <a:latin typeface="Times New Roman" panose="02020603050405020304" pitchFamily="18" charset="0"/>
                <a:cs typeface="Times New Roman" panose="02020603050405020304" pitchFamily="18" charset="0"/>
              </a:rPr>
              <a:t>VirtualHost</a:t>
            </a:r>
            <a:r>
              <a:rPr lang="en-US" sz="1400" dirty="0">
                <a:solidFill>
                  <a:prstClr val="black"/>
                </a:solidFill>
                <a:latin typeface="Times New Roman" panose="02020603050405020304" pitchFamily="18" charset="0"/>
                <a:cs typeface="Times New Roman" panose="02020603050405020304" pitchFamily="18" charset="0"/>
              </a:rPr>
              <a:t> testcertificates.com:443&gt;</a:t>
            </a:r>
          </a:p>
          <a:p>
            <a:pPr lvl="0"/>
            <a:r>
              <a:rPr lang="en-US" sz="1400" dirty="0" err="1">
                <a:solidFill>
                  <a:prstClr val="black"/>
                </a:solidFill>
                <a:latin typeface="Times New Roman" panose="02020603050405020304" pitchFamily="18" charset="0"/>
                <a:cs typeface="Times New Roman" panose="02020603050405020304" pitchFamily="18" charset="0"/>
              </a:rPr>
              <a:t>DocumentRoot</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var</a:t>
            </a:r>
            <a:r>
              <a:rPr lang="en-US" sz="1400" dirty="0">
                <a:solidFill>
                  <a:prstClr val="black"/>
                </a:solidFill>
                <a:latin typeface="Times New Roman" panose="02020603050405020304" pitchFamily="18" charset="0"/>
                <a:cs typeface="Times New Roman" panose="02020603050405020304" pitchFamily="18" charset="0"/>
              </a:rPr>
              <a:t>/www/html2</a:t>
            </a:r>
          </a:p>
          <a:p>
            <a:pPr lvl="0"/>
            <a:r>
              <a:rPr lang="en-US" sz="1400" dirty="0" err="1">
                <a:solidFill>
                  <a:prstClr val="black"/>
                </a:solidFill>
                <a:latin typeface="Times New Roman" panose="02020603050405020304" pitchFamily="18" charset="0"/>
                <a:cs typeface="Times New Roman" panose="02020603050405020304" pitchFamily="18" charset="0"/>
              </a:rPr>
              <a:t>ServerName</a:t>
            </a:r>
            <a:r>
              <a:rPr lang="en-US" sz="1400" dirty="0">
                <a:solidFill>
                  <a:prstClr val="black"/>
                </a:solidFill>
                <a:latin typeface="Times New Roman" panose="02020603050405020304" pitchFamily="18" charset="0"/>
                <a:cs typeface="Times New Roman" panose="02020603050405020304" pitchFamily="18" charset="0"/>
              </a:rPr>
              <a:t> testcertificates.com</a:t>
            </a:r>
          </a:p>
          <a:p>
            <a:pPr lvl="0"/>
            <a:r>
              <a:rPr lang="en-US" sz="1400" dirty="0">
                <a:solidFill>
                  <a:prstClr val="black"/>
                </a:solidFill>
                <a:latin typeface="Times New Roman" panose="02020603050405020304" pitchFamily="18" charset="0"/>
                <a:cs typeface="Times New Roman" panose="02020603050405020304" pitchFamily="18" charset="0"/>
              </a:rPr>
              <a:t>SSL Engine ON</a:t>
            </a:r>
          </a:p>
          <a:p>
            <a:pPr lvl="0"/>
            <a:r>
              <a:rPr lang="en-US" sz="1400" dirty="0" err="1">
                <a:solidFill>
                  <a:prstClr val="black"/>
                </a:solidFill>
                <a:latin typeface="Times New Roman" panose="02020603050405020304" pitchFamily="18" charset="0"/>
                <a:cs typeface="Times New Roman" panose="02020603050405020304" pitchFamily="18" charset="0"/>
              </a:rPr>
              <a:t>SSLCertificateFile</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etc</a:t>
            </a:r>
            <a:r>
              <a:rPr lang="en-US" sz="1400" dirty="0">
                <a:solidFill>
                  <a:prstClr val="black"/>
                </a:solidFill>
                <a:latin typeface="Times New Roman" panose="02020603050405020304" pitchFamily="18" charset="0"/>
                <a:cs typeface="Times New Roman" panose="02020603050405020304" pitchFamily="18" charset="0"/>
              </a:rPr>
              <a:t>/apache/ssl.crt/ServerCertificate.crt</a:t>
            </a:r>
          </a:p>
          <a:p>
            <a:pPr lvl="0"/>
            <a:r>
              <a:rPr lang="en-US" sz="1400" dirty="0" err="1">
                <a:solidFill>
                  <a:prstClr val="black"/>
                </a:solidFill>
                <a:latin typeface="Times New Roman" panose="02020603050405020304" pitchFamily="18" charset="0"/>
                <a:cs typeface="Times New Roman" panose="02020603050405020304" pitchFamily="18" charset="0"/>
              </a:rPr>
              <a:t>SSLCertificateKeyFile</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etc</a:t>
            </a:r>
            <a:r>
              <a:rPr lang="en-US" sz="1400" dirty="0">
                <a:solidFill>
                  <a:prstClr val="black"/>
                </a:solidFill>
                <a:latin typeface="Times New Roman" panose="02020603050405020304" pitchFamily="18" charset="0"/>
                <a:cs typeface="Times New Roman" panose="02020603050405020304" pitchFamily="18" charset="0"/>
              </a:rPr>
              <a:t>/apache/key.crt/</a:t>
            </a:r>
            <a:r>
              <a:rPr lang="en-US" sz="1400" dirty="0" err="1">
                <a:solidFill>
                  <a:prstClr val="black"/>
                </a:solidFill>
                <a:latin typeface="Times New Roman" panose="02020603050405020304" pitchFamily="18" charset="0"/>
                <a:cs typeface="Times New Roman" panose="02020603050405020304" pitchFamily="18" charset="0"/>
              </a:rPr>
              <a:t>yoursite.key</a:t>
            </a:r>
            <a:endParaRPr lang="en-US" sz="1400" dirty="0">
              <a:solidFill>
                <a:prstClr val="black"/>
              </a:solidFill>
              <a:latin typeface="Times New Roman" panose="02020603050405020304" pitchFamily="18" charset="0"/>
              <a:cs typeface="Times New Roman" panose="02020603050405020304" pitchFamily="18" charset="0"/>
            </a:endParaRPr>
          </a:p>
          <a:p>
            <a:pPr lvl="0"/>
            <a:r>
              <a:rPr lang="en-US" sz="1400" dirty="0" err="1">
                <a:solidFill>
                  <a:prstClr val="black"/>
                </a:solidFill>
                <a:latin typeface="Times New Roman" panose="02020603050405020304" pitchFamily="18" charset="0"/>
                <a:cs typeface="Times New Roman" panose="02020603050405020304" pitchFamily="18" charset="0"/>
              </a:rPr>
              <a:t>SSLCertificateChainFile</a:t>
            </a:r>
            <a:r>
              <a:rPr lang="en-US" sz="1400" dirty="0">
                <a:solidFill>
                  <a:prstClr val="black"/>
                </a:solidFill>
                <a:latin typeface="Times New Roman" panose="02020603050405020304" pitchFamily="18" charset="0"/>
                <a:cs typeface="Times New Roman" panose="02020603050405020304" pitchFamily="18" charset="0"/>
              </a:rPr>
              <a:t> /</a:t>
            </a:r>
            <a:r>
              <a:rPr lang="en-US" sz="1400" dirty="0" err="1">
                <a:solidFill>
                  <a:prstClr val="black"/>
                </a:solidFill>
                <a:latin typeface="Times New Roman" panose="02020603050405020304" pitchFamily="18" charset="0"/>
                <a:cs typeface="Times New Roman" panose="02020603050405020304" pitchFamily="18" charset="0"/>
              </a:rPr>
              <a:t>etc</a:t>
            </a:r>
            <a:r>
              <a:rPr lang="en-US" sz="1400" dirty="0">
                <a:solidFill>
                  <a:prstClr val="black"/>
                </a:solidFill>
                <a:latin typeface="Times New Roman" panose="02020603050405020304" pitchFamily="18" charset="0"/>
                <a:cs typeface="Times New Roman" panose="02020603050405020304" pitchFamily="18" charset="0"/>
              </a:rPr>
              <a:t>/apache/ssl.crt/ChainBundle2.crt</a:t>
            </a:r>
          </a:p>
          <a:p>
            <a:pPr lvl="0"/>
            <a:r>
              <a:rPr lang="en-US" sz="1400" dirty="0">
                <a:solidFill>
                  <a:prstClr val="black"/>
                </a:solidFill>
                <a:latin typeface="Times New Roman" panose="02020603050405020304" pitchFamily="18" charset="0"/>
                <a:cs typeface="Times New Roman" panose="02020603050405020304" pitchFamily="18" charset="0"/>
              </a:rPr>
              <a:t>&lt;\</a:t>
            </a:r>
            <a:r>
              <a:rPr lang="en-US" sz="1400" dirty="0" err="1">
                <a:solidFill>
                  <a:prstClr val="black"/>
                </a:solidFill>
                <a:latin typeface="Times New Roman" panose="02020603050405020304" pitchFamily="18" charset="0"/>
                <a:cs typeface="Times New Roman" panose="02020603050405020304" pitchFamily="18" charset="0"/>
              </a:rPr>
              <a:t>VirtualHost</a:t>
            </a:r>
            <a:r>
              <a:rPr lang="en-US" sz="1400" dirty="0">
                <a:solidFill>
                  <a:prstClr val="black"/>
                </a:solidFill>
                <a:latin typeface="Times New Roman" panose="02020603050405020304" pitchFamily="18" charset="0"/>
                <a:cs typeface="Times New Roman" panose="02020603050405020304" pitchFamily="18" charset="0"/>
              </a:rPr>
              <a:t>&gt; </a:t>
            </a:r>
          </a:p>
          <a:p>
            <a:pPr lvl="0"/>
            <a:r>
              <a:rPr lang="en-US" sz="1400" dirty="0">
                <a:solidFill>
                  <a:prstClr val="black"/>
                </a:solidFill>
                <a:latin typeface="Times New Roman" panose="02020603050405020304" pitchFamily="18" charset="0"/>
                <a:cs typeface="Times New Roman" panose="02020603050405020304" pitchFamily="18" charset="0"/>
              </a:rPr>
              <a:t>Where:</a:t>
            </a:r>
          </a:p>
          <a:p>
            <a:pPr lvl="0"/>
            <a:r>
              <a:rPr lang="en-US" sz="1400" dirty="0" err="1">
                <a:solidFill>
                  <a:prstClr val="black"/>
                </a:solidFill>
                <a:latin typeface="Times New Roman" panose="02020603050405020304" pitchFamily="18" charset="0"/>
                <a:cs typeface="Times New Roman" panose="02020603050405020304" pitchFamily="18" charset="0"/>
              </a:rPr>
              <a:t>SSLCertificate</a:t>
            </a:r>
            <a:r>
              <a:rPr lang="en-US" sz="1400" dirty="0">
                <a:solidFill>
                  <a:prstClr val="black"/>
                </a:solidFill>
                <a:latin typeface="Times New Roman" panose="02020603050405020304" pitchFamily="18" charset="0"/>
                <a:cs typeface="Times New Roman" panose="02020603050405020304" pitchFamily="18" charset="0"/>
              </a:rPr>
              <a:t> file is your Server Certificate file (ServerCertificate.crt)</a:t>
            </a:r>
          </a:p>
          <a:p>
            <a:pPr lvl="0"/>
            <a:r>
              <a:rPr lang="en-US" sz="1400" dirty="0" err="1">
                <a:solidFill>
                  <a:prstClr val="black"/>
                </a:solidFill>
                <a:latin typeface="Times New Roman" panose="02020603050405020304" pitchFamily="18" charset="0"/>
                <a:cs typeface="Times New Roman" panose="02020603050405020304" pitchFamily="18" charset="0"/>
              </a:rPr>
              <a:t>SSLCertificateChainFile</a:t>
            </a:r>
            <a:r>
              <a:rPr lang="en-US" sz="1400" dirty="0">
                <a:solidFill>
                  <a:prstClr val="black"/>
                </a:solidFill>
                <a:latin typeface="Times New Roman" panose="02020603050405020304" pitchFamily="18" charset="0"/>
                <a:cs typeface="Times New Roman" panose="02020603050405020304" pitchFamily="18" charset="0"/>
              </a:rPr>
              <a:t> is the Chain bundle file (ChainBundle2.crt)</a:t>
            </a:r>
          </a:p>
          <a:p>
            <a:pPr lvl="0"/>
            <a:r>
              <a:rPr lang="en-US" sz="1400" dirty="0" err="1">
                <a:solidFill>
                  <a:prstClr val="black"/>
                </a:solidFill>
                <a:latin typeface="Times New Roman" panose="02020603050405020304" pitchFamily="18" charset="0"/>
                <a:cs typeface="Times New Roman" panose="02020603050405020304" pitchFamily="18" charset="0"/>
              </a:rPr>
              <a:t>SSLCertificateKeyFile</a:t>
            </a:r>
            <a:r>
              <a:rPr lang="en-US" sz="1400" dirty="0">
                <a:solidFill>
                  <a:prstClr val="black"/>
                </a:solidFill>
                <a:latin typeface="Times New Roman" panose="02020603050405020304" pitchFamily="18" charset="0"/>
                <a:cs typeface="Times New Roman" panose="02020603050405020304" pitchFamily="18" charset="0"/>
              </a:rPr>
              <a:t> is your server’s private key that was generated previously</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65249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680" y="0"/>
            <a:ext cx="12085320" cy="6858000"/>
          </a:xfrm>
        </p:spPr>
        <p:txBody>
          <a:bodyPr>
            <a:normAutofit/>
          </a:bodyPr>
          <a:lstStyle/>
          <a:p>
            <a:r>
              <a:rPr lang="en-US" sz="1400" b="1" dirty="0">
                <a:latin typeface="Times New Roman" panose="02020603050405020304" pitchFamily="18" charset="0"/>
                <a:cs typeface="Times New Roman" panose="02020603050405020304" pitchFamily="18" charset="0"/>
              </a:rPr>
              <a:t>Part 3 of 4: Test the configuration was successful</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Test your Apache </a:t>
            </a:r>
            <a:r>
              <a:rPr lang="en-US" sz="1400" b="1" dirty="0" err="1">
                <a:latin typeface="Times New Roman" panose="02020603050405020304" pitchFamily="18" charset="0"/>
                <a:cs typeface="Times New Roman" panose="02020603050405020304" pitchFamily="18" charset="0"/>
              </a:rPr>
              <a:t>config</a:t>
            </a:r>
            <a:r>
              <a:rPr lang="en-US" sz="1400" dirty="0">
                <a:latin typeface="Times New Roman" panose="02020603050405020304" pitchFamily="18" charset="0"/>
                <a:cs typeface="Times New Roman" panose="02020603050405020304" pitchFamily="18" charset="0"/>
              </a:rPr>
              <a:t> with the following command:</a:t>
            </a:r>
            <a:br>
              <a:rPr lang="en-US" sz="1400" dirty="0">
                <a:latin typeface="Times New Roman" panose="02020603050405020304" pitchFamily="18" charset="0"/>
                <a:cs typeface="Times New Roman" panose="02020603050405020304" pitchFamily="18" charset="0"/>
              </a:rPr>
            </a:br>
            <a:r>
              <a:rPr lang="en-US" sz="1400" dirty="0" err="1">
                <a:latin typeface="Times New Roman" panose="02020603050405020304" pitchFamily="18" charset="0"/>
                <a:cs typeface="Times New Roman" panose="02020603050405020304" pitchFamily="18" charset="0"/>
              </a:rPr>
              <a:t>sudo</a:t>
            </a:r>
            <a:r>
              <a:rPr lang="en-US" sz="1400" dirty="0">
                <a:latin typeface="Times New Roman" panose="02020603050405020304" pitchFamily="18" charset="0"/>
                <a:cs typeface="Times New Roman" panose="02020603050405020304" pitchFamily="18" charset="0"/>
              </a:rPr>
              <a:t> apachect1 </a:t>
            </a:r>
            <a:r>
              <a:rPr lang="en-US" sz="1400" dirty="0" err="1">
                <a:latin typeface="Times New Roman" panose="02020603050405020304" pitchFamily="18" charset="0"/>
                <a:cs typeface="Times New Roman" panose="02020603050405020304" pitchFamily="18" charset="0"/>
              </a:rPr>
              <a:t>configtest</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Part 4 of 4: Restart the Apache server</a:t>
            </a: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b="1" dirty="0">
                <a:latin typeface="Times New Roman" panose="02020603050405020304" pitchFamily="18" charset="0"/>
                <a:cs typeface="Times New Roman" panose="02020603050405020304" pitchFamily="18" charset="0"/>
              </a:rPr>
              <a:t>Restart your Apache server</a:t>
            </a:r>
            <a:r>
              <a:rPr lang="en-US" sz="1400" dirty="0">
                <a:latin typeface="Times New Roman" panose="02020603050405020304" pitchFamily="18" charset="0"/>
                <a:cs typeface="Times New Roman" panose="02020603050405020304" pitchFamily="18" charset="0"/>
              </a:rPr>
              <a:t> by running the following command:</a:t>
            </a:r>
            <a:br>
              <a:rPr lang="en-US" sz="1400" dirty="0">
                <a:latin typeface="Times New Roman" panose="02020603050405020304" pitchFamily="18" charset="0"/>
                <a:cs typeface="Times New Roman" panose="02020603050405020304" pitchFamily="18" charset="0"/>
              </a:rPr>
            </a:br>
            <a:r>
              <a:rPr lang="en-US" sz="1400" dirty="0" err="1">
                <a:latin typeface="Times New Roman" panose="02020603050405020304" pitchFamily="18" charset="0"/>
                <a:cs typeface="Times New Roman" panose="02020603050405020304" pitchFamily="18" charset="0"/>
              </a:rPr>
              <a:t>sudo</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apachectl</a:t>
            </a:r>
            <a:r>
              <a:rPr lang="en-US" sz="1400" dirty="0">
                <a:latin typeface="Times New Roman" panose="02020603050405020304" pitchFamily="18" charset="0"/>
                <a:cs typeface="Times New Roman" panose="02020603050405020304" pitchFamily="18" charset="0"/>
              </a:rPr>
              <a:t> restart</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Your SSL/TLS Certificate should now be installed. If you have any questions or concerns please contact the </a:t>
            </a:r>
            <a:r>
              <a:rPr lang="en-US" sz="1400" dirty="0">
                <a:latin typeface="Times New Roman" panose="02020603050405020304" pitchFamily="18" charset="0"/>
                <a:cs typeface="Times New Roman" panose="02020603050405020304" pitchFamily="18" charset="0"/>
                <a:hlinkClick r:id="rId2"/>
              </a:rPr>
              <a:t>Entrust Certificate Services support department</a:t>
            </a:r>
            <a:r>
              <a:rPr lang="en-US" sz="1400" dirty="0">
                <a:latin typeface="Times New Roman" panose="02020603050405020304" pitchFamily="18" charset="0"/>
                <a:cs typeface="Times New Roman" panose="02020603050405020304" pitchFamily="18" charset="0"/>
              </a:rPr>
              <a:t> for further assistance.</a:t>
            </a:r>
            <a:br>
              <a:rPr lang="en-US" sz="1400" dirty="0">
                <a:latin typeface="Times New Roman" panose="02020603050405020304" pitchFamily="18" charset="0"/>
                <a:cs typeface="Times New Roman" panose="02020603050405020304" pitchFamily="18" charset="0"/>
              </a:rPr>
            </a:br>
            <a:r>
              <a:rPr lang="en-US" sz="1400" i="1" dirty="0">
                <a:latin typeface="Times New Roman" panose="02020603050405020304" pitchFamily="18" charset="0"/>
                <a:cs typeface="Times New Roman" panose="02020603050405020304" pitchFamily="18" charset="0"/>
                <a:hlinkClick r:id="rId3"/>
              </a:rPr>
              <a:t>http://www.thawte.nl/en/support/manuals/redhat/red+hat+enterprise+linux/install+certificate/</a:t>
            </a:r>
            <a:r>
              <a:rPr lang="en-US" sz="1400" i="1" dirty="0">
                <a:latin typeface="Times New Roman" panose="02020603050405020304" pitchFamily="18" charset="0"/>
                <a:cs typeface="Times New Roman" panose="02020603050405020304" pitchFamily="18" charset="0"/>
              </a:rPr>
              <a:t/>
            </a:r>
            <a:br>
              <a:rPr lang="en-US" sz="1400" i="1" dirty="0">
                <a:latin typeface="Times New Roman" panose="02020603050405020304" pitchFamily="18" charset="0"/>
                <a:cs typeface="Times New Roman" panose="02020603050405020304" pitchFamily="18" charset="0"/>
              </a:rPr>
            </a:br>
            <a:r>
              <a:rPr lang="en-US" sz="1400" i="1" dirty="0">
                <a:latin typeface="Times New Roman" panose="02020603050405020304" pitchFamily="18" charset="0"/>
                <a:cs typeface="Times New Roman" panose="02020603050405020304" pitchFamily="18" charset="0"/>
                <a:hlinkClick r:id="rId4"/>
              </a:rPr>
              <a:t>https://www.godaddy.com/help/apache-install-a-certificate-centos-5238</a:t>
            </a:r>
            <a:r>
              <a:rPr lang="en-US" sz="1400" i="1" dirty="0">
                <a:latin typeface="Times New Roman" panose="02020603050405020304" pitchFamily="18" charset="0"/>
                <a:cs typeface="Times New Roman" panose="02020603050405020304" pitchFamily="18" charset="0"/>
              </a:rPr>
              <a:t> </a:t>
            </a:r>
          </a:p>
          <a:p>
            <a:endParaRPr lang="en-US" sz="1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5"/>
          <a:stretch>
            <a:fillRect/>
          </a:stretch>
        </p:blipFill>
        <p:spPr>
          <a:xfrm>
            <a:off x="453528" y="2863806"/>
            <a:ext cx="5761219" cy="1615580"/>
          </a:xfrm>
          <a:prstGeom prst="rect">
            <a:avLst/>
          </a:prstGeom>
        </p:spPr>
      </p:pic>
      <p:graphicFrame>
        <p:nvGraphicFramePr>
          <p:cNvPr id="5" name="Table 4"/>
          <p:cNvGraphicFramePr>
            <a:graphicFrameLocks noGrp="1"/>
          </p:cNvGraphicFramePr>
          <p:nvPr>
            <p:extLst>
              <p:ext uri="{D42A27DB-BD31-4B8C-83A1-F6EECF244321}">
                <p14:modId xmlns:p14="http://schemas.microsoft.com/office/powerpoint/2010/main" val="1087104479"/>
              </p:ext>
            </p:extLst>
          </p:nvPr>
        </p:nvGraphicFramePr>
        <p:xfrm>
          <a:off x="491546" y="4479386"/>
          <a:ext cx="5685182" cy="1543050"/>
        </p:xfrm>
        <a:graphic>
          <a:graphicData uri="http://schemas.openxmlformats.org/drawingml/2006/table">
            <a:tbl>
              <a:tblPr/>
              <a:tblGrid>
                <a:gridCol w="2782956">
                  <a:extLst>
                    <a:ext uri="{9D8B030D-6E8A-4147-A177-3AD203B41FA5}">
                      <a16:colId xmlns="" xmlns:a16="http://schemas.microsoft.com/office/drawing/2014/main" val="2764278845"/>
                    </a:ext>
                  </a:extLst>
                </a:gridCol>
                <a:gridCol w="2902226">
                  <a:extLst>
                    <a:ext uri="{9D8B030D-6E8A-4147-A177-3AD203B41FA5}">
                      <a16:colId xmlns="" xmlns:a16="http://schemas.microsoft.com/office/drawing/2014/main" val="1443413037"/>
                    </a:ext>
                  </a:extLst>
                </a:gridCol>
              </a:tblGrid>
              <a:tr h="0">
                <a:tc gridSpan="2">
                  <a:txBody>
                    <a:bodyPr/>
                    <a:lstStyle/>
                    <a:p>
                      <a:pPr algn="l"/>
                      <a:r>
                        <a:rPr lang="en-US" sz="1400" dirty="0">
                          <a:effectLst/>
                          <a:latin typeface="Times New Roman" panose="02020603050405020304" pitchFamily="18" charset="0"/>
                          <a:cs typeface="Times New Roman" panose="02020603050405020304" pitchFamily="18" charset="0"/>
                        </a:rPr>
                        <a:t>Apache Version 2.4.8+</a:t>
                      </a:r>
                    </a:p>
                  </a:txBody>
                  <a:tcPr marL="47625" marR="47625" marT="47625" marB="47625" anchor="ctr">
                    <a:lnL>
                      <a:noFill/>
                    </a:lnL>
                    <a:lnR w="9525" cap="flat" cmpd="sng" algn="ctr">
                      <a:solidFill>
                        <a:srgbClr val="DDDDDD"/>
                      </a:solidFill>
                      <a:prstDash val="solid"/>
                      <a:round/>
                      <a:headEnd type="none" w="med" len="med"/>
                      <a:tailEnd type="none" w="med" len="med"/>
                    </a:lnR>
                    <a:lnT>
                      <a:noFill/>
                    </a:lnT>
                    <a:lnB w="9525" cap="flat" cmpd="sng" algn="ctr">
                      <a:solidFill>
                        <a:srgbClr val="B2B2B2"/>
                      </a:solidFill>
                      <a:prstDash val="solid"/>
                      <a:round/>
                      <a:headEnd type="none" w="med" len="med"/>
                      <a:tailEnd type="none" w="med" len="med"/>
                    </a:lnB>
                    <a:solidFill>
                      <a:srgbClr val="DDDDDD"/>
                    </a:solidFill>
                  </a:tcPr>
                </a:tc>
                <a:tc hMerge="1">
                  <a:txBody>
                    <a:bodyPr/>
                    <a:lstStyle/>
                    <a:p>
                      <a:endParaRPr lang="en-US"/>
                    </a:p>
                  </a:txBody>
                  <a:tcPr/>
                </a:tc>
                <a:extLst>
                  <a:ext uri="{0D108BD9-81ED-4DB2-BD59-A6C34878D82A}">
                    <a16:rowId xmlns="" xmlns:a16="http://schemas.microsoft.com/office/drawing/2014/main" val="3461057309"/>
                  </a:ext>
                </a:extLst>
              </a:tr>
              <a:tr h="0">
                <a:tc>
                  <a:txBody>
                    <a:bodyPr/>
                    <a:lstStyle/>
                    <a:p>
                      <a:pPr algn="l"/>
                      <a:r>
                        <a:rPr lang="en-US" sz="1400" b="1" dirty="0">
                          <a:effectLst/>
                          <a:latin typeface="Times New Roman" panose="02020603050405020304" pitchFamily="18" charset="0"/>
                          <a:cs typeface="Times New Roman" panose="02020603050405020304" pitchFamily="18" charset="0"/>
                        </a:rPr>
                        <a:t>Directive</a:t>
                      </a: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7F7F7"/>
                    </a:solidFill>
                  </a:tcPr>
                </a:tc>
                <a:tc>
                  <a:txBody>
                    <a:bodyPr/>
                    <a:lstStyle/>
                    <a:p>
                      <a:pPr algn="l"/>
                      <a:r>
                        <a:rPr lang="en-US" sz="1400" b="1" dirty="0">
                          <a:effectLst/>
                          <a:latin typeface="Times New Roman" panose="02020603050405020304" pitchFamily="18" charset="0"/>
                          <a:cs typeface="Times New Roman" panose="02020603050405020304" pitchFamily="18" charset="0"/>
                        </a:rPr>
                        <a:t>Path to Enter</a:t>
                      </a: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7F7F7"/>
                    </a:solidFill>
                  </a:tcPr>
                </a:tc>
                <a:extLst>
                  <a:ext uri="{0D108BD9-81ED-4DB2-BD59-A6C34878D82A}">
                    <a16:rowId xmlns="" xmlns:a16="http://schemas.microsoft.com/office/drawing/2014/main" val="1627155673"/>
                  </a:ext>
                </a:extLst>
              </a:tr>
              <a:tr h="0">
                <a:tc>
                  <a:txBody>
                    <a:bodyPr/>
                    <a:lstStyle/>
                    <a:p>
                      <a:r>
                        <a:rPr lang="en-US" sz="1400" dirty="0" err="1">
                          <a:effectLst/>
                          <a:latin typeface="Times New Roman" panose="02020603050405020304" pitchFamily="18" charset="0"/>
                          <a:cs typeface="Times New Roman" panose="02020603050405020304" pitchFamily="18" charset="0"/>
                        </a:rPr>
                        <a:t>SSLCertificateFile</a:t>
                      </a:r>
                      <a:endParaRPr lang="en-US" sz="1400" dirty="0">
                        <a:effectLst/>
                        <a:latin typeface="Times New Roman" panose="02020603050405020304" pitchFamily="18" charset="0"/>
                        <a:cs typeface="Times New Roman" panose="02020603050405020304" pitchFamily="18" charset="0"/>
                      </a:endParaRP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FFFFF"/>
                    </a:solidFill>
                  </a:tcPr>
                </a:tc>
                <a:tc>
                  <a:txBody>
                    <a:bodyPr/>
                    <a:lstStyle/>
                    <a:p>
                      <a:r>
                        <a:rPr lang="en-US" sz="1400" dirty="0">
                          <a:effectLst/>
                          <a:latin typeface="Times New Roman" panose="02020603050405020304" pitchFamily="18" charset="0"/>
                          <a:cs typeface="Times New Roman" panose="02020603050405020304" pitchFamily="18" charset="0"/>
                        </a:rPr>
                        <a:t>Certificate file path</a:t>
                      </a: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FFFFF"/>
                    </a:solidFill>
                  </a:tcPr>
                </a:tc>
                <a:extLst>
                  <a:ext uri="{0D108BD9-81ED-4DB2-BD59-A6C34878D82A}">
                    <a16:rowId xmlns="" xmlns:a16="http://schemas.microsoft.com/office/drawing/2014/main" val="3763295153"/>
                  </a:ext>
                </a:extLst>
              </a:tr>
              <a:tr h="0">
                <a:tc>
                  <a:txBody>
                    <a:bodyPr/>
                    <a:lstStyle/>
                    <a:p>
                      <a:r>
                        <a:rPr lang="en-US" sz="1400">
                          <a:effectLst/>
                          <a:latin typeface="Times New Roman" panose="02020603050405020304" pitchFamily="18" charset="0"/>
                          <a:cs typeface="Times New Roman" panose="02020603050405020304" pitchFamily="18" charset="0"/>
                        </a:rPr>
                        <a:t>SSLCertificateKeyFile</a:t>
                      </a: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7F7F7"/>
                    </a:solidFill>
                  </a:tcPr>
                </a:tc>
                <a:tc>
                  <a:txBody>
                    <a:bodyPr/>
                    <a:lstStyle/>
                    <a:p>
                      <a:r>
                        <a:rPr lang="en-US" sz="1400">
                          <a:effectLst/>
                          <a:latin typeface="Times New Roman" panose="02020603050405020304" pitchFamily="18" charset="0"/>
                          <a:cs typeface="Times New Roman" panose="02020603050405020304" pitchFamily="18" charset="0"/>
                        </a:rPr>
                        <a:t>Key file path</a:t>
                      </a: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7F7F7"/>
                    </a:solidFill>
                  </a:tcPr>
                </a:tc>
                <a:extLst>
                  <a:ext uri="{0D108BD9-81ED-4DB2-BD59-A6C34878D82A}">
                    <a16:rowId xmlns="" xmlns:a16="http://schemas.microsoft.com/office/drawing/2014/main" val="3917268840"/>
                  </a:ext>
                </a:extLst>
              </a:tr>
              <a:tr h="0">
                <a:tc>
                  <a:txBody>
                    <a:bodyPr/>
                    <a:lstStyle/>
                    <a:p>
                      <a:r>
                        <a:rPr lang="en-US" sz="1400">
                          <a:effectLst/>
                          <a:latin typeface="Times New Roman" panose="02020603050405020304" pitchFamily="18" charset="0"/>
                          <a:cs typeface="Times New Roman" panose="02020603050405020304" pitchFamily="18" charset="0"/>
                        </a:rPr>
                        <a:t>SSLCACertificatePath</a:t>
                      </a: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FFFFF"/>
                    </a:solidFill>
                  </a:tcPr>
                </a:tc>
                <a:tc>
                  <a:txBody>
                    <a:bodyPr/>
                    <a:lstStyle/>
                    <a:p>
                      <a:r>
                        <a:rPr lang="en-US" sz="1400" dirty="0">
                          <a:effectLst/>
                          <a:latin typeface="Times New Roman" panose="02020603050405020304" pitchFamily="18" charset="0"/>
                          <a:cs typeface="Times New Roman" panose="02020603050405020304" pitchFamily="18" charset="0"/>
                        </a:rPr>
                        <a:t>Intermediate bundle path</a:t>
                      </a:r>
                    </a:p>
                  </a:txBody>
                  <a:tcPr marL="47625" marR="47625" marT="47625" marB="47625" anchor="ctr">
                    <a:lnL w="9525" cap="flat" cmpd="sng" algn="ctr">
                      <a:solidFill>
                        <a:srgbClr val="B2B2B2"/>
                      </a:solidFill>
                      <a:prstDash val="solid"/>
                      <a:round/>
                      <a:headEnd type="none" w="med" len="med"/>
                      <a:tailEnd type="none" w="med" len="med"/>
                    </a:lnL>
                    <a:lnR w="9525" cap="flat" cmpd="sng" algn="ctr">
                      <a:solidFill>
                        <a:srgbClr val="B2B2B2"/>
                      </a:solidFill>
                      <a:prstDash val="solid"/>
                      <a:round/>
                      <a:headEnd type="none" w="med" len="med"/>
                      <a:tailEnd type="none" w="med" len="med"/>
                    </a:lnR>
                    <a:lnT w="9525" cap="flat" cmpd="sng" algn="ctr">
                      <a:solidFill>
                        <a:srgbClr val="B2B2B2"/>
                      </a:solidFill>
                      <a:prstDash val="solid"/>
                      <a:round/>
                      <a:headEnd type="none" w="med" len="med"/>
                      <a:tailEnd type="none" w="med" len="med"/>
                    </a:lnT>
                    <a:lnB w="9525" cap="flat" cmpd="sng" algn="ctr">
                      <a:solidFill>
                        <a:srgbClr val="B2B2B2"/>
                      </a:solidFill>
                      <a:prstDash val="solid"/>
                      <a:round/>
                      <a:headEnd type="none" w="med" len="med"/>
                      <a:tailEnd type="none" w="med" len="med"/>
                    </a:lnB>
                    <a:solidFill>
                      <a:srgbClr val="FFFFFF"/>
                    </a:solidFill>
                  </a:tcPr>
                </a:tc>
                <a:extLst>
                  <a:ext uri="{0D108BD9-81ED-4DB2-BD59-A6C34878D82A}">
                    <a16:rowId xmlns="" xmlns:a16="http://schemas.microsoft.com/office/drawing/2014/main" val="1427115157"/>
                  </a:ext>
                </a:extLst>
              </a:tr>
            </a:tbl>
          </a:graphicData>
        </a:graphic>
      </p:graphicFrame>
    </p:spTree>
    <p:extLst>
      <p:ext uri="{BB962C8B-B14F-4D97-AF65-F5344CB8AC3E}">
        <p14:creationId xmlns:p14="http://schemas.microsoft.com/office/powerpoint/2010/main" val="389371431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6192" y="108142"/>
            <a:ext cx="11907741" cy="6749857"/>
          </a:xfrm>
        </p:spPr>
        <p:txBody>
          <a:bodyPr>
            <a:normAutofit/>
          </a:bodyPr>
          <a:lstStyle/>
          <a:p>
            <a:r>
              <a:rPr lang="en-US" sz="1400" b="1" dirty="0">
                <a:solidFill>
                  <a:srgbClr val="333333"/>
                </a:solidFill>
                <a:latin typeface="Times New Roman" panose="02020603050405020304" pitchFamily="18" charset="0"/>
                <a:cs typeface="Times New Roman" panose="02020603050405020304" pitchFamily="18" charset="0"/>
              </a:rPr>
              <a:t>Some of the abbreviations related to certificates.</a:t>
            </a:r>
          </a:p>
          <a:p>
            <a:r>
              <a:rPr lang="en-US" sz="1400" dirty="0">
                <a:solidFill>
                  <a:srgbClr val="333333"/>
                </a:solidFill>
                <a:latin typeface="Times New Roman" panose="02020603050405020304" pitchFamily="18" charset="0"/>
                <a:cs typeface="Times New Roman" panose="02020603050405020304" pitchFamily="18" charset="0"/>
              </a:rPr>
              <a:t>SSL – Secure Socket Layer</a:t>
            </a:r>
          </a:p>
          <a:p>
            <a:r>
              <a:rPr lang="en-US" sz="1400" dirty="0">
                <a:solidFill>
                  <a:srgbClr val="333333"/>
                </a:solidFill>
                <a:latin typeface="Times New Roman" panose="02020603050405020304" pitchFamily="18" charset="0"/>
                <a:cs typeface="Times New Roman" panose="02020603050405020304" pitchFamily="18" charset="0"/>
              </a:rPr>
              <a:t>CSR – Certificate Signing Request</a:t>
            </a:r>
          </a:p>
          <a:p>
            <a:r>
              <a:rPr lang="en-US" sz="1400" dirty="0">
                <a:solidFill>
                  <a:srgbClr val="333333"/>
                </a:solidFill>
                <a:latin typeface="Times New Roman" panose="02020603050405020304" pitchFamily="18" charset="0"/>
                <a:cs typeface="Times New Roman" panose="02020603050405020304" pitchFamily="18" charset="0"/>
              </a:rPr>
              <a:t>TLS – Transport Layer Security</a:t>
            </a:r>
          </a:p>
          <a:p>
            <a:r>
              <a:rPr lang="en-US" sz="1400" dirty="0">
                <a:solidFill>
                  <a:srgbClr val="333333"/>
                </a:solidFill>
                <a:latin typeface="Times New Roman" panose="02020603050405020304" pitchFamily="18" charset="0"/>
                <a:cs typeface="Times New Roman" panose="02020603050405020304" pitchFamily="18" charset="0"/>
              </a:rPr>
              <a:t>PEM – Privacy Enhanced Mail</a:t>
            </a:r>
          </a:p>
          <a:p>
            <a:r>
              <a:rPr lang="en-US" sz="1400" dirty="0">
                <a:solidFill>
                  <a:srgbClr val="333333"/>
                </a:solidFill>
                <a:latin typeface="Times New Roman" panose="02020603050405020304" pitchFamily="18" charset="0"/>
                <a:cs typeface="Times New Roman" panose="02020603050405020304" pitchFamily="18" charset="0"/>
              </a:rPr>
              <a:t>DER – Distinguished Encoding Rules</a:t>
            </a:r>
          </a:p>
          <a:p>
            <a:r>
              <a:rPr lang="en-US" sz="1400" dirty="0">
                <a:solidFill>
                  <a:srgbClr val="333333"/>
                </a:solidFill>
                <a:latin typeface="Times New Roman" panose="02020603050405020304" pitchFamily="18" charset="0"/>
                <a:cs typeface="Times New Roman" panose="02020603050405020304" pitchFamily="18" charset="0"/>
              </a:rPr>
              <a:t>SHA – Secure Hash Algorithm</a:t>
            </a:r>
          </a:p>
          <a:p>
            <a:r>
              <a:rPr lang="en-US" sz="1400" dirty="0">
                <a:solidFill>
                  <a:srgbClr val="333333"/>
                </a:solidFill>
                <a:latin typeface="Times New Roman" panose="02020603050405020304" pitchFamily="18" charset="0"/>
                <a:cs typeface="Times New Roman" panose="02020603050405020304" pitchFamily="18" charset="0"/>
              </a:rPr>
              <a:t>PKCS – Public-Key Cryptography Standards</a:t>
            </a: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504635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SSL/TLS Operations</a:t>
            </a:r>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Content</a:t>
            </a:r>
          </a:p>
          <a:p>
            <a:r>
              <a:rPr lang="en-US" sz="1400" dirty="0">
                <a:latin typeface="Times New Roman" panose="02020603050405020304" pitchFamily="18" charset="0"/>
                <a:cs typeface="Times New Roman" panose="02020603050405020304" pitchFamily="18" charset="0"/>
              </a:rPr>
              <a:t>1) Introduction</a:t>
            </a:r>
          </a:p>
        </p:txBody>
      </p:sp>
    </p:spTree>
    <p:extLst>
      <p:ext uri="{BB962C8B-B14F-4D97-AF65-F5344CB8AC3E}">
        <p14:creationId xmlns:p14="http://schemas.microsoft.com/office/powerpoint/2010/main" val="122417915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i="1" dirty="0">
                <a:solidFill>
                  <a:schemeClr val="accent1">
                    <a:lumMod val="75000"/>
                  </a:schemeClr>
                </a:solidFill>
                <a:latin typeface="Times New Roman" panose="02020603050405020304" pitchFamily="18" charset="0"/>
                <a:cs typeface="Times New Roman" panose="02020603050405020304" pitchFamily="18" charset="0"/>
              </a:rPr>
              <a:t>Apache </a:t>
            </a:r>
            <a:r>
              <a:rPr lang="en-US" i="1" dirty="0" err="1">
                <a:solidFill>
                  <a:schemeClr val="accent1">
                    <a:lumMod val="75000"/>
                  </a:schemeClr>
                </a:solidFill>
                <a:latin typeface="Times New Roman" panose="02020603050405020304" pitchFamily="18" charset="0"/>
                <a:cs typeface="Times New Roman" panose="02020603050405020304" pitchFamily="18" charset="0"/>
              </a:rPr>
              <a:t>Config</a:t>
            </a:r>
            <a:r>
              <a:rPr lang="en-US" i="1" dirty="0">
                <a:solidFill>
                  <a:schemeClr val="accent1">
                    <a:lumMod val="75000"/>
                  </a:schemeClr>
                </a:solidFill>
                <a:latin typeface="Times New Roman" panose="02020603050405020304" pitchFamily="18" charset="0"/>
                <a:cs typeface="Times New Roman" panose="02020603050405020304" pitchFamily="18" charset="0"/>
              </a:rPr>
              <a:t> </a:t>
            </a:r>
            <a:r>
              <a:rPr lang="en-US" i="1" dirty="0">
                <a:solidFill>
                  <a:srgbClr val="FF0000"/>
                </a:solidFill>
                <a:latin typeface="Times New Roman" panose="02020603050405020304" pitchFamily="18" charset="0"/>
                <a:cs typeface="Times New Roman" panose="02020603050405020304" pitchFamily="18" charset="0"/>
              </a:rPr>
              <a:t>  </a:t>
            </a:r>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httpd</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conf</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httpd.conf</a:t>
            </a:r>
            <a:r>
              <a:rPr lang="en-US" dirty="0">
                <a:latin typeface="Times New Roman" panose="02020603050405020304" pitchFamily="18" charset="0"/>
                <a:cs typeface="Times New Roman" panose="02020603050405020304" pitchFamily="18" charset="0"/>
              </a:rPr>
              <a:t> Default</a:t>
            </a:r>
          </a:p>
          <a:p>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etc</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httpd</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conf.d</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ssl-UAT.conf</a:t>
            </a:r>
            <a:endParaRPr lang="en-US"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Default secure port listening on 443</a:t>
            </a:r>
          </a:p>
          <a:p>
            <a:r>
              <a:rPr lang="en-US" sz="1600" dirty="0">
                <a:latin typeface="Times New Roman" panose="02020603050405020304" pitchFamily="18" charset="0"/>
                <a:cs typeface="Times New Roman" panose="02020603050405020304" pitchFamily="18" charset="0"/>
              </a:rPr>
              <a:t>Icons located in default location /</a:t>
            </a:r>
            <a:r>
              <a:rPr lang="en-US" sz="1600" dirty="0" err="1">
                <a:latin typeface="Times New Roman" panose="02020603050405020304" pitchFamily="18" charset="0"/>
                <a:cs typeface="Times New Roman" panose="02020603050405020304" pitchFamily="18" charset="0"/>
              </a:rPr>
              <a:t>var</a:t>
            </a:r>
            <a:r>
              <a:rPr lang="en-US" sz="1600" dirty="0">
                <a:latin typeface="Times New Roman" panose="02020603050405020304" pitchFamily="18" charset="0"/>
                <a:cs typeface="Times New Roman" panose="02020603050405020304" pitchFamily="18" charset="0"/>
              </a:rPr>
              <a:t>/www/icons/</a:t>
            </a:r>
          </a:p>
          <a:p>
            <a:endParaRPr lang="en-US" sz="1600" dirty="0">
              <a:latin typeface="Times New Roman" panose="02020603050405020304" pitchFamily="18" charset="0"/>
              <a:cs typeface="Times New Roman" panose="02020603050405020304" pitchFamily="18" charset="0"/>
            </a:endParaRPr>
          </a:p>
          <a:p>
            <a:r>
              <a:rPr lang="en-US" sz="1600" dirty="0" err="1">
                <a:latin typeface="Times New Roman" panose="02020603050405020304" pitchFamily="18" charset="0"/>
                <a:cs typeface="Times New Roman" panose="02020603050405020304" pitchFamily="18" charset="0"/>
              </a:rPr>
              <a:t>netstat</a:t>
            </a:r>
            <a:r>
              <a:rPr lang="en-US" sz="1600" dirty="0">
                <a:latin typeface="Times New Roman" panose="02020603050405020304" pitchFamily="18" charset="0"/>
                <a:cs typeface="Times New Roman" panose="02020603050405020304" pitchFamily="18" charset="0"/>
              </a:rPr>
              <a:t> –an |grep </a:t>
            </a:r>
            <a:r>
              <a:rPr lang="en-US" sz="1600" dirty="0" err="1">
                <a:latin typeface="Times New Roman" panose="02020603050405020304" pitchFamily="18" charset="0"/>
                <a:cs typeface="Times New Roman" panose="02020603050405020304" pitchFamily="18" charset="0"/>
              </a:rPr>
              <a:t>httpd</a:t>
            </a:r>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77184361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anose="02020603050405020304" pitchFamily="18" charset="0"/>
                <a:cs typeface="Times New Roman" panose="02020603050405020304" pitchFamily="18" charset="0"/>
              </a:rPr>
              <a:t> URL Redirect in Apache</a:t>
            </a:r>
            <a:r>
              <a:rPr lang="en-US" i="1" dirty="0">
                <a:solidFill>
                  <a:srgbClr val="FF0000"/>
                </a:solidFill>
                <a:latin typeface="Times New Roman" panose="02020603050405020304" pitchFamily="18" charset="0"/>
                <a:cs typeface="Times New Roman" panose="02020603050405020304" pitchFamily="18" charset="0"/>
              </a:rPr>
              <a:t> </a:t>
            </a:r>
            <a:br>
              <a:rPr lang="en-US" i="1" dirty="0">
                <a:solidFill>
                  <a:srgbClr val="FF0000"/>
                </a:solidFill>
                <a:latin typeface="Times New Roman" panose="02020603050405020304" pitchFamily="18" charset="0"/>
                <a:cs typeface="Times New Roman" panose="02020603050405020304" pitchFamily="18" charset="0"/>
              </a:rPr>
            </a:br>
            <a:r>
              <a:rPr lang="en-US" sz="1300" i="1" dirty="0">
                <a:solidFill>
                  <a:srgbClr val="FF0000"/>
                </a:solidFill>
                <a:latin typeface="Times New Roman" panose="02020603050405020304" pitchFamily="18" charset="0"/>
                <a:cs typeface="Times New Roman" panose="02020603050405020304" pitchFamily="18" charset="0"/>
                <a:hlinkClick r:id="rId2"/>
              </a:rPr>
              <a:t>https://httpd.apache.org/docs/2.4/rewrite/remapping.html</a:t>
            </a:r>
            <a:r>
              <a:rPr lang="en-US" sz="1300" i="1" dirty="0">
                <a:solidFill>
                  <a:srgbClr val="FF0000"/>
                </a:solidFill>
                <a:latin typeface="Times New Roman" panose="02020603050405020304" pitchFamily="18" charset="0"/>
                <a:cs typeface="Times New Roman" panose="02020603050405020304" pitchFamily="18" charset="0"/>
              </a:rPr>
              <a:t> </a:t>
            </a:r>
            <a:endParaRPr lang="en-US" sz="1300" dirty="0"/>
          </a:p>
        </p:txBody>
      </p:sp>
      <p:sp>
        <p:nvSpPr>
          <p:cNvPr id="3" name="Content Placeholder 2"/>
          <p:cNvSpPr>
            <a:spLocks noGrp="1"/>
          </p:cNvSpPr>
          <p:nvPr>
            <p:ph idx="1"/>
          </p:nvPr>
        </p:nvSpPr>
        <p:spPr/>
        <p:txBody>
          <a:bodyPr>
            <a:normAutofit/>
          </a:bodyPr>
          <a:lstStyle/>
          <a:p>
            <a:pPr marL="0" indent="0">
              <a:buNone/>
            </a:pPr>
            <a:r>
              <a:rPr lang="en-US" sz="1200" dirty="0">
                <a:latin typeface="Times New Roman" panose="02020603050405020304" pitchFamily="18" charset="0"/>
                <a:cs typeface="Times New Roman" panose="02020603050405020304" pitchFamily="18" charset="0"/>
              </a:rPr>
              <a:t>Vi /</a:t>
            </a:r>
            <a:r>
              <a:rPr lang="en-US" sz="1200" dirty="0" err="1">
                <a:latin typeface="Times New Roman" panose="02020603050405020304" pitchFamily="18" charset="0"/>
                <a:cs typeface="Times New Roman" panose="02020603050405020304" pitchFamily="18" charset="0"/>
              </a:rPr>
              <a:t>etc</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htpd</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conf</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httpd.conf</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latin typeface="Times New Roman" panose="02020603050405020304" pitchFamily="18" charset="0"/>
                <a:cs typeface="Times New Roman" panose="02020603050405020304" pitchFamily="18" charset="0"/>
              </a:rPr>
              <a:t>Esc /Rewrite </a:t>
            </a:r>
          </a:p>
          <a:p>
            <a:pPr marL="0" indent="0">
              <a:buNone/>
            </a:pPr>
            <a:r>
              <a:rPr lang="en-US" sz="1200" dirty="0" err="1">
                <a:latin typeface="Times New Roman" panose="02020603050405020304" pitchFamily="18" charset="0"/>
                <a:cs typeface="Times New Roman" panose="02020603050405020304" pitchFamily="18" charset="0"/>
              </a:rPr>
              <a:t>RewtiteEngine</a:t>
            </a:r>
            <a:r>
              <a:rPr lang="en-US" sz="1200" dirty="0">
                <a:latin typeface="Times New Roman" panose="02020603050405020304" pitchFamily="18" charset="0"/>
                <a:cs typeface="Times New Roman" panose="02020603050405020304" pitchFamily="18" charset="0"/>
              </a:rPr>
              <a:t> , </a:t>
            </a:r>
            <a:r>
              <a:rPr lang="en-US" sz="1200" dirty="0" err="1">
                <a:latin typeface="Times New Roman" panose="02020603050405020304" pitchFamily="18" charset="0"/>
                <a:cs typeface="Times New Roman" panose="02020603050405020304" pitchFamily="18" charset="0"/>
              </a:rPr>
              <a:t>RewriteRule</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Mod_rewrite</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err="1">
                <a:latin typeface="Times New Roman" panose="02020603050405020304" pitchFamily="18" charset="0"/>
                <a:cs typeface="Times New Roman" panose="02020603050405020304" pitchFamily="18" charset="0"/>
              </a:rPr>
              <a:t>ProxyPassReverse</a:t>
            </a:r>
            <a:r>
              <a:rPr lang="en-US" sz="1200" dirty="0">
                <a:latin typeface="Times New Roman" panose="02020603050405020304" pitchFamily="18" charset="0"/>
                <a:cs typeface="Times New Roman" panose="02020603050405020304" pitchFamily="18" charset="0"/>
              </a:rPr>
              <a:t> app server </a:t>
            </a:r>
            <a:r>
              <a:rPr lang="en-US" sz="1200" dirty="0" err="1">
                <a:latin typeface="Times New Roman" panose="02020603050405020304" pitchFamily="18" charset="0"/>
                <a:cs typeface="Times New Roman" panose="02020603050405020304" pitchFamily="18" charset="0"/>
              </a:rPr>
              <a:t>ip</a:t>
            </a:r>
            <a:r>
              <a:rPr lang="en-US" sz="1200" dirty="0">
                <a:latin typeface="Times New Roman" panose="02020603050405020304" pitchFamily="18" charset="0"/>
                <a:cs typeface="Times New Roman" panose="02020603050405020304" pitchFamily="18" charset="0"/>
              </a:rPr>
              <a:t> and context root</a:t>
            </a:r>
          </a:p>
          <a:p>
            <a:pPr marL="0" indent="0">
              <a:buNone/>
            </a:pPr>
            <a:r>
              <a:rPr lang="en-US" sz="1200" dirty="0">
                <a:latin typeface="Times New Roman" panose="02020603050405020304" pitchFamily="18" charset="0"/>
                <a:cs typeface="Times New Roman" panose="02020603050405020304" pitchFamily="18" charset="0"/>
                <a:hlinkClick r:id="rId3"/>
              </a:rPr>
              <a:t>https://access.redhat.com/solutions/67298</a:t>
            </a:r>
            <a:r>
              <a:rPr lang="en-US" sz="1200" dirty="0">
                <a:latin typeface="Times New Roman" panose="02020603050405020304" pitchFamily="18" charset="0"/>
                <a:cs typeface="Times New Roman" panose="02020603050405020304" pitchFamily="18" charset="0"/>
              </a:rPr>
              <a:t> </a:t>
            </a:r>
          </a:p>
          <a:p>
            <a:pPr marL="0" indent="0">
              <a:buNone/>
            </a:pPr>
            <a:r>
              <a:rPr lang="en-US" sz="1200" dirty="0">
                <a:latin typeface="Times New Roman" panose="02020603050405020304" pitchFamily="18" charset="0"/>
                <a:cs typeface="Times New Roman" panose="02020603050405020304" pitchFamily="18" charset="0"/>
                <a:hlinkClick r:id="rId4"/>
              </a:rPr>
              <a:t>https://askubuntu.com/questions/484986/how-do-i-make-apache-serve-a-single-static-page-no-matter-what-the-entered-url-i</a:t>
            </a:r>
            <a:r>
              <a:rPr lang="en-US" sz="1200" dirty="0">
                <a:latin typeface="Times New Roman" panose="02020603050405020304" pitchFamily="18" charset="0"/>
                <a:cs typeface="Times New Roman" panose="02020603050405020304" pitchFamily="18" charset="0"/>
              </a:rPr>
              <a:t> </a:t>
            </a:r>
          </a:p>
          <a:p>
            <a:pPr marL="0" indent="0">
              <a:buNone/>
            </a:pPr>
            <a:r>
              <a:rPr lang="en-US" sz="1200" dirty="0">
                <a:latin typeface="Times New Roman" panose="02020603050405020304" pitchFamily="18" charset="0"/>
                <a:cs typeface="Times New Roman" panose="02020603050405020304" pitchFamily="18" charset="0"/>
              </a:rPr>
              <a:t>&lt;</a:t>
            </a:r>
            <a:r>
              <a:rPr lang="en-US" sz="1200" dirty="0" err="1">
                <a:latin typeface="Times New Roman" panose="02020603050405020304" pitchFamily="18" charset="0"/>
                <a:cs typeface="Times New Roman" panose="02020603050405020304" pitchFamily="18" charset="0"/>
              </a:rPr>
              <a:t>VirtualHost</a:t>
            </a:r>
            <a:r>
              <a:rPr lang="en-US" sz="1200" dirty="0">
                <a:latin typeface="Times New Roman" panose="02020603050405020304" pitchFamily="18" charset="0"/>
                <a:cs typeface="Times New Roman" panose="02020603050405020304" pitchFamily="18" charset="0"/>
              </a:rPr>
              <a:t> *:80&gt;</a:t>
            </a:r>
          </a:p>
          <a:p>
            <a:pPr marL="0" indent="0">
              <a:buNone/>
            </a:pP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DocumentRoot</a:t>
            </a:r>
            <a:r>
              <a:rPr lang="en-US" sz="1200" dirty="0">
                <a:latin typeface="Times New Roman" panose="02020603050405020304" pitchFamily="18" charset="0"/>
                <a:cs typeface="Times New Roman" panose="02020603050405020304" pitchFamily="18" charset="0"/>
              </a:rPr>
              <a:t> /path/to/your/host</a:t>
            </a:r>
          </a:p>
          <a:p>
            <a:pPr marL="0" indent="0">
              <a:buNone/>
            </a:pP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ServerName</a:t>
            </a:r>
            <a:r>
              <a:rPr lang="en-US" sz="1200" dirty="0">
                <a:latin typeface="Times New Roman" panose="02020603050405020304" pitchFamily="18" charset="0"/>
                <a:cs typeface="Times New Roman" panose="02020603050405020304" pitchFamily="18" charset="0"/>
              </a:rPr>
              <a:t> yourdomain.com</a:t>
            </a:r>
          </a:p>
          <a:p>
            <a:pPr marL="0" indent="0">
              <a:buNone/>
            </a:pP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DirectoryIndex</a:t>
            </a:r>
            <a:r>
              <a:rPr lang="en-US" sz="1200" dirty="0">
                <a:latin typeface="Times New Roman" panose="02020603050405020304" pitchFamily="18" charset="0"/>
                <a:cs typeface="Times New Roman" panose="02020603050405020304" pitchFamily="18" charset="0"/>
              </a:rPr>
              <a:t> index.html</a:t>
            </a:r>
          </a:p>
          <a:p>
            <a:pPr marL="0" indent="0">
              <a:buNone/>
            </a:pP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AliasMatch</a:t>
            </a:r>
            <a:r>
              <a:rPr lang="en-US" sz="1200" dirty="0">
                <a:latin typeface="Times New Roman" panose="02020603050405020304" pitchFamily="18" charset="0"/>
                <a:cs typeface="Times New Roman" panose="02020603050405020304" pitchFamily="18" charset="0"/>
              </a:rPr>
              <a:t> ^/(.*)$ /path/to/your/host/index.html</a:t>
            </a:r>
          </a:p>
          <a:p>
            <a:pPr marL="0" indent="0">
              <a:buNone/>
            </a:pPr>
            <a:r>
              <a:rPr lang="en-US" sz="1200" dirty="0">
                <a:latin typeface="Times New Roman" panose="02020603050405020304" pitchFamily="18" charset="0"/>
                <a:cs typeface="Times New Roman" panose="02020603050405020304" pitchFamily="18" charset="0"/>
              </a:rPr>
              <a:t>    &lt;Directory "/path/to/your/host"&gt;</a:t>
            </a:r>
          </a:p>
          <a:p>
            <a:pPr marL="0" indent="0">
              <a:buNone/>
            </a:pPr>
            <a:r>
              <a:rPr lang="en-US" sz="1200" dirty="0">
                <a:latin typeface="Times New Roman" panose="02020603050405020304" pitchFamily="18" charset="0"/>
                <a:cs typeface="Times New Roman" panose="02020603050405020304" pitchFamily="18" charset="0"/>
              </a:rPr>
              <a:t>      Require all granted</a:t>
            </a:r>
          </a:p>
          <a:p>
            <a:pPr marL="0" indent="0">
              <a:buNone/>
            </a:pPr>
            <a:r>
              <a:rPr lang="en-US" sz="1200" dirty="0">
                <a:latin typeface="Times New Roman" panose="02020603050405020304" pitchFamily="18" charset="0"/>
                <a:cs typeface="Times New Roman" panose="02020603050405020304" pitchFamily="18" charset="0"/>
              </a:rPr>
              <a:t>    &lt;/Directory&gt;</a:t>
            </a:r>
          </a:p>
          <a:p>
            <a:pPr marL="0" indent="0">
              <a:buNone/>
            </a:pPr>
            <a:r>
              <a:rPr lang="en-US" sz="1200" dirty="0">
                <a:latin typeface="Times New Roman" panose="02020603050405020304" pitchFamily="18" charset="0"/>
                <a:cs typeface="Times New Roman" panose="02020603050405020304" pitchFamily="18" charset="0"/>
              </a:rPr>
              <a:t>&lt;/</a:t>
            </a:r>
            <a:r>
              <a:rPr lang="en-US" sz="1200" dirty="0" err="1">
                <a:latin typeface="Times New Roman" panose="02020603050405020304" pitchFamily="18" charset="0"/>
                <a:cs typeface="Times New Roman" panose="02020603050405020304" pitchFamily="18" charset="0"/>
              </a:rPr>
              <a:t>VirtualHost</a:t>
            </a:r>
            <a:r>
              <a:rPr lang="en-US" sz="1200" dirty="0">
                <a:latin typeface="Times New Roman" panose="02020603050405020304" pitchFamily="18" charset="0"/>
                <a:cs typeface="Times New Roman" panose="02020603050405020304" pitchFamily="18" charset="0"/>
              </a:rPr>
              <a:t>&gt;</a:t>
            </a: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97858601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XYZ </a:t>
            </a:r>
            <a:endParaRPr lang="en-US" dirty="0"/>
          </a:p>
        </p:txBody>
      </p:sp>
      <p:sp>
        <p:nvSpPr>
          <p:cNvPr id="3" name="Content Placeholder 2"/>
          <p:cNvSpPr>
            <a:spLocks noGrp="1"/>
          </p:cNvSpPr>
          <p:nvPr>
            <p:ph idx="1"/>
          </p:nvPr>
        </p:nvSpPr>
        <p:spPr/>
        <p:txBody>
          <a:bodyPr>
            <a:normAutofit/>
          </a:bodyPr>
          <a:lstStyle/>
          <a:p>
            <a:pPr marL="0" indent="0">
              <a:buNone/>
            </a:pPr>
            <a:r>
              <a:rPr lang="en-US" sz="1400" dirty="0">
                <a:latin typeface="Times New Roman" panose="02020603050405020304" pitchFamily="18" charset="0"/>
                <a:cs typeface="Times New Roman" panose="02020603050405020304" pitchFamily="18" charset="0"/>
              </a:rPr>
              <a:t>What is load balancer? F5</a:t>
            </a:r>
          </a:p>
          <a:p>
            <a:pPr marL="0" indent="0">
              <a:buNone/>
            </a:pPr>
            <a:r>
              <a:rPr lang="en-US" sz="1400" dirty="0">
                <a:latin typeface="Times New Roman" panose="02020603050405020304" pitchFamily="18" charset="0"/>
                <a:cs typeface="Times New Roman" panose="02020603050405020304" pitchFamily="18" charset="0"/>
              </a:rPr>
              <a:t>Round robin algorithm.</a:t>
            </a:r>
          </a:p>
          <a:p>
            <a:pPr marL="0" indent="0">
              <a:buNone/>
            </a:pPr>
            <a:r>
              <a:rPr lang="en-US" sz="1400" dirty="0">
                <a:latin typeface="Times New Roman" panose="02020603050405020304" pitchFamily="18" charset="0"/>
                <a:cs typeface="Times New Roman" panose="02020603050405020304" pitchFamily="18" charset="0"/>
              </a:rPr>
              <a:t>There is a switch before the switch.</a:t>
            </a:r>
          </a:p>
          <a:p>
            <a:pPr marL="0" indent="0">
              <a:buNone/>
            </a:pPr>
            <a:r>
              <a:rPr lang="en-US" sz="1400" dirty="0">
                <a:latin typeface="Times New Roman" panose="02020603050405020304" pitchFamily="18" charset="0"/>
                <a:cs typeface="Times New Roman" panose="02020603050405020304" pitchFamily="18" charset="0"/>
              </a:rPr>
              <a:t>Switch distribute the requests to Application server.</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96785318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XYZ </a:t>
            </a:r>
            <a:endParaRPr lang="en-US" dirty="0"/>
          </a:p>
        </p:txBody>
      </p:sp>
      <p:sp>
        <p:nvSpPr>
          <p:cNvPr id="3" name="Content Placeholder 2"/>
          <p:cNvSpPr>
            <a:spLocks noGrp="1"/>
          </p:cNvSpPr>
          <p:nvPr>
            <p:ph idx="1"/>
          </p:nvPr>
        </p:nvSpPr>
        <p:spPr/>
        <p:txBody>
          <a:bodyPr/>
          <a:lstStyle/>
          <a:p>
            <a:endParaRPr lang="en-US"/>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358071382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XYZ </a:t>
            </a:r>
            <a:endParaRPr lang="en-US" dirty="0"/>
          </a:p>
        </p:txBody>
      </p:sp>
      <p:sp>
        <p:nvSpPr>
          <p:cNvPr id="3" name="Content Placeholder 2"/>
          <p:cNvSpPr>
            <a:spLocks noGrp="1"/>
          </p:cNvSpPr>
          <p:nvPr>
            <p:ph idx="1"/>
          </p:nvPr>
        </p:nvSpPr>
        <p:spPr/>
        <p:txBody>
          <a:bodyPr/>
          <a:lstStyle/>
          <a:p>
            <a:endParaRPr lang="en-US"/>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28575635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XYZ</a:t>
            </a:r>
            <a:endParaRPr lang="en-US" dirty="0"/>
          </a:p>
        </p:txBody>
      </p:sp>
      <p:sp>
        <p:nvSpPr>
          <p:cNvPr id="3" name="Content Placeholder 2"/>
          <p:cNvSpPr>
            <a:spLocks noGrp="1"/>
          </p:cNvSpPr>
          <p:nvPr>
            <p:ph idx="1"/>
          </p:nvPr>
        </p:nvSpPr>
        <p:spPr/>
        <p:txBody>
          <a:bodyPr>
            <a:normAutofit/>
          </a:bodyPr>
          <a:lstStyle/>
          <a:p>
            <a:r>
              <a:rPr lang="en-US" sz="1400" dirty="0">
                <a:latin typeface="Times New Roman" panose="02020603050405020304" pitchFamily="18" charset="0"/>
                <a:cs typeface="Times New Roman" panose="02020603050405020304" pitchFamily="18" charset="0"/>
              </a:rPr>
              <a:t>Log.xml its under server/</a:t>
            </a:r>
            <a:r>
              <a:rPr lang="en-US" sz="1400" dirty="0" err="1">
                <a:latin typeface="Times New Roman" panose="02020603050405020304" pitchFamily="18" charset="0"/>
                <a:cs typeface="Times New Roman" panose="02020603050405020304" pitchFamily="18" charset="0"/>
              </a:rPr>
              <a:t>conf</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0640833" y="45522"/>
            <a:ext cx="1425934" cy="369332"/>
          </a:xfrm>
          <a:prstGeom prst="rect">
            <a:avLst/>
          </a:prstGeom>
          <a:noFill/>
        </p:spPr>
        <p:txBody>
          <a:bodyPr wrap="square" rtlCol="0">
            <a:spAutoFit/>
          </a:bodyPr>
          <a:lstStyle/>
          <a:p>
            <a:r>
              <a:rPr lang="en-US" b="1" dirty="0">
                <a:solidFill>
                  <a:schemeClr val="accent1">
                    <a:lumMod val="75000"/>
                  </a:schemeClr>
                </a:solidFill>
                <a:latin typeface="Times New Roman" panose="02020603050405020304" pitchFamily="18" charset="0"/>
                <a:cs typeface="Times New Roman" panose="02020603050405020304" pitchFamily="18" charset="0"/>
              </a:rPr>
              <a:t>Class No:</a:t>
            </a:r>
          </a:p>
        </p:txBody>
      </p:sp>
    </p:spTree>
    <p:extLst>
      <p:ext uri="{BB962C8B-B14F-4D97-AF65-F5344CB8AC3E}">
        <p14:creationId xmlns:p14="http://schemas.microsoft.com/office/powerpoint/2010/main" val="1274170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313879</TotalTime>
  <Words>3420</Words>
  <Application>Microsoft Office PowerPoint</Application>
  <PresentationFormat>Widescreen</PresentationFormat>
  <Paragraphs>545</Paragraphs>
  <Slides>85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Arial</vt:lpstr>
      <vt:lpstr>Calibri</vt:lpstr>
      <vt:lpstr>Calibri Light</vt:lpstr>
      <vt:lpstr>Lucida Grande</vt:lpstr>
      <vt:lpstr>Times New Roman</vt:lpstr>
      <vt:lpstr>Office Theme</vt:lpstr>
      <vt:lpstr>My Notes   Suresh Linux System and Application Administration</vt:lpstr>
      <vt:lpstr>Problems</vt:lpstr>
      <vt:lpstr>If you can’t ping or can’t see ifcfg</vt:lpstr>
      <vt:lpstr>Yum and can’t find base url</vt:lpstr>
      <vt:lpstr>DNS Configuration</vt:lpstr>
      <vt:lpstr>Hostname and Gateway</vt:lpstr>
      <vt:lpstr>Firefox</vt:lpstr>
      <vt:lpstr>Openstack</vt:lpstr>
      <vt:lpstr>To check apache version httpd</vt:lpstr>
      <vt:lpstr>https://www.lifewire.com/top-internet-terms-for-beginners-2483381</vt:lpstr>
      <vt:lpstr>find command basics: To search a file or directory. http://www.tecmint.com/35-practical-examples-of-linux-find-command/ Class </vt:lpstr>
      <vt:lpstr>locate command basics: To find the locations of files and directories https://linux.die.net/man/1/locate </vt:lpstr>
      <vt:lpstr>Grep &amp; egrep command basics: To search a word http://www.tecmint.com/12-practical-examples-of-linux-grep-command/ </vt:lpstr>
      <vt:lpstr>Port Numbers </vt:lpstr>
      <vt:lpstr>netstat command basics: To monitoring network connections both incoming and outgoing as well as viewing routing tables http://www.tecmint.com/20-netstat-commands-for-linux-network-management/  Class</vt:lpstr>
      <vt:lpstr>Vi editor command basics: To read/write a file http://www.linfo.org/vi/search.html  </vt:lpstr>
      <vt:lpstr>nslookup command basics: To testing and troubleshooting DNS servers http://www.tecmint.com/8-linux-nslookup-commands-to-troubleshoot-dns-domain-name-server/ </vt:lpstr>
      <vt:lpstr>traceroute command basics: is used to find the network path from my machine to google.com http://www.thegeekstuff.com/2012/05/traceroute-examples </vt:lpstr>
      <vt:lpstr>Disk usage command basics: To check the information of disk usage of files and directories on a machine. http://www.tecmint.com/check-linux-disk-usage-of-files-and-directories/ </vt:lpstr>
      <vt:lpstr>Disk Space command basics: is used to get full summary of available and used disk space usage of file system on Linux system. http://www.tecmint.com/how-to-check-disk-space-in-linux/ </vt:lpstr>
      <vt:lpstr>Top &amp; Ps command basics: To find the current running processes </vt:lpstr>
      <vt:lpstr>cp, scp &amp; rsync command basics: To copy files from source to destination http://www.tecmint.com/scp-commands-examples/</vt:lpstr>
      <vt:lpstr>Cat, mvcommand basics: To compare or see the data in different files http://www.tecmint.com/13-basic-cat-command-examples-in-linux/ </vt:lpstr>
      <vt:lpstr>More &amp; Less command basics: To display the contents of a file in a console https://linux.die.net/man/1/locate 4/18/2017 http://www.tecmint.com/linux-more-command-and-less-command-examples/ </vt:lpstr>
      <vt:lpstr>Head &amp; tail command basics: To find the locations of files and directories https://linux.die.net/man/1/locate </vt:lpstr>
      <vt:lpstr>tcpdump command basics: To find the locations of files and directories https://linux.die.net/man/1/locate </vt:lpstr>
      <vt:lpstr>vmstat command basics: To find the locations of files and directories https://linux.die.net/man/1/locate</vt:lpstr>
      <vt:lpstr>20 Basic Linux command basics: To find the locations of files and directories http://www.tecmint.com/useful-linux-commands-for-system-administrators/ </vt:lpstr>
      <vt:lpstr>PowerPoint Presentation</vt:lpstr>
      <vt:lpstr>Soft link and Hard Link </vt:lpstr>
      <vt:lpstr>sar command </vt:lpstr>
      <vt:lpstr>sed command  </vt:lpstr>
      <vt:lpstr>Touch command  </vt:lpstr>
      <vt:lpstr>Cat /etc/redhat-release</vt:lpstr>
      <vt:lpstr>How to change mount point name from A to B </vt:lpstr>
      <vt:lpstr>Chmod &amp; chown Commands  </vt:lpstr>
      <vt:lpstr>/etc/passwd. /etc/shadow   </vt:lpstr>
      <vt:lpstr>File with Date Stamp   </vt:lpstr>
      <vt:lpstr>Awk filters  </vt:lpstr>
      <vt:lpstr>Crontab   </vt:lpstr>
      <vt:lpstr>Service Commands </vt:lpstr>
      <vt:lpstr>Linux run levels  </vt:lpstr>
      <vt:lpstr>SSH password less login  </vt:lpstr>
      <vt:lpstr>  DHCP &amp; DNS Server. </vt:lpstr>
      <vt:lpstr>  Network Layers </vt:lpstr>
      <vt:lpstr>  Run Levels in LInux  </vt:lpstr>
      <vt:lpstr>How to create aliases</vt:lpstr>
      <vt:lpstr> Software Development Life Cycle(SDLC). </vt:lpstr>
      <vt:lpstr> Telenet &amp; FTP   </vt:lpstr>
      <vt:lpstr>MYsql </vt:lpstr>
      <vt:lpstr>EXCEL Shortcuts </vt:lpstr>
      <vt:lpstr>Change the default font or text color for email messages      https://support.office.com/en-us/article/Change-the-default-font-or-text-color-for-email-messages-1aabb236-01d4-4faf-b998-a4087da3ceab </vt:lpstr>
      <vt:lpstr>JBOSS EAP 7 Documentation </vt:lpstr>
      <vt:lpstr> Host controller    https://access.redhat.com/documentation/en-US/JBoss_Enterprise_Application_Platform/6.2/html/Administration_and_Configuration_Guide/Host_Controller.html </vt:lpstr>
      <vt:lpstr> Host controller</vt:lpstr>
      <vt:lpstr> Domain controller  </vt:lpstr>
      <vt:lpstr>Standalone mode </vt:lpstr>
      <vt:lpstr>Domain mode </vt:lpstr>
      <vt:lpstr>Jboss EAP Port Offset</vt:lpstr>
      <vt:lpstr> Jboss CLI  </vt:lpstr>
      <vt:lpstr>Startup Script </vt:lpstr>
      <vt:lpstr>jstack &amp; jmap command  </vt:lpstr>
      <vt:lpstr>Xauth add    </vt:lpstr>
      <vt:lpstr>Directory Structure in Jboss EAP </vt:lpstr>
      <vt:lpstr>JMS Concept </vt:lpstr>
      <vt:lpstr>JMS Concept</vt:lpstr>
      <vt:lpstr> XA &amp; Non-Xa Transactions</vt:lpstr>
      <vt:lpstr>Firewall and load balancer </vt:lpstr>
      <vt:lpstr>Siteminder </vt:lpstr>
      <vt:lpstr>  Akana </vt:lpstr>
      <vt:lpstr> Dynatrace 05/22/2017</vt:lpstr>
      <vt:lpstr>XYZ </vt:lpstr>
      <vt:lpstr>XYZ </vt:lpstr>
      <vt:lpstr>  SSL(Secure Socket Layer) </vt:lpstr>
      <vt:lpstr>SSL Certificate  http://www.entrust.net/knowledge-base/technote.cfm?tn=7598 </vt:lpstr>
      <vt:lpstr>PowerPoint Presentation</vt:lpstr>
      <vt:lpstr>PowerPoint Presentation</vt:lpstr>
      <vt:lpstr>PowerPoint Presentation</vt:lpstr>
      <vt:lpstr>SSL/TLS Operations</vt:lpstr>
      <vt:lpstr> Apache Config   </vt:lpstr>
      <vt:lpstr> URL Redirect in Apache  https://httpd.apache.org/docs/2.4/rewrite/remapping.html </vt:lpstr>
      <vt:lpstr>XYZ </vt:lpstr>
      <vt:lpstr>XYZ </vt:lpstr>
      <vt:lpstr>XYZ </vt:lpstr>
      <vt:lpstr>XYZ</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Notes</dc:title>
  <dc:creator>Peddolla, SureshReddy (ITS)</dc:creator>
  <cp:lastModifiedBy>suresh reddy peddolla</cp:lastModifiedBy>
  <cp:revision>377</cp:revision>
  <dcterms:created xsi:type="dcterms:W3CDTF">2017-04-10T11:43:06Z</dcterms:created>
  <dcterms:modified xsi:type="dcterms:W3CDTF">2019-03-19T16:24:40Z</dcterms:modified>
</cp:coreProperties>
</file>